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Play"/>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amesh Karri"/>
  <p:cmAuthor clrIdx="1" id="1" initials="" lastIdx="1" name="Prithwish Basu Ro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font" Target="fonts/Play-regular.fntdata"/><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schemas.openxmlformats.org/officeDocument/2006/relationships/font" Target="fonts/Play-bold.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26T18:04:59.851">
    <p:pos x="6000" y="0"/>
    <p:text>Why not DNF vs CNF?</p:text>
  </p:cm>
  <p:cm authorId="1" idx="1" dt="2025-09-26T18:04:59.851">
    <p:pos x="6000" y="0"/>
    <p:text>Tsetin transformed CNFs are compact and are commonly used in SAT solvers as they expand linearly. They are also helpful in the pruning process. Since unit propagation is possible with CNF, unnecessary clauses can be pruned out easily thus reducing the number of clauses to satisfy. DNF on the other hand can cause an exponential explosion of clauses making it not suitable for SAT solvers. It is also not pruning friendly.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6317d1be4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66317d1be4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6317d1be4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66317d1be4_2_1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6636e8b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F=(A+B) AND (A+ not B) AND (not A + B)</a:t>
            </a:r>
            <a:endParaRPr/>
          </a:p>
        </p:txBody>
      </p:sp>
      <p:sp>
        <p:nvSpPr>
          <p:cNvPr id="143" name="Google Shape;143;g366636e8b6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6636e8b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66636e8b67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6317d1be4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66317d1be4_2_1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6317d1be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66317d1be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6317d1be4_2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explain this step with a verilog and equivalent Tseytin, CNF, and PLF formulae</a:t>
            </a:r>
            <a:endParaRPr/>
          </a:p>
          <a:p>
            <a:pPr indent="0" lvl="0" marL="0" rtl="0" algn="l">
              <a:spcBef>
                <a:spcPts val="0"/>
              </a:spcBef>
              <a:spcAft>
                <a:spcPts val="0"/>
              </a:spcAft>
              <a:buNone/>
            </a:pPr>
            <a:r>
              <a:t/>
            </a:r>
            <a:endParaRPr/>
          </a:p>
        </p:txBody>
      </p:sp>
      <p:sp>
        <p:nvSpPr>
          <p:cNvPr id="174" name="Google Shape;174;g366317d1be4_2_2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25cca3d60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explain this step with a verilog and equivalent Tseytin, CNF, and PLF formulae</a:t>
            </a:r>
            <a:endParaRPr/>
          </a:p>
          <a:p>
            <a:pPr indent="0" lvl="0" marL="0" rtl="0" algn="l">
              <a:spcBef>
                <a:spcPts val="0"/>
              </a:spcBef>
              <a:spcAft>
                <a:spcPts val="0"/>
              </a:spcAft>
              <a:buNone/>
            </a:pPr>
            <a:r>
              <a:t/>
            </a:r>
            <a:endParaRPr/>
          </a:p>
        </p:txBody>
      </p:sp>
      <p:sp>
        <p:nvSpPr>
          <p:cNvPr id="184" name="Google Shape;184;g3825cca3d60_2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25cca3d60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explain this step with a verilog and equivalent Tseytin, CNF, and PLF formulae</a:t>
            </a:r>
            <a:endParaRPr/>
          </a:p>
          <a:p>
            <a:pPr indent="0" lvl="0" marL="0" rtl="0" algn="l">
              <a:spcBef>
                <a:spcPts val="0"/>
              </a:spcBef>
              <a:spcAft>
                <a:spcPts val="0"/>
              </a:spcAft>
              <a:buNone/>
            </a:pPr>
            <a:r>
              <a:t/>
            </a:r>
            <a:endParaRPr/>
          </a:p>
        </p:txBody>
      </p:sp>
      <p:sp>
        <p:nvSpPr>
          <p:cNvPr id="194" name="Google Shape;194;g3825cca3d60_2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6317d1be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66317d1be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66317d1be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66317d1be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25cca3d60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825cca3d60_2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25cca3d60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825cca3d60_2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25cca3d60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825cca3d60_2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6317d1be4_2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66317d1be4_2_2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3d84c06d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3d84c06d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663b3db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6663b3db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663b3db3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663b3db3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663b3db3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663b3db3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3d84c06d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83d84c06d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83d84c06d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83d84c06d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3d84c06dc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83d84c06dc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3d84c06dc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83d84c06dc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66317d1be4_2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66317d1be4_2_2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3d1e89e2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83d1e89e2a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25cca3d60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825cca3d60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25cca3d60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25cca3d60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25cca3d60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25cca3d60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825cca3d60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825cca3d60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66317d1be4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66317d1be4_2_2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66317d1be4_2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366317d1be4_2_2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83d1e89e2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83d1e89e2a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83d1e89e2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explain this step with a verilog and equivalent Tseytin, CNF, and PLF formulae</a:t>
            </a:r>
            <a:endParaRPr/>
          </a:p>
          <a:p>
            <a:pPr indent="0" lvl="0" marL="0" rtl="0" algn="l">
              <a:spcBef>
                <a:spcPts val="0"/>
              </a:spcBef>
              <a:spcAft>
                <a:spcPts val="0"/>
              </a:spcAft>
              <a:buNone/>
            </a:pPr>
            <a:r>
              <a:t/>
            </a:r>
            <a:endParaRPr/>
          </a:p>
        </p:txBody>
      </p:sp>
      <p:sp>
        <p:nvSpPr>
          <p:cNvPr id="384" name="Google Shape;384;g383d1e89e2a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83d1e89e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83d1e89e2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83d1e89e2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83d1e89e2a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83d1e89e2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explain this step with a verilog and equivalent Tseytin, CNF, and PLF formulae</a:t>
            </a:r>
            <a:endParaRPr/>
          </a:p>
          <a:p>
            <a:pPr indent="0" lvl="0" marL="0" rtl="0" algn="l">
              <a:spcBef>
                <a:spcPts val="0"/>
              </a:spcBef>
              <a:spcAft>
                <a:spcPts val="0"/>
              </a:spcAft>
              <a:buNone/>
            </a:pPr>
            <a:r>
              <a:t/>
            </a:r>
            <a:endParaRPr/>
          </a:p>
        </p:txBody>
      </p:sp>
      <p:sp>
        <p:nvSpPr>
          <p:cNvPr id="413" name="Google Shape;413;g383d1e89e2a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83d1e89e2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83d1e89e2a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3d1e89e2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83d1e89e2a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en.wikipedia.org/wiki/Tseytin_transformation"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drive.google.com/file/d/1ysHMvfTkve9Pbqb6toweKuT6EV1fzQ_d/view?usp=sharing" TargetMode="Externa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hyperlink" Target="https://en.wikipedia.org/wiki/Tseytin_transformation" TargetMode="Externa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5"/>
          <p:cNvSpPr txBox="1"/>
          <p:nvPr>
            <p:ph type="ctrTitle"/>
          </p:nvPr>
        </p:nvSpPr>
        <p:spPr>
          <a:xfrm>
            <a:off x="91175" y="987865"/>
            <a:ext cx="8896500" cy="14106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116666"/>
              <a:buFont typeface="Play"/>
              <a:buNone/>
            </a:pPr>
            <a:r>
              <a:rPr b="1" lang="en" sz="3600">
                <a:latin typeface="Calibri"/>
                <a:ea typeface="Calibri"/>
                <a:cs typeface="Calibri"/>
                <a:sym typeface="Calibri"/>
              </a:rPr>
              <a:t>Veritas</a:t>
            </a:r>
            <a:r>
              <a:rPr lang="en" sz="3600">
                <a:latin typeface="Calibri"/>
                <a:ea typeface="Calibri"/>
                <a:cs typeface="Calibri"/>
                <a:sym typeface="Calibri"/>
              </a:rPr>
              <a:t>: Prompt—&gt;</a:t>
            </a:r>
            <a:r>
              <a:rPr lang="en" sz="3600">
                <a:latin typeface="Calibri"/>
                <a:ea typeface="Calibri"/>
                <a:cs typeface="Calibri"/>
                <a:sym typeface="Calibri"/>
              </a:rPr>
              <a:t>LLM-Generated Conjunctive Normal Form—&gt;Structural </a:t>
            </a:r>
            <a:r>
              <a:rPr lang="en" sz="3600">
                <a:latin typeface="Calibri"/>
                <a:ea typeface="Calibri"/>
                <a:cs typeface="Calibri"/>
                <a:sym typeface="Calibri"/>
              </a:rPr>
              <a:t>Verilog Code </a:t>
            </a:r>
            <a:endParaRPr sz="3900">
              <a:latin typeface="Calibri"/>
              <a:ea typeface="Calibri"/>
              <a:cs typeface="Calibri"/>
              <a:sym typeface="Calibri"/>
            </a:endParaRPr>
          </a:p>
        </p:txBody>
      </p:sp>
      <p:sp>
        <p:nvSpPr>
          <p:cNvPr id="130" name="Google Shape;130;p25"/>
          <p:cNvSpPr txBox="1"/>
          <p:nvPr>
            <p:ph idx="1" type="subTitle"/>
          </p:nvPr>
        </p:nvSpPr>
        <p:spPr>
          <a:xfrm>
            <a:off x="31528" y="3664693"/>
            <a:ext cx="9144000" cy="3504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1500"/>
              <a:buNone/>
            </a:pPr>
            <a:r>
              <a:rPr lang="en" sz="1400" u="sng">
                <a:latin typeface="Calibri"/>
                <a:ea typeface="Calibri"/>
                <a:cs typeface="Calibri"/>
                <a:sym typeface="Calibri"/>
              </a:rPr>
              <a:t>Prithwish Basu Roy</a:t>
            </a:r>
            <a:r>
              <a:rPr lang="en" sz="1400">
                <a:latin typeface="Calibri"/>
                <a:ea typeface="Calibri"/>
                <a:cs typeface="Calibri"/>
                <a:sym typeface="Calibri"/>
              </a:rPr>
              <a:t>, Akashdeep Saha, Manaar Alam, Johann Knechtel, Michalis Maniatakos, Ozgur Sinanoglu, Ramesh Karri</a:t>
            </a:r>
            <a:endParaRPr sz="1400">
              <a:latin typeface="Calibri"/>
              <a:ea typeface="Calibri"/>
              <a:cs typeface="Calibri"/>
              <a:sym typeface="Calibri"/>
            </a:endParaRPr>
          </a:p>
        </p:txBody>
      </p:sp>
      <p:pic>
        <p:nvPicPr>
          <p:cNvPr descr="A purple and white sign with white letters" id="131" name="Google Shape;131;p25"/>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descr="A logo with lines and dots" id="132" name="Google Shape;132;p25"/>
          <p:cNvPicPr preferRelativeResize="0"/>
          <p:nvPr/>
        </p:nvPicPr>
        <p:blipFill rotWithShape="1">
          <a:blip r:embed="rId4">
            <a:alphaModFix/>
          </a:blip>
          <a:srcRect b="0" l="0" r="0" t="0"/>
          <a:stretch/>
        </p:blipFill>
        <p:spPr>
          <a:xfrm>
            <a:off x="8161391" y="4044379"/>
            <a:ext cx="943535" cy="11085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26"/>
          <p:cNvSpPr txBox="1"/>
          <p:nvPr>
            <p:ph type="title"/>
          </p:nvPr>
        </p:nvSpPr>
        <p:spPr>
          <a:xfrm>
            <a:off x="0" y="0"/>
            <a:ext cx="7549500" cy="5133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600"/>
              <a:buFont typeface="Play"/>
              <a:buNone/>
            </a:pPr>
            <a:r>
              <a:rPr lang="en" sz="3000">
                <a:latin typeface="Calibri"/>
                <a:ea typeface="Calibri"/>
                <a:cs typeface="Calibri"/>
                <a:sym typeface="Calibri"/>
              </a:rPr>
              <a:t>Conjunctive Normal Form</a:t>
            </a:r>
            <a:r>
              <a:rPr lang="en" sz="3000">
                <a:latin typeface="Calibri"/>
                <a:ea typeface="Calibri"/>
                <a:cs typeface="Calibri"/>
                <a:sym typeface="Calibri"/>
              </a:rPr>
              <a:t> of Logic Gates</a:t>
            </a:r>
            <a:endParaRPr sz="3000">
              <a:latin typeface="Calibri"/>
              <a:ea typeface="Calibri"/>
              <a:cs typeface="Calibri"/>
              <a:sym typeface="Calibri"/>
            </a:endParaRPr>
          </a:p>
        </p:txBody>
      </p:sp>
      <p:sp>
        <p:nvSpPr>
          <p:cNvPr id="138" name="Google Shape;138;p26"/>
          <p:cNvSpPr txBox="1"/>
          <p:nvPr>
            <p:ph idx="1" type="body"/>
          </p:nvPr>
        </p:nvSpPr>
        <p:spPr>
          <a:xfrm>
            <a:off x="253943" y="4332228"/>
            <a:ext cx="8466600" cy="51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018"/>
              <a:buNone/>
            </a:pPr>
            <a:r>
              <a:rPr lang="en" sz="2000"/>
              <a:t>A logic gate can be expressed in the Conjunctive Normal Form (CNF)</a:t>
            </a:r>
            <a:endParaRPr sz="2000"/>
          </a:p>
        </p:txBody>
      </p:sp>
      <p:pic>
        <p:nvPicPr>
          <p:cNvPr id="139" name="Google Shape;139;p26"/>
          <p:cNvPicPr preferRelativeResize="0"/>
          <p:nvPr/>
        </p:nvPicPr>
        <p:blipFill rotWithShape="1">
          <a:blip r:embed="rId3">
            <a:alphaModFix/>
          </a:blip>
          <a:srcRect b="0" l="0" r="0" t="0"/>
          <a:stretch/>
        </p:blipFill>
        <p:spPr>
          <a:xfrm>
            <a:off x="962811" y="582538"/>
            <a:ext cx="6661414" cy="3680449"/>
          </a:xfrm>
          <a:prstGeom prst="rect">
            <a:avLst/>
          </a:prstGeom>
          <a:noFill/>
          <a:ln>
            <a:noFill/>
          </a:ln>
        </p:spPr>
      </p:pic>
      <p:pic>
        <p:nvPicPr>
          <p:cNvPr descr="A purple and white sign with white letters" id="140" name="Google Shape;140;p26"/>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27"/>
          <p:cNvSpPr txBox="1"/>
          <p:nvPr>
            <p:ph type="title"/>
          </p:nvPr>
        </p:nvSpPr>
        <p:spPr>
          <a:xfrm>
            <a:off x="0" y="0"/>
            <a:ext cx="7549500" cy="5133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600"/>
              <a:buFont typeface="Play"/>
              <a:buNone/>
            </a:pPr>
            <a:r>
              <a:rPr lang="en" sz="3000">
                <a:latin typeface="Calibri"/>
                <a:ea typeface="Calibri"/>
                <a:cs typeface="Calibri"/>
                <a:sym typeface="Calibri"/>
              </a:rPr>
              <a:t>Conjunctive Normal Form of AND Gate</a:t>
            </a:r>
            <a:endParaRPr sz="3000">
              <a:latin typeface="Calibri"/>
              <a:ea typeface="Calibri"/>
              <a:cs typeface="Calibri"/>
              <a:sym typeface="Calibri"/>
            </a:endParaRPr>
          </a:p>
        </p:txBody>
      </p:sp>
      <p:sp>
        <p:nvSpPr>
          <p:cNvPr id="146" name="Google Shape;146;p27"/>
          <p:cNvSpPr txBox="1"/>
          <p:nvPr>
            <p:ph idx="1" type="body"/>
          </p:nvPr>
        </p:nvSpPr>
        <p:spPr>
          <a:xfrm>
            <a:off x="253943" y="4523911"/>
            <a:ext cx="8466600" cy="51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018"/>
              <a:buNone/>
            </a:pPr>
            <a:r>
              <a:rPr lang="en" sz="2000"/>
              <a:t>A logic gate can be expressed in the Conjunctive Normal Form (CNF)</a:t>
            </a:r>
            <a:endParaRPr sz="2000"/>
          </a:p>
        </p:txBody>
      </p:sp>
      <p:pic>
        <p:nvPicPr>
          <p:cNvPr descr="A purple and white sign with white letters" id="147" name="Google Shape;147;p27"/>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id="148" name="Google Shape;148;p27" title="Screenshot 2025-09-26 at 12.47.00 PM.png"/>
          <p:cNvPicPr preferRelativeResize="0"/>
          <p:nvPr/>
        </p:nvPicPr>
        <p:blipFill>
          <a:blip r:embed="rId4">
            <a:alphaModFix/>
          </a:blip>
          <a:stretch>
            <a:fillRect/>
          </a:stretch>
        </p:blipFill>
        <p:spPr>
          <a:xfrm>
            <a:off x="809309" y="678081"/>
            <a:ext cx="7628526" cy="2835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8"/>
          <p:cNvSpPr txBox="1"/>
          <p:nvPr>
            <p:ph type="title"/>
          </p:nvPr>
        </p:nvSpPr>
        <p:spPr>
          <a:xfrm>
            <a:off x="0" y="0"/>
            <a:ext cx="7549500" cy="5133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600"/>
              <a:buFont typeface="Play"/>
              <a:buNone/>
            </a:pPr>
            <a:r>
              <a:rPr lang="en" sz="3000">
                <a:latin typeface="Calibri"/>
                <a:ea typeface="Calibri"/>
                <a:cs typeface="Calibri"/>
                <a:sym typeface="Calibri"/>
              </a:rPr>
              <a:t>Conjunctive Normal Form of AND Gate</a:t>
            </a:r>
            <a:endParaRPr sz="3000">
              <a:latin typeface="Calibri"/>
              <a:ea typeface="Calibri"/>
              <a:cs typeface="Calibri"/>
              <a:sym typeface="Calibri"/>
            </a:endParaRPr>
          </a:p>
        </p:txBody>
      </p:sp>
      <p:sp>
        <p:nvSpPr>
          <p:cNvPr id="154" name="Google Shape;154;p28"/>
          <p:cNvSpPr txBox="1"/>
          <p:nvPr>
            <p:ph idx="1" type="body"/>
          </p:nvPr>
        </p:nvSpPr>
        <p:spPr>
          <a:xfrm>
            <a:off x="253943" y="4470666"/>
            <a:ext cx="8466600" cy="51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018"/>
              <a:buNone/>
            </a:pPr>
            <a:r>
              <a:rPr lang="en" sz="2000"/>
              <a:t>A logic gate can be expressed in the Conjunctive Normal Form (CNF)</a:t>
            </a:r>
            <a:endParaRPr sz="2000"/>
          </a:p>
        </p:txBody>
      </p:sp>
      <p:pic>
        <p:nvPicPr>
          <p:cNvPr descr="A purple and white sign with white letters" id="155" name="Google Shape;155;p28"/>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id="156" name="Google Shape;156;p28" title="Screenshot 2025-09-26 at 12.47.00 PM.png"/>
          <p:cNvPicPr preferRelativeResize="0"/>
          <p:nvPr/>
        </p:nvPicPr>
        <p:blipFill>
          <a:blip r:embed="rId4">
            <a:alphaModFix/>
          </a:blip>
          <a:stretch>
            <a:fillRect/>
          </a:stretch>
        </p:blipFill>
        <p:spPr>
          <a:xfrm>
            <a:off x="809309" y="601800"/>
            <a:ext cx="7628526" cy="2835925"/>
          </a:xfrm>
          <a:prstGeom prst="rect">
            <a:avLst/>
          </a:prstGeom>
          <a:noFill/>
          <a:ln>
            <a:noFill/>
          </a:ln>
        </p:spPr>
      </p:pic>
      <p:pic>
        <p:nvPicPr>
          <p:cNvPr id="157" name="Google Shape;157;p28" title="Screenshot 2025-09-26 at 12.53.17 PM.png"/>
          <p:cNvPicPr preferRelativeResize="0"/>
          <p:nvPr/>
        </p:nvPicPr>
        <p:blipFill rotWithShape="1">
          <a:blip r:embed="rId5">
            <a:alphaModFix/>
          </a:blip>
          <a:srcRect b="19455" l="0" r="0" t="30153"/>
          <a:stretch/>
        </p:blipFill>
        <p:spPr>
          <a:xfrm>
            <a:off x="2403475" y="3697550"/>
            <a:ext cx="4827364" cy="513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29"/>
          <p:cNvSpPr txBox="1"/>
          <p:nvPr>
            <p:ph type="title"/>
          </p:nvPr>
        </p:nvSpPr>
        <p:spPr>
          <a:xfrm>
            <a:off x="-52075" y="26050"/>
            <a:ext cx="7764900" cy="4680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3690"/>
              <a:buFont typeface="Play"/>
              <a:buNone/>
            </a:pPr>
            <a:r>
              <a:rPr lang="en" sz="3000">
                <a:latin typeface="Calibri"/>
                <a:ea typeface="Calibri"/>
                <a:cs typeface="Calibri"/>
                <a:sym typeface="Calibri"/>
              </a:rPr>
              <a:t>CNF ↔ Logic Design</a:t>
            </a:r>
            <a:endParaRPr sz="2280">
              <a:latin typeface="Calibri"/>
              <a:ea typeface="Calibri"/>
              <a:cs typeface="Calibri"/>
              <a:sym typeface="Calibri"/>
            </a:endParaRPr>
          </a:p>
        </p:txBody>
      </p:sp>
      <p:sp>
        <p:nvSpPr>
          <p:cNvPr id="163" name="Google Shape;163;p29"/>
          <p:cNvSpPr txBox="1"/>
          <p:nvPr>
            <p:ph idx="1" type="body"/>
          </p:nvPr>
        </p:nvSpPr>
        <p:spPr>
          <a:xfrm>
            <a:off x="126650" y="610250"/>
            <a:ext cx="8890800" cy="4347900"/>
          </a:xfrm>
          <a:prstGeom prst="rect">
            <a:avLst/>
          </a:prstGeom>
          <a:noFill/>
          <a:ln>
            <a:noFill/>
          </a:ln>
        </p:spPr>
        <p:txBody>
          <a:bodyPr anchorCtr="0" anchor="ctr" bIns="34275" lIns="68575" spcFirstLastPara="1" rIns="68575" wrap="square" tIns="34275">
            <a:normAutofit/>
          </a:bodyPr>
          <a:lstStyle/>
          <a:p>
            <a:pPr indent="-190500" lvl="0" marL="177800" rtl="0" algn="l">
              <a:lnSpc>
                <a:spcPct val="90000"/>
              </a:lnSpc>
              <a:spcBef>
                <a:spcPts val="0"/>
              </a:spcBef>
              <a:spcAft>
                <a:spcPts val="0"/>
              </a:spcAft>
              <a:buClr>
                <a:schemeClr val="dk1"/>
              </a:buClr>
              <a:buSzPts val="2000"/>
              <a:buFont typeface="Calibri"/>
              <a:buChar char="•"/>
            </a:pPr>
            <a:r>
              <a:rPr lang="en" sz="2000">
                <a:latin typeface="Calibri"/>
                <a:ea typeface="Calibri"/>
                <a:cs typeface="Calibri"/>
                <a:sym typeface="Calibri"/>
              </a:rPr>
              <a:t>Logic designs can be represented as a conjunction of Tseytin transformations of basic gates. (</a:t>
            </a:r>
            <a:r>
              <a:rPr lang="en" sz="2000" u="sng">
                <a:solidFill>
                  <a:schemeClr val="hlink"/>
                </a:solidFill>
                <a:latin typeface="Calibri"/>
                <a:ea typeface="Calibri"/>
                <a:cs typeface="Calibri"/>
                <a:sym typeface="Calibri"/>
                <a:hlinkClick r:id="rId3"/>
              </a:rPr>
              <a:t>https://en.wikipedia.org/wiki/Tseytin_transformation</a:t>
            </a:r>
            <a:r>
              <a:rPr lang="en" sz="2000">
                <a:latin typeface="Calibri"/>
                <a:ea typeface="Calibri"/>
                <a:cs typeface="Calibri"/>
                <a:sym typeface="Calibri"/>
              </a:rPr>
              <a:t>)</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0" lvl="0" marL="0" rtl="0" algn="l">
              <a:lnSpc>
                <a:spcPct val="90000"/>
              </a:lnSpc>
              <a:spcBef>
                <a:spcPts val="0"/>
              </a:spcBef>
              <a:spcAft>
                <a:spcPts val="0"/>
              </a:spcAft>
              <a:buNone/>
            </a:pPr>
            <a:r>
              <a:t/>
            </a:r>
            <a:endParaRPr sz="2000">
              <a:latin typeface="Calibri"/>
              <a:ea typeface="Calibri"/>
              <a:cs typeface="Calibri"/>
              <a:sym typeface="Calibri"/>
            </a:endParaRPr>
          </a:p>
          <a:p>
            <a:pPr indent="-190500" lvl="0" marL="177800" rtl="0" algn="l">
              <a:lnSpc>
                <a:spcPct val="90000"/>
              </a:lnSpc>
              <a:spcBef>
                <a:spcPts val="800"/>
              </a:spcBef>
              <a:spcAft>
                <a:spcPts val="0"/>
              </a:spcAft>
              <a:buClr>
                <a:schemeClr val="dk1"/>
              </a:buClr>
              <a:buSzPts val="2000"/>
              <a:buFont typeface="Calibri"/>
              <a:buChar char="•"/>
            </a:pPr>
            <a:r>
              <a:rPr lang="en" sz="2000">
                <a:latin typeface="Calibri"/>
                <a:ea typeface="Calibri"/>
                <a:cs typeface="Calibri"/>
                <a:sym typeface="Calibri"/>
              </a:rPr>
              <a:t>From the CNF corresponding verilog can be obtained</a:t>
            </a:r>
            <a:endParaRPr sz="2000">
              <a:latin typeface="Calibri"/>
              <a:ea typeface="Calibri"/>
              <a:cs typeface="Calibri"/>
              <a:sym typeface="Calibri"/>
            </a:endParaRPr>
          </a:p>
        </p:txBody>
      </p:sp>
      <p:pic>
        <p:nvPicPr>
          <p:cNvPr descr="A purple and white sign with white letters" id="164" name="Google Shape;164;p29"/>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30"/>
          <p:cNvSpPr txBox="1"/>
          <p:nvPr>
            <p:ph type="title"/>
          </p:nvPr>
        </p:nvSpPr>
        <p:spPr>
          <a:xfrm>
            <a:off x="99475" y="26049"/>
            <a:ext cx="6927600" cy="5457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900"/>
              <a:buFont typeface="Play"/>
              <a:buNone/>
            </a:pPr>
            <a:r>
              <a:rPr lang="en" sz="3000">
                <a:latin typeface="Calibri"/>
                <a:ea typeface="Calibri"/>
                <a:cs typeface="Calibri"/>
                <a:sym typeface="Calibri"/>
              </a:rPr>
              <a:t>Produce verilog Deterministically?</a:t>
            </a:r>
            <a:endParaRPr sz="3400">
              <a:latin typeface="Calibri"/>
              <a:ea typeface="Calibri"/>
              <a:cs typeface="Calibri"/>
              <a:sym typeface="Calibri"/>
            </a:endParaRPr>
          </a:p>
        </p:txBody>
      </p:sp>
      <p:sp>
        <p:nvSpPr>
          <p:cNvPr id="170" name="Google Shape;170;p30"/>
          <p:cNvSpPr txBox="1"/>
          <p:nvPr>
            <p:ph idx="1" type="body"/>
          </p:nvPr>
        </p:nvSpPr>
        <p:spPr>
          <a:xfrm>
            <a:off x="385598" y="1341700"/>
            <a:ext cx="8504100" cy="963300"/>
          </a:xfrm>
          <a:prstGeom prst="rect">
            <a:avLst/>
          </a:prstGeom>
          <a:noFill/>
          <a:ln>
            <a:noFill/>
          </a:ln>
        </p:spPr>
        <p:txBody>
          <a:bodyPr anchorCtr="0" anchor="ctr" bIns="34275" lIns="68575" spcFirstLastPara="1" rIns="68575" wrap="square" tIns="34275">
            <a:normAutofit/>
          </a:bodyPr>
          <a:lstStyle/>
          <a:p>
            <a:pPr indent="-190500" lvl="0" marL="177800" rtl="0" algn="l">
              <a:lnSpc>
                <a:spcPct val="90000"/>
              </a:lnSpc>
              <a:spcBef>
                <a:spcPts val="0"/>
              </a:spcBef>
              <a:spcAft>
                <a:spcPts val="0"/>
              </a:spcAft>
              <a:buClr>
                <a:schemeClr val="dk1"/>
              </a:buClr>
              <a:buSzPts val="2000"/>
              <a:buChar char="•"/>
            </a:pPr>
            <a:r>
              <a:rPr lang="en" sz="2000"/>
              <a:t>Can we integrate verification and testing into the generation phase? Yes</a:t>
            </a:r>
            <a:endParaRPr sz="2000"/>
          </a:p>
          <a:p>
            <a:pPr indent="-190500" lvl="0" marL="177800" rtl="0" algn="l">
              <a:lnSpc>
                <a:spcPct val="90000"/>
              </a:lnSpc>
              <a:spcBef>
                <a:spcPts val="800"/>
              </a:spcBef>
              <a:spcAft>
                <a:spcPts val="0"/>
              </a:spcAft>
              <a:buClr>
                <a:schemeClr val="dk1"/>
              </a:buClr>
              <a:buSzPts val="2000"/>
              <a:buChar char="•"/>
            </a:pPr>
            <a:r>
              <a:rPr lang="en" sz="2000"/>
              <a:t>Can we generate accurate code that does not require testing? Yes</a:t>
            </a:r>
            <a:endParaRPr sz="2000"/>
          </a:p>
        </p:txBody>
      </p:sp>
      <p:pic>
        <p:nvPicPr>
          <p:cNvPr descr="A purple and white sign with white letters" id="171" name="Google Shape;171;p30"/>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1"/>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1: Preprocessing</a:t>
            </a:r>
            <a:endParaRPr sz="3000">
              <a:latin typeface="Calibri"/>
              <a:ea typeface="Calibri"/>
              <a:cs typeface="Calibri"/>
              <a:sym typeface="Calibri"/>
            </a:endParaRPr>
          </a:p>
        </p:txBody>
      </p:sp>
      <p:pic>
        <p:nvPicPr>
          <p:cNvPr descr="A purple and white sign with white letters" id="177" name="Google Shape;177;p31"/>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pic>
        <p:nvPicPr>
          <p:cNvPr id="178" name="Google Shape;178;p31" title="Screenshot 2025-09-20 at 10.33.39 AM.png"/>
          <p:cNvPicPr preferRelativeResize="0"/>
          <p:nvPr/>
        </p:nvPicPr>
        <p:blipFill rotWithShape="1">
          <a:blip r:embed="rId5">
            <a:alphaModFix/>
          </a:blip>
          <a:srcRect b="48963" l="0" r="1845" t="0"/>
          <a:stretch/>
        </p:blipFill>
        <p:spPr>
          <a:xfrm>
            <a:off x="313275" y="618950"/>
            <a:ext cx="4637750" cy="2237775"/>
          </a:xfrm>
          <a:prstGeom prst="rect">
            <a:avLst/>
          </a:prstGeom>
          <a:noFill/>
          <a:ln>
            <a:noFill/>
          </a:ln>
        </p:spPr>
      </p:pic>
      <p:sp>
        <p:nvSpPr>
          <p:cNvPr id="179" name="Google Shape;179;p31"/>
          <p:cNvSpPr txBox="1"/>
          <p:nvPr/>
        </p:nvSpPr>
        <p:spPr>
          <a:xfrm>
            <a:off x="5159500" y="665275"/>
            <a:ext cx="3957300" cy="43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 Full Adder (gate-level)</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module full_adder_gate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input  wire a,</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input  wire b,</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input  wire cin,</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output wire sum,</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output wire cout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 internal wires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wire ab_xor;</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wire a_and_b, b_and_cin, a_and_cin;</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 XOR chain for sum</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xor (ab_xor, a, b);       // ab_xor = a ^ b</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xor (sum,    ab_xor, cin);// sum    = (a ^ b) ^ cin</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 AND-OR network for carry out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and (a_and_b,   a, b);    // a&amp;b</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and (b_and_cin, b, cin);  // b&amp;cin</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and (a_and_cin, a, cin);  // a&amp;cin</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    or  (cout, a_and_b, b_and_cin, a_and_cin); // cout = a&amp;b | b&amp;cin | a&amp;cin</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endmodule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180" name="Google Shape;180;p31"/>
          <p:cNvSpPr txBox="1"/>
          <p:nvPr/>
        </p:nvSpPr>
        <p:spPr>
          <a:xfrm>
            <a:off x="819100" y="4045387"/>
            <a:ext cx="3626100" cy="6000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Prompt: Give me a 1-bit full adder with input a,b, cin and outputs sum, cout</a:t>
            </a:r>
            <a:endParaRPr sz="1500">
              <a:solidFill>
                <a:schemeClr val="dk1"/>
              </a:solidFill>
            </a:endParaRPr>
          </a:p>
        </p:txBody>
      </p:sp>
      <p:sp>
        <p:nvSpPr>
          <p:cNvPr id="181" name="Google Shape;181;p31"/>
          <p:cNvSpPr txBox="1"/>
          <p:nvPr/>
        </p:nvSpPr>
        <p:spPr>
          <a:xfrm>
            <a:off x="43536" y="3081600"/>
            <a:ext cx="54525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Prepare training dataset: prompt describing verilog</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Reference verilog is taken </a:t>
            </a:r>
            <a:endParaRPr sz="1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32"/>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1: </a:t>
            </a:r>
            <a:r>
              <a:rPr lang="en" sz="3000">
                <a:latin typeface="Calibri"/>
                <a:ea typeface="Calibri"/>
                <a:cs typeface="Calibri"/>
                <a:sym typeface="Calibri"/>
              </a:rPr>
              <a:t>Preprocessing</a:t>
            </a:r>
            <a:endParaRPr sz="3000">
              <a:latin typeface="Calibri"/>
              <a:ea typeface="Calibri"/>
              <a:cs typeface="Calibri"/>
              <a:sym typeface="Calibri"/>
            </a:endParaRPr>
          </a:p>
        </p:txBody>
      </p:sp>
      <p:pic>
        <p:nvPicPr>
          <p:cNvPr descr="A purple and white sign with white letters" id="187" name="Google Shape;187;p32"/>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188" name="Google Shape;188;p32"/>
          <p:cNvSpPr txBox="1"/>
          <p:nvPr/>
        </p:nvSpPr>
        <p:spPr>
          <a:xfrm>
            <a:off x="50" y="594737"/>
            <a:ext cx="4896900" cy="43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 Full Adder (gate-level)</a:t>
            </a:r>
            <a:endParaRPr sz="1200">
              <a:solidFill>
                <a:srgbClr val="FF0000"/>
              </a:solidFill>
            </a:endParaRPr>
          </a:p>
          <a:p>
            <a:pPr indent="0" lvl="0" marL="0" rtl="0" algn="l">
              <a:spcBef>
                <a:spcPts val="0"/>
              </a:spcBef>
              <a:spcAft>
                <a:spcPts val="0"/>
              </a:spcAft>
              <a:buNone/>
            </a:pPr>
            <a:r>
              <a:rPr lang="en" sz="1200">
                <a:solidFill>
                  <a:srgbClr val="FF0000"/>
                </a:solidFill>
              </a:rPr>
              <a:t>module full_adder_gate (</a:t>
            </a:r>
            <a:endParaRPr sz="1200">
              <a:solidFill>
                <a:srgbClr val="FF0000"/>
              </a:solidFill>
            </a:endParaRPr>
          </a:p>
          <a:p>
            <a:pPr indent="0" lvl="0" marL="0" rtl="0" algn="l">
              <a:spcBef>
                <a:spcPts val="0"/>
              </a:spcBef>
              <a:spcAft>
                <a:spcPts val="0"/>
              </a:spcAft>
              <a:buNone/>
            </a:pPr>
            <a:r>
              <a:rPr lang="en" sz="1200">
                <a:solidFill>
                  <a:srgbClr val="FF0000"/>
                </a:solidFill>
              </a:rPr>
              <a:t>    input  wire a,</a:t>
            </a:r>
            <a:endParaRPr sz="1200">
              <a:solidFill>
                <a:srgbClr val="FF0000"/>
              </a:solidFill>
            </a:endParaRPr>
          </a:p>
          <a:p>
            <a:pPr indent="0" lvl="0" marL="0" rtl="0" algn="l">
              <a:spcBef>
                <a:spcPts val="0"/>
              </a:spcBef>
              <a:spcAft>
                <a:spcPts val="0"/>
              </a:spcAft>
              <a:buNone/>
            </a:pPr>
            <a:r>
              <a:rPr lang="en" sz="1200">
                <a:solidFill>
                  <a:srgbClr val="FF0000"/>
                </a:solidFill>
              </a:rPr>
              <a:t>    input  wire b,</a:t>
            </a:r>
            <a:endParaRPr sz="1200">
              <a:solidFill>
                <a:srgbClr val="FF0000"/>
              </a:solidFill>
            </a:endParaRPr>
          </a:p>
          <a:p>
            <a:pPr indent="0" lvl="0" marL="0" rtl="0" algn="l">
              <a:spcBef>
                <a:spcPts val="0"/>
              </a:spcBef>
              <a:spcAft>
                <a:spcPts val="0"/>
              </a:spcAft>
              <a:buNone/>
            </a:pPr>
            <a:r>
              <a:rPr lang="en" sz="1200">
                <a:solidFill>
                  <a:srgbClr val="FF0000"/>
                </a:solidFill>
              </a:rPr>
              <a:t>    input  wire cin,</a:t>
            </a:r>
            <a:endParaRPr sz="1200">
              <a:solidFill>
                <a:srgbClr val="FF0000"/>
              </a:solidFill>
            </a:endParaRPr>
          </a:p>
          <a:p>
            <a:pPr indent="0" lvl="0" marL="0" rtl="0" algn="l">
              <a:spcBef>
                <a:spcPts val="0"/>
              </a:spcBef>
              <a:spcAft>
                <a:spcPts val="0"/>
              </a:spcAft>
              <a:buNone/>
            </a:pPr>
            <a:r>
              <a:rPr lang="en" sz="1200">
                <a:solidFill>
                  <a:srgbClr val="FF0000"/>
                </a:solidFill>
              </a:rPr>
              <a:t>    output wire sum,</a:t>
            </a:r>
            <a:endParaRPr sz="1200">
              <a:solidFill>
                <a:srgbClr val="FF0000"/>
              </a:solidFill>
            </a:endParaRPr>
          </a:p>
          <a:p>
            <a:pPr indent="0" lvl="0" marL="0" rtl="0" algn="l">
              <a:spcBef>
                <a:spcPts val="0"/>
              </a:spcBef>
              <a:spcAft>
                <a:spcPts val="0"/>
              </a:spcAft>
              <a:buNone/>
            </a:pPr>
            <a:r>
              <a:rPr lang="en" sz="1200">
                <a:solidFill>
                  <a:srgbClr val="FF0000"/>
                </a:solidFill>
              </a:rPr>
              <a:t>    output wire cout</a:t>
            </a:r>
            <a:endParaRPr sz="1200">
              <a:solidFill>
                <a:srgbClr val="FF0000"/>
              </a:solidFill>
            </a:endParaRPr>
          </a:p>
          <a:p>
            <a:pPr indent="0" lvl="0" marL="0" rtl="0" algn="l">
              <a:spcBef>
                <a:spcPts val="0"/>
              </a:spcBef>
              <a:spcAft>
                <a:spcPts val="0"/>
              </a:spcAft>
              <a:buNone/>
            </a:pPr>
            <a:r>
              <a:rPr lang="en" sz="1200">
                <a:solidFill>
                  <a:srgbClr val="FF0000"/>
                </a:solidFill>
              </a:rPr>
              <a:t>);</a:t>
            </a:r>
            <a:endParaRPr sz="1200">
              <a:solidFill>
                <a:srgbClr val="FF0000"/>
              </a:solidFill>
            </a:endParaRPr>
          </a:p>
          <a:p>
            <a:pPr indent="0" lvl="0" marL="0" rtl="0" algn="l">
              <a:spcBef>
                <a:spcPts val="0"/>
              </a:spcBef>
              <a:spcAft>
                <a:spcPts val="0"/>
              </a:spcAft>
              <a:buNone/>
            </a:pPr>
            <a:r>
              <a:rPr lang="en" sz="1200">
                <a:solidFill>
                  <a:srgbClr val="FF0000"/>
                </a:solidFill>
              </a:rPr>
              <a:t>    // internal wires</a:t>
            </a:r>
            <a:endParaRPr sz="1200">
              <a:solidFill>
                <a:srgbClr val="FF0000"/>
              </a:solidFill>
            </a:endParaRPr>
          </a:p>
          <a:p>
            <a:pPr indent="0" lvl="0" marL="0" rtl="0" algn="l">
              <a:spcBef>
                <a:spcPts val="0"/>
              </a:spcBef>
              <a:spcAft>
                <a:spcPts val="0"/>
              </a:spcAft>
              <a:buNone/>
            </a:pPr>
            <a:r>
              <a:rPr lang="en" sz="1200">
                <a:solidFill>
                  <a:srgbClr val="FF0000"/>
                </a:solidFill>
              </a:rPr>
              <a:t>    wire ab_xor;</a:t>
            </a:r>
            <a:endParaRPr sz="1200">
              <a:solidFill>
                <a:srgbClr val="FF0000"/>
              </a:solidFill>
            </a:endParaRPr>
          </a:p>
          <a:p>
            <a:pPr indent="0" lvl="0" marL="0" rtl="0" algn="l">
              <a:spcBef>
                <a:spcPts val="0"/>
              </a:spcBef>
              <a:spcAft>
                <a:spcPts val="0"/>
              </a:spcAft>
              <a:buNone/>
            </a:pPr>
            <a:r>
              <a:rPr lang="en" sz="1200">
                <a:solidFill>
                  <a:srgbClr val="FF0000"/>
                </a:solidFill>
              </a:rPr>
              <a:t>    wire a_and_b, b_and_cin, a_and_cin;</a:t>
            </a:r>
            <a:endParaRPr sz="1200">
              <a:solidFill>
                <a:srgbClr val="FF0000"/>
              </a:solidFill>
            </a:endParaRPr>
          </a:p>
          <a:p>
            <a:pPr indent="0" lvl="0" marL="0" rtl="0" algn="l">
              <a:spcBef>
                <a:spcPts val="0"/>
              </a:spcBef>
              <a:spcAft>
                <a:spcPts val="0"/>
              </a:spcAft>
              <a:buNone/>
            </a:pPr>
            <a:r>
              <a:t/>
            </a:r>
            <a:endParaRPr sz="1200">
              <a:solidFill>
                <a:srgbClr val="FF0000"/>
              </a:solidFill>
            </a:endParaRPr>
          </a:p>
          <a:p>
            <a:pPr indent="0" lvl="0" marL="0" rtl="0" algn="l">
              <a:spcBef>
                <a:spcPts val="0"/>
              </a:spcBef>
              <a:spcAft>
                <a:spcPts val="0"/>
              </a:spcAft>
              <a:buNone/>
            </a:pPr>
            <a:r>
              <a:rPr lang="en" sz="1200">
                <a:solidFill>
                  <a:srgbClr val="FF0000"/>
                </a:solidFill>
              </a:rPr>
              <a:t>    // XOR chain for sum</a:t>
            </a:r>
            <a:endParaRPr sz="1200">
              <a:solidFill>
                <a:srgbClr val="FF0000"/>
              </a:solidFill>
            </a:endParaRPr>
          </a:p>
          <a:p>
            <a:pPr indent="0" lvl="0" marL="0" rtl="0" algn="l">
              <a:spcBef>
                <a:spcPts val="0"/>
              </a:spcBef>
              <a:spcAft>
                <a:spcPts val="0"/>
              </a:spcAft>
              <a:buNone/>
            </a:pPr>
            <a:r>
              <a:rPr lang="en" sz="1200">
                <a:solidFill>
                  <a:srgbClr val="FF0000"/>
                </a:solidFill>
              </a:rPr>
              <a:t>    xor (ab_xor, a, b);       // ab_xor = a ^ b</a:t>
            </a:r>
            <a:endParaRPr sz="1200">
              <a:solidFill>
                <a:srgbClr val="FF0000"/>
              </a:solidFill>
            </a:endParaRPr>
          </a:p>
          <a:p>
            <a:pPr indent="0" lvl="0" marL="0" rtl="0" algn="l">
              <a:spcBef>
                <a:spcPts val="0"/>
              </a:spcBef>
              <a:spcAft>
                <a:spcPts val="0"/>
              </a:spcAft>
              <a:buNone/>
            </a:pPr>
            <a:r>
              <a:rPr lang="en" sz="1200">
                <a:solidFill>
                  <a:srgbClr val="FF0000"/>
                </a:solidFill>
              </a:rPr>
              <a:t>    xor (sum,    ab_xor, cin);// sum    = (a ^ b) ^ cin</a:t>
            </a:r>
            <a:endParaRPr sz="1200">
              <a:solidFill>
                <a:srgbClr val="FF0000"/>
              </a:solidFill>
            </a:endParaRPr>
          </a:p>
          <a:p>
            <a:pPr indent="0" lvl="0" marL="0" rtl="0" algn="l">
              <a:spcBef>
                <a:spcPts val="0"/>
              </a:spcBef>
              <a:spcAft>
                <a:spcPts val="0"/>
              </a:spcAft>
              <a:buNone/>
            </a:pPr>
            <a:r>
              <a:t/>
            </a:r>
            <a:endParaRPr sz="1200">
              <a:solidFill>
                <a:srgbClr val="FF0000"/>
              </a:solidFill>
            </a:endParaRPr>
          </a:p>
          <a:p>
            <a:pPr indent="0" lvl="0" marL="0" rtl="0" algn="l">
              <a:spcBef>
                <a:spcPts val="0"/>
              </a:spcBef>
              <a:spcAft>
                <a:spcPts val="0"/>
              </a:spcAft>
              <a:buNone/>
            </a:pPr>
            <a:r>
              <a:rPr lang="en" sz="1200">
                <a:solidFill>
                  <a:srgbClr val="FF0000"/>
                </a:solidFill>
              </a:rPr>
              <a:t>    // AND-OR network for carry out</a:t>
            </a:r>
            <a:endParaRPr sz="1200">
              <a:solidFill>
                <a:srgbClr val="FF0000"/>
              </a:solidFill>
            </a:endParaRPr>
          </a:p>
          <a:p>
            <a:pPr indent="0" lvl="0" marL="0" rtl="0" algn="l">
              <a:spcBef>
                <a:spcPts val="0"/>
              </a:spcBef>
              <a:spcAft>
                <a:spcPts val="0"/>
              </a:spcAft>
              <a:buNone/>
            </a:pPr>
            <a:r>
              <a:rPr lang="en" sz="1200">
                <a:solidFill>
                  <a:srgbClr val="FF0000"/>
                </a:solidFill>
              </a:rPr>
              <a:t>    and (a_and_b,   a, b);    // a&amp;b</a:t>
            </a:r>
            <a:endParaRPr sz="1200">
              <a:solidFill>
                <a:srgbClr val="FF0000"/>
              </a:solidFill>
            </a:endParaRPr>
          </a:p>
          <a:p>
            <a:pPr indent="0" lvl="0" marL="0" rtl="0" algn="l">
              <a:spcBef>
                <a:spcPts val="0"/>
              </a:spcBef>
              <a:spcAft>
                <a:spcPts val="0"/>
              </a:spcAft>
              <a:buNone/>
            </a:pPr>
            <a:r>
              <a:rPr lang="en" sz="1200">
                <a:solidFill>
                  <a:srgbClr val="FF0000"/>
                </a:solidFill>
              </a:rPr>
              <a:t>    and (b_and_cin, b, cin);  // b&amp;cin</a:t>
            </a:r>
            <a:endParaRPr sz="1200">
              <a:solidFill>
                <a:srgbClr val="FF0000"/>
              </a:solidFill>
            </a:endParaRPr>
          </a:p>
          <a:p>
            <a:pPr indent="0" lvl="0" marL="0" rtl="0" algn="l">
              <a:spcBef>
                <a:spcPts val="0"/>
              </a:spcBef>
              <a:spcAft>
                <a:spcPts val="0"/>
              </a:spcAft>
              <a:buNone/>
            </a:pPr>
            <a:r>
              <a:rPr lang="en" sz="1200">
                <a:solidFill>
                  <a:srgbClr val="FF0000"/>
                </a:solidFill>
              </a:rPr>
              <a:t>    and (a_and_cin, a, cin);  // a&amp;cin</a:t>
            </a:r>
            <a:endParaRPr sz="1200">
              <a:solidFill>
                <a:srgbClr val="FF0000"/>
              </a:solidFill>
            </a:endParaRPr>
          </a:p>
          <a:p>
            <a:pPr indent="0" lvl="0" marL="0" rtl="0" algn="l">
              <a:spcBef>
                <a:spcPts val="0"/>
              </a:spcBef>
              <a:spcAft>
                <a:spcPts val="0"/>
              </a:spcAft>
              <a:buNone/>
            </a:pPr>
            <a:r>
              <a:rPr lang="en" sz="1200">
                <a:solidFill>
                  <a:srgbClr val="FF0000"/>
                </a:solidFill>
              </a:rPr>
              <a:t>    or  (cout, a_and_b, b_and_cin, a_and_cin); // cout = a&amp;b | b&amp;cin | a&amp;cin</a:t>
            </a:r>
            <a:endParaRPr sz="1200">
              <a:solidFill>
                <a:srgbClr val="FF0000"/>
              </a:solidFill>
            </a:endParaRPr>
          </a:p>
          <a:p>
            <a:pPr indent="0" lvl="0" marL="0" rtl="0" algn="l">
              <a:spcBef>
                <a:spcPts val="0"/>
              </a:spcBef>
              <a:spcAft>
                <a:spcPts val="0"/>
              </a:spcAft>
              <a:buNone/>
            </a:pPr>
            <a:r>
              <a:rPr lang="en" sz="1200">
                <a:solidFill>
                  <a:srgbClr val="FF0000"/>
                </a:solidFill>
              </a:rPr>
              <a:t>endmodule</a:t>
            </a:r>
            <a:endParaRPr sz="1200">
              <a:solidFill>
                <a:srgbClr val="FF0000"/>
              </a:solidFill>
            </a:endParaRPr>
          </a:p>
          <a:p>
            <a:pPr indent="0" lvl="0" marL="0" rtl="0" algn="l">
              <a:spcBef>
                <a:spcPts val="0"/>
              </a:spcBef>
              <a:spcAft>
                <a:spcPts val="0"/>
              </a:spcAft>
              <a:buNone/>
            </a:pPr>
            <a:r>
              <a:t/>
            </a:r>
            <a:endParaRPr sz="1000">
              <a:solidFill>
                <a:srgbClr val="FF0000"/>
              </a:solidFill>
            </a:endParaRPr>
          </a:p>
        </p:txBody>
      </p:sp>
      <p:sp>
        <p:nvSpPr>
          <p:cNvPr id="189" name="Google Shape;189;p32"/>
          <p:cNvSpPr/>
          <p:nvPr/>
        </p:nvSpPr>
        <p:spPr>
          <a:xfrm>
            <a:off x="1961029" y="1229400"/>
            <a:ext cx="867900" cy="60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32"/>
          <p:cNvSpPr txBox="1"/>
          <p:nvPr/>
        </p:nvSpPr>
        <p:spPr>
          <a:xfrm>
            <a:off x="2958369" y="727957"/>
            <a:ext cx="6163200" cy="18102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sum:  (a ∨ b ∨ ¬ab_xor) ∧ (a ∨ ¬b ∨ ab_xor) ∧ (¬a ∨ b ∨ ab_xor) ∧ (¬a ∨ ¬b ∨ ¬ab_xor)</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 (ab_xor ∨ cin ∨ ¬sum) ∧ (ab_xor ∨ ¬cin ∨ sum) ∧ (¬ab_xor ∨ cin ∨ sum) ∧ (¬ab_xor ∨ ¬cin ∨ ¬sum)</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cout:  (¬a ∨ ¬b ∨ cout) ∧ (¬a ∨ ¬cin ∨ cout) ∧ (¬b ∨ ¬cin ∨ cout)</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 (a ∨ b ∨ ¬cout) ∧ (a ∨ cin ∨ ¬cout) ∧ (b ∨ cin ∨ ¬cout)</a:t>
            </a:r>
            <a:endParaRPr>
              <a:solidFill>
                <a:schemeClr val="dk1"/>
              </a:solidFill>
            </a:endParaRPr>
          </a:p>
        </p:txBody>
      </p:sp>
      <p:sp>
        <p:nvSpPr>
          <p:cNvPr id="191" name="Google Shape;191;p32"/>
          <p:cNvSpPr txBox="1"/>
          <p:nvPr/>
        </p:nvSpPr>
        <p:spPr>
          <a:xfrm>
            <a:off x="1961025" y="4628025"/>
            <a:ext cx="7048500" cy="5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Reference verilog is converted to CNF gate by gate</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33"/>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1: Preprocessing</a:t>
            </a:r>
            <a:endParaRPr sz="3000">
              <a:latin typeface="Calibri"/>
              <a:ea typeface="Calibri"/>
              <a:cs typeface="Calibri"/>
              <a:sym typeface="Calibri"/>
            </a:endParaRPr>
          </a:p>
        </p:txBody>
      </p:sp>
      <p:pic>
        <p:nvPicPr>
          <p:cNvPr descr="A purple and white sign with white letters" id="197" name="Google Shape;197;p33"/>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198" name="Google Shape;198;p33"/>
          <p:cNvSpPr txBox="1"/>
          <p:nvPr/>
        </p:nvSpPr>
        <p:spPr>
          <a:xfrm>
            <a:off x="662590" y="1587091"/>
            <a:ext cx="7605600" cy="4059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Prompt: Give me a 1-bit full adder with input a,b, cin and outputs sum, cout</a:t>
            </a:r>
            <a:endParaRPr sz="1600">
              <a:solidFill>
                <a:schemeClr val="dk1"/>
              </a:solidFill>
            </a:endParaRPr>
          </a:p>
        </p:txBody>
      </p:sp>
      <p:sp>
        <p:nvSpPr>
          <p:cNvPr id="199" name="Google Shape;199;p33"/>
          <p:cNvSpPr txBox="1"/>
          <p:nvPr/>
        </p:nvSpPr>
        <p:spPr>
          <a:xfrm>
            <a:off x="1304325" y="4649900"/>
            <a:ext cx="62037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Training Data Set: Combinations of Prompt + CNF</a:t>
            </a:r>
            <a:endParaRPr sz="2000">
              <a:solidFill>
                <a:schemeClr val="dk1"/>
              </a:solidFill>
            </a:endParaRPr>
          </a:p>
        </p:txBody>
      </p:sp>
      <p:sp>
        <p:nvSpPr>
          <p:cNvPr id="200" name="Google Shape;200;p33"/>
          <p:cNvSpPr txBox="1"/>
          <p:nvPr/>
        </p:nvSpPr>
        <p:spPr>
          <a:xfrm>
            <a:off x="662590" y="2045066"/>
            <a:ext cx="7605600" cy="23589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sum =</a:t>
            </a:r>
            <a:endParaRPr sz="1600">
              <a:solidFill>
                <a:schemeClr val="dk1"/>
              </a:solidFill>
            </a:endParaRPr>
          </a:p>
          <a:p>
            <a:pPr indent="0" lvl="0" marL="0" rtl="0" algn="l">
              <a:spcBef>
                <a:spcPts val="0"/>
              </a:spcBef>
              <a:spcAft>
                <a:spcPts val="0"/>
              </a:spcAft>
              <a:buNone/>
            </a:pPr>
            <a:r>
              <a:rPr lang="en" sz="1600">
                <a:solidFill>
                  <a:schemeClr val="dk1"/>
                </a:solidFill>
              </a:rPr>
              <a:t>  (a ∨ b ∨ ¬ab_xor) ∧ (a ∨ ¬b ∨ ab_xor) ∧ (¬a ∨ b ∨ ab_xor) ∧ (¬a ∨ ¬b ∨ ¬ab_xor)</a:t>
            </a:r>
            <a:endParaRPr sz="1600">
              <a:solidFill>
                <a:schemeClr val="dk1"/>
              </a:solidFill>
            </a:endParaRPr>
          </a:p>
          <a:p>
            <a:pPr indent="0" lvl="0" marL="0" rtl="0" algn="l">
              <a:spcBef>
                <a:spcPts val="0"/>
              </a:spcBef>
              <a:spcAft>
                <a:spcPts val="0"/>
              </a:spcAft>
              <a:buNone/>
            </a:pPr>
            <a:r>
              <a:rPr lang="en" sz="1600">
                <a:solidFill>
                  <a:schemeClr val="dk1"/>
                </a:solidFill>
              </a:rPr>
              <a:t>∧ (ab_xor ∨ cin ∨ ¬sum) ∧ (ab_xor ∨ ¬cin ∨ sum) ∧ (¬ab_xor ∨ cin ∨ sum) ∧ </a:t>
            </a:r>
            <a:endParaRPr sz="1600">
              <a:solidFill>
                <a:schemeClr val="dk1"/>
              </a:solidFill>
            </a:endParaRPr>
          </a:p>
          <a:p>
            <a:pPr indent="0" lvl="0" marL="0" rtl="0" algn="l">
              <a:spcBef>
                <a:spcPts val="0"/>
              </a:spcBef>
              <a:spcAft>
                <a:spcPts val="0"/>
              </a:spcAft>
              <a:buNone/>
            </a:pPr>
            <a:r>
              <a:rPr lang="en" sz="1600">
                <a:solidFill>
                  <a:schemeClr val="dk1"/>
                </a:solidFill>
              </a:rPr>
              <a:t>(¬ab_xor ∨ ¬cin ∨ ¬sum)</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cout =</a:t>
            </a:r>
            <a:endParaRPr sz="1600">
              <a:solidFill>
                <a:schemeClr val="dk1"/>
              </a:solidFill>
            </a:endParaRPr>
          </a:p>
          <a:p>
            <a:pPr indent="0" lvl="0" marL="0" rtl="0" algn="l">
              <a:spcBef>
                <a:spcPts val="0"/>
              </a:spcBef>
              <a:spcAft>
                <a:spcPts val="0"/>
              </a:spcAft>
              <a:buNone/>
            </a:pPr>
            <a:r>
              <a:rPr lang="en" sz="1600">
                <a:solidFill>
                  <a:schemeClr val="dk1"/>
                </a:solidFill>
              </a:rPr>
              <a:t>  (¬a ∨ ¬b ∨ cout) ∧ (¬a ∨ ¬cin ∨ cout) ∧ (¬b ∨ ¬cin ∨ cout)</a:t>
            </a:r>
            <a:endParaRPr sz="1600">
              <a:solidFill>
                <a:schemeClr val="dk1"/>
              </a:solidFill>
            </a:endParaRPr>
          </a:p>
          <a:p>
            <a:pPr indent="0" lvl="0" marL="0" rtl="0" algn="l">
              <a:spcBef>
                <a:spcPts val="0"/>
              </a:spcBef>
              <a:spcAft>
                <a:spcPts val="0"/>
              </a:spcAft>
              <a:buNone/>
            </a:pPr>
            <a:r>
              <a:rPr lang="en" sz="1600">
                <a:solidFill>
                  <a:schemeClr val="dk1"/>
                </a:solidFill>
              </a:rPr>
              <a:t>∧ (a ∨ b ∨ ¬cout) ∧ (a ∨ cin ∨ ¬cout) ∧ (b ∨ cin ∨ ¬cout)</a:t>
            </a:r>
            <a:endParaRPr sz="16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34"/>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a:t>
            </a:r>
            <a:r>
              <a:rPr lang="en" sz="3000">
                <a:latin typeface="Calibri"/>
                <a:ea typeface="Calibri"/>
                <a:cs typeface="Calibri"/>
                <a:sym typeface="Calibri"/>
              </a:rPr>
              <a:t> </a:t>
            </a:r>
            <a:r>
              <a:rPr lang="en" sz="3000">
                <a:latin typeface="Calibri"/>
                <a:ea typeface="Calibri"/>
                <a:cs typeface="Calibri"/>
                <a:sym typeface="Calibri"/>
              </a:rPr>
              <a:t>Stage 2: Training</a:t>
            </a:r>
            <a:endParaRPr sz="3000">
              <a:latin typeface="Calibri"/>
              <a:ea typeface="Calibri"/>
              <a:cs typeface="Calibri"/>
              <a:sym typeface="Calibri"/>
            </a:endParaRPr>
          </a:p>
        </p:txBody>
      </p:sp>
      <p:pic>
        <p:nvPicPr>
          <p:cNvPr descr="A purple and white sign with white letters" id="206" name="Google Shape;206;p34"/>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id="207" name="Google Shape;207;p34" title="Screenshot 2025-09-20 at 10.33.39 AM.png"/>
          <p:cNvPicPr preferRelativeResize="0"/>
          <p:nvPr/>
        </p:nvPicPr>
        <p:blipFill>
          <a:blip r:embed="rId4">
            <a:alphaModFix/>
          </a:blip>
          <a:stretch>
            <a:fillRect/>
          </a:stretch>
        </p:blipFill>
        <p:spPr>
          <a:xfrm>
            <a:off x="154198" y="609925"/>
            <a:ext cx="4724950" cy="438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35"/>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3: </a:t>
            </a:r>
            <a:r>
              <a:rPr lang="en" sz="3000">
                <a:solidFill>
                  <a:schemeClr val="dk1"/>
                </a:solidFill>
                <a:latin typeface="Calibri"/>
                <a:ea typeface="Calibri"/>
                <a:cs typeface="Calibri"/>
                <a:sym typeface="Calibri"/>
              </a:rPr>
              <a:t>Inference</a:t>
            </a:r>
            <a:endParaRPr sz="3000">
              <a:latin typeface="Calibri"/>
              <a:ea typeface="Calibri"/>
              <a:cs typeface="Calibri"/>
              <a:sym typeface="Calibri"/>
            </a:endParaRPr>
          </a:p>
        </p:txBody>
      </p:sp>
      <p:pic>
        <p:nvPicPr>
          <p:cNvPr id="213" name="Google Shape;213;p35"/>
          <p:cNvPicPr preferRelativeResize="0"/>
          <p:nvPr>
            <p:ph idx="1" type="body"/>
          </p:nvPr>
        </p:nvPicPr>
        <p:blipFill rotWithShape="1">
          <a:blip r:embed="rId3">
            <a:alphaModFix/>
          </a:blip>
          <a:srcRect b="0" l="0" r="0" t="0"/>
          <a:stretch/>
        </p:blipFill>
        <p:spPr>
          <a:xfrm>
            <a:off x="294800" y="436744"/>
            <a:ext cx="3006900" cy="4643400"/>
          </a:xfrm>
          <a:prstGeom prst="rect">
            <a:avLst/>
          </a:prstGeom>
          <a:noFill/>
          <a:ln>
            <a:noFill/>
          </a:ln>
        </p:spPr>
      </p:pic>
      <p:pic>
        <p:nvPicPr>
          <p:cNvPr descr="A purple and white sign with white letters" id="214" name="Google Shape;214;p35"/>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
        <p:nvSpPr>
          <p:cNvPr id="215" name="Google Shape;215;p35"/>
          <p:cNvSpPr txBox="1"/>
          <p:nvPr/>
        </p:nvSpPr>
        <p:spPr>
          <a:xfrm>
            <a:off x="4050375" y="2306050"/>
            <a:ext cx="5078700" cy="677400"/>
          </a:xfrm>
          <a:prstGeom prst="rect">
            <a:avLst/>
          </a:prstGeom>
          <a:solidFill>
            <a:srgbClr val="CC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Test </a:t>
            </a:r>
            <a:r>
              <a:rPr lang="en" sz="1800">
                <a:solidFill>
                  <a:schemeClr val="dk1"/>
                </a:solidFill>
              </a:rPr>
              <a:t>Prompt: Generate a 1-bit full adder with input ports a,b, cin and output ports sum, cout</a:t>
            </a:r>
            <a:endParaRPr sz="1800">
              <a:solidFill>
                <a:schemeClr val="dk1"/>
              </a:solidFill>
            </a:endParaRPr>
          </a:p>
        </p:txBody>
      </p:sp>
      <p:sp>
        <p:nvSpPr>
          <p:cNvPr id="216" name="Google Shape;216;p35"/>
          <p:cNvSpPr txBox="1"/>
          <p:nvPr/>
        </p:nvSpPr>
        <p:spPr>
          <a:xfrm>
            <a:off x="4050375" y="1105700"/>
            <a:ext cx="5078700" cy="4710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User provides the LLM with a test prompt</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36"/>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3: </a:t>
            </a:r>
            <a:r>
              <a:rPr lang="en" sz="3000">
                <a:solidFill>
                  <a:schemeClr val="dk1"/>
                </a:solidFill>
                <a:latin typeface="Calibri"/>
                <a:ea typeface="Calibri"/>
                <a:cs typeface="Calibri"/>
                <a:sym typeface="Calibri"/>
              </a:rPr>
              <a:t>Inference</a:t>
            </a:r>
            <a:endParaRPr sz="3000">
              <a:latin typeface="Calibri"/>
              <a:ea typeface="Calibri"/>
              <a:cs typeface="Calibri"/>
              <a:sym typeface="Calibri"/>
            </a:endParaRPr>
          </a:p>
        </p:txBody>
      </p:sp>
      <p:pic>
        <p:nvPicPr>
          <p:cNvPr descr="A purple and white sign with white letters" id="222" name="Google Shape;222;p36"/>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223" name="Google Shape;223;p36"/>
          <p:cNvSpPr/>
          <p:nvPr/>
        </p:nvSpPr>
        <p:spPr>
          <a:xfrm>
            <a:off x="4426329" y="1885825"/>
            <a:ext cx="557400" cy="350400"/>
          </a:xfrm>
          <a:prstGeom prst="rightArrow">
            <a:avLst>
              <a:gd fmla="val 50685" name="adj1"/>
              <a:gd fmla="val 5037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36"/>
          <p:cNvSpPr txBox="1"/>
          <p:nvPr/>
        </p:nvSpPr>
        <p:spPr>
          <a:xfrm>
            <a:off x="5067199" y="1734750"/>
            <a:ext cx="2440800" cy="585000"/>
          </a:xfrm>
          <a:prstGeom prst="rect">
            <a:avLst/>
          </a:prstGeom>
          <a:solidFill>
            <a:srgbClr val="DD7E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Fine-tuned LLM</a:t>
            </a:r>
            <a:endParaRPr sz="2100">
              <a:solidFill>
                <a:schemeClr val="dk1"/>
              </a:solidFill>
            </a:endParaRPr>
          </a:p>
          <a:p>
            <a:pPr indent="0" lvl="0" marL="0" rtl="0" algn="ctr">
              <a:spcBef>
                <a:spcPts val="0"/>
              </a:spcBef>
              <a:spcAft>
                <a:spcPts val="0"/>
              </a:spcAft>
              <a:buNone/>
            </a:pPr>
            <a:r>
              <a:rPr lang="en" sz="2100">
                <a:solidFill>
                  <a:schemeClr val="dk1"/>
                </a:solidFill>
              </a:rPr>
              <a:t>(VeriCNF)</a:t>
            </a:r>
            <a:endParaRPr sz="2100">
              <a:solidFill>
                <a:schemeClr val="dk1"/>
              </a:solidFill>
            </a:endParaRPr>
          </a:p>
        </p:txBody>
      </p:sp>
      <p:sp>
        <p:nvSpPr>
          <p:cNvPr id="225" name="Google Shape;225;p36"/>
          <p:cNvSpPr/>
          <p:nvPr/>
        </p:nvSpPr>
        <p:spPr>
          <a:xfrm>
            <a:off x="5950325" y="2584875"/>
            <a:ext cx="757800" cy="799200"/>
          </a:xfrm>
          <a:prstGeom prst="downArrow">
            <a:avLst>
              <a:gd fmla="val 21845"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36"/>
          <p:cNvSpPr txBox="1"/>
          <p:nvPr/>
        </p:nvSpPr>
        <p:spPr>
          <a:xfrm>
            <a:off x="1310147" y="788525"/>
            <a:ext cx="6438000" cy="4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rPr>
              <a:t>LLM generates CNF based on  test prompt</a:t>
            </a:r>
            <a:endParaRPr sz="2100">
              <a:solidFill>
                <a:schemeClr val="dk1"/>
              </a:solidFill>
            </a:endParaRPr>
          </a:p>
        </p:txBody>
      </p:sp>
      <p:sp>
        <p:nvSpPr>
          <p:cNvPr id="227" name="Google Shape;227;p36"/>
          <p:cNvSpPr txBox="1"/>
          <p:nvPr/>
        </p:nvSpPr>
        <p:spPr>
          <a:xfrm>
            <a:off x="11256" y="3216894"/>
            <a:ext cx="9105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sum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  (a ∨ b ∨ ¬ab_xor) ∧ (a ∨ ¬b ∨ ab_xor) ∧ (¬a ∨ b ∨ ab_xor) ∧ (¬a ∨ ¬b ∨ ¬ab_xor) ∧ (ab_xor ∨ cin ∨ ¬sum) ∧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(ab_xor ∨ ¬cin ∨ sum) ∧ (¬ab_xor ∨ cin ∨ sum) ∧ (¬ab_xor ∨ ¬cin ∨ ¬sum)</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cout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  (¬a ∨ ¬b ∨ cout) ∧ (¬a ∨ ¬cin ∨ cout) ∧ (¬b ∨ ¬cin ∨ cout) ∧ (a ∨ b ∨ ¬cout) ∧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(a ∨ cin ∨ ¬cout) ∧ (b ∨ cin ∨ ¬cout)</a:t>
            </a:r>
            <a:endParaRPr sz="1900">
              <a:latin typeface="Calibri"/>
              <a:ea typeface="Calibri"/>
              <a:cs typeface="Calibri"/>
              <a:sym typeface="Calibri"/>
            </a:endParaRPr>
          </a:p>
        </p:txBody>
      </p:sp>
      <p:sp>
        <p:nvSpPr>
          <p:cNvPr id="228" name="Google Shape;228;p36"/>
          <p:cNvSpPr txBox="1"/>
          <p:nvPr/>
        </p:nvSpPr>
        <p:spPr>
          <a:xfrm>
            <a:off x="190500" y="1734750"/>
            <a:ext cx="4325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Test Prompt: Generate a 1-bit full adder with input ports a,b, cin and output ports sum, cout</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37"/>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3: </a:t>
            </a:r>
            <a:r>
              <a:rPr lang="en" sz="3000">
                <a:solidFill>
                  <a:schemeClr val="dk1"/>
                </a:solidFill>
                <a:latin typeface="Calibri"/>
                <a:ea typeface="Calibri"/>
                <a:cs typeface="Calibri"/>
                <a:sym typeface="Calibri"/>
              </a:rPr>
              <a:t>Inference</a:t>
            </a:r>
            <a:endParaRPr sz="3000">
              <a:latin typeface="Calibri"/>
              <a:ea typeface="Calibri"/>
              <a:cs typeface="Calibri"/>
              <a:sym typeface="Calibri"/>
            </a:endParaRPr>
          </a:p>
        </p:txBody>
      </p:sp>
      <p:pic>
        <p:nvPicPr>
          <p:cNvPr descr="A purple and white sign with white letters" id="234" name="Google Shape;234;p37"/>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235" name="Google Shape;235;p37"/>
          <p:cNvSpPr/>
          <p:nvPr/>
        </p:nvSpPr>
        <p:spPr>
          <a:xfrm>
            <a:off x="4972875" y="2417025"/>
            <a:ext cx="876600" cy="55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7"/>
          <p:cNvSpPr txBox="1"/>
          <p:nvPr/>
        </p:nvSpPr>
        <p:spPr>
          <a:xfrm>
            <a:off x="1654375" y="4586400"/>
            <a:ext cx="5372700" cy="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CNF is d</a:t>
            </a:r>
            <a:r>
              <a:rPr lang="en" sz="2000">
                <a:solidFill>
                  <a:schemeClr val="dk1"/>
                </a:solidFill>
              </a:rPr>
              <a:t>eterministically</a:t>
            </a:r>
            <a:r>
              <a:rPr lang="en" sz="2000">
                <a:solidFill>
                  <a:schemeClr val="dk1"/>
                </a:solidFill>
              </a:rPr>
              <a:t> converted to bench</a:t>
            </a:r>
            <a:endParaRPr sz="2000">
              <a:solidFill>
                <a:schemeClr val="dk1"/>
              </a:solidFill>
            </a:endParaRPr>
          </a:p>
        </p:txBody>
      </p:sp>
      <p:sp>
        <p:nvSpPr>
          <p:cNvPr id="237" name="Google Shape;237;p37"/>
          <p:cNvSpPr txBox="1"/>
          <p:nvPr/>
        </p:nvSpPr>
        <p:spPr>
          <a:xfrm>
            <a:off x="5849476" y="896482"/>
            <a:ext cx="32721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INPUT(a)</a:t>
            </a:r>
            <a:endParaRPr sz="1600">
              <a:solidFill>
                <a:schemeClr val="dk1"/>
              </a:solidFill>
            </a:endParaRPr>
          </a:p>
          <a:p>
            <a:pPr indent="0" lvl="0" marL="0" rtl="0" algn="l">
              <a:spcBef>
                <a:spcPts val="0"/>
              </a:spcBef>
              <a:spcAft>
                <a:spcPts val="0"/>
              </a:spcAft>
              <a:buNone/>
            </a:pPr>
            <a:r>
              <a:rPr lang="en" sz="1600">
                <a:solidFill>
                  <a:schemeClr val="dk1"/>
                </a:solidFill>
              </a:rPr>
              <a:t>INPUT(b)</a:t>
            </a:r>
            <a:endParaRPr sz="1600">
              <a:solidFill>
                <a:schemeClr val="dk1"/>
              </a:solidFill>
            </a:endParaRPr>
          </a:p>
          <a:p>
            <a:pPr indent="0" lvl="0" marL="0" rtl="0" algn="l">
              <a:spcBef>
                <a:spcPts val="0"/>
              </a:spcBef>
              <a:spcAft>
                <a:spcPts val="0"/>
              </a:spcAft>
              <a:buNone/>
            </a:pPr>
            <a:r>
              <a:rPr lang="en" sz="1600">
                <a:solidFill>
                  <a:schemeClr val="dk1"/>
                </a:solidFill>
              </a:rPr>
              <a:t>INPUT(cin)</a:t>
            </a:r>
            <a:endParaRPr sz="1600">
              <a:solidFill>
                <a:schemeClr val="dk1"/>
              </a:solidFill>
            </a:endParaRPr>
          </a:p>
          <a:p>
            <a:pPr indent="0" lvl="0" marL="0" rtl="0" algn="l">
              <a:spcBef>
                <a:spcPts val="0"/>
              </a:spcBef>
              <a:spcAft>
                <a:spcPts val="0"/>
              </a:spcAft>
              <a:buNone/>
            </a:pPr>
            <a:r>
              <a:rPr lang="en" sz="1600">
                <a:solidFill>
                  <a:schemeClr val="dk1"/>
                </a:solidFill>
              </a:rPr>
              <a:t>OUTPUT(sum)</a:t>
            </a:r>
            <a:endParaRPr sz="1600">
              <a:solidFill>
                <a:schemeClr val="dk1"/>
              </a:solidFill>
            </a:endParaRPr>
          </a:p>
          <a:p>
            <a:pPr indent="0" lvl="0" marL="0" rtl="0" algn="l">
              <a:spcBef>
                <a:spcPts val="0"/>
              </a:spcBef>
              <a:spcAft>
                <a:spcPts val="0"/>
              </a:spcAft>
              <a:buNone/>
            </a:pPr>
            <a:r>
              <a:rPr lang="en" sz="1600">
                <a:solidFill>
                  <a:schemeClr val="dk1"/>
                </a:solidFill>
              </a:rPr>
              <a:t>OUTPUT(cout)</a:t>
            </a:r>
            <a:endParaRPr sz="1600">
              <a:solidFill>
                <a:schemeClr val="dk1"/>
              </a:solidFill>
            </a:endParaRPr>
          </a:p>
          <a:p>
            <a:pPr indent="0" lvl="0" marL="0" rtl="0" algn="l">
              <a:spcBef>
                <a:spcPts val="0"/>
              </a:spcBef>
              <a:spcAft>
                <a:spcPts val="0"/>
              </a:spcAft>
              <a:buNone/>
            </a:pPr>
            <a:r>
              <a:rPr lang="en" sz="1600">
                <a:solidFill>
                  <a:schemeClr val="dk1"/>
                </a:solidFill>
              </a:rPr>
              <a:t>ab_xor    = XOR(a, b)</a:t>
            </a:r>
            <a:endParaRPr sz="1600">
              <a:solidFill>
                <a:schemeClr val="dk1"/>
              </a:solidFill>
            </a:endParaRPr>
          </a:p>
          <a:p>
            <a:pPr indent="0" lvl="0" marL="0" rtl="0" algn="l">
              <a:spcBef>
                <a:spcPts val="0"/>
              </a:spcBef>
              <a:spcAft>
                <a:spcPts val="0"/>
              </a:spcAft>
              <a:buNone/>
            </a:pPr>
            <a:r>
              <a:rPr lang="en" sz="1600">
                <a:solidFill>
                  <a:schemeClr val="dk1"/>
                </a:solidFill>
              </a:rPr>
              <a:t>sum       = XOR(ab_xor, cin)</a:t>
            </a:r>
            <a:endParaRPr sz="1600">
              <a:solidFill>
                <a:schemeClr val="dk1"/>
              </a:solidFill>
            </a:endParaRPr>
          </a:p>
          <a:p>
            <a:pPr indent="0" lvl="0" marL="0" rtl="0" algn="l">
              <a:spcBef>
                <a:spcPts val="0"/>
              </a:spcBef>
              <a:spcAft>
                <a:spcPts val="0"/>
              </a:spcAft>
              <a:buNone/>
            </a:pPr>
            <a:r>
              <a:rPr lang="en" sz="1600">
                <a:solidFill>
                  <a:schemeClr val="dk1"/>
                </a:solidFill>
              </a:rPr>
              <a:t>a_and_b   = AND(a, b)</a:t>
            </a:r>
            <a:endParaRPr sz="1600">
              <a:solidFill>
                <a:schemeClr val="dk1"/>
              </a:solidFill>
            </a:endParaRPr>
          </a:p>
          <a:p>
            <a:pPr indent="0" lvl="0" marL="0" rtl="0" algn="l">
              <a:spcBef>
                <a:spcPts val="0"/>
              </a:spcBef>
              <a:spcAft>
                <a:spcPts val="0"/>
              </a:spcAft>
              <a:buNone/>
            </a:pPr>
            <a:r>
              <a:rPr lang="en" sz="1600">
                <a:solidFill>
                  <a:schemeClr val="dk1"/>
                </a:solidFill>
              </a:rPr>
              <a:t>b_and_cin = AND(b, cin)</a:t>
            </a:r>
            <a:endParaRPr sz="1600">
              <a:solidFill>
                <a:schemeClr val="dk1"/>
              </a:solidFill>
            </a:endParaRPr>
          </a:p>
          <a:p>
            <a:pPr indent="0" lvl="0" marL="0" rtl="0" algn="l">
              <a:spcBef>
                <a:spcPts val="0"/>
              </a:spcBef>
              <a:spcAft>
                <a:spcPts val="0"/>
              </a:spcAft>
              <a:buNone/>
            </a:pPr>
            <a:r>
              <a:rPr lang="en" sz="1600">
                <a:solidFill>
                  <a:schemeClr val="dk1"/>
                </a:solidFill>
              </a:rPr>
              <a:t>a_and_cin = AND(a, cin)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t1        = OR(a_and_b, b_and_cin)</a:t>
            </a:r>
            <a:endParaRPr sz="1600">
              <a:solidFill>
                <a:schemeClr val="dk1"/>
              </a:solidFill>
            </a:endParaRPr>
          </a:p>
          <a:p>
            <a:pPr indent="0" lvl="0" marL="0" rtl="0" algn="l">
              <a:spcBef>
                <a:spcPts val="0"/>
              </a:spcBef>
              <a:spcAft>
                <a:spcPts val="0"/>
              </a:spcAft>
              <a:buNone/>
            </a:pPr>
            <a:r>
              <a:rPr lang="en" sz="1600">
                <a:solidFill>
                  <a:schemeClr val="dk1"/>
                </a:solidFill>
              </a:rPr>
              <a:t>cout      = OR(t1, a_and_cin)</a:t>
            </a:r>
            <a:endParaRPr sz="1600"/>
          </a:p>
        </p:txBody>
      </p:sp>
      <p:sp>
        <p:nvSpPr>
          <p:cNvPr id="238" name="Google Shape;238;p37"/>
          <p:cNvSpPr txBox="1"/>
          <p:nvPr/>
        </p:nvSpPr>
        <p:spPr>
          <a:xfrm>
            <a:off x="5194" y="1405124"/>
            <a:ext cx="57771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sum =</a:t>
            </a:r>
            <a:endParaRPr sz="1600">
              <a:solidFill>
                <a:schemeClr val="dk1"/>
              </a:solidFill>
            </a:endParaRPr>
          </a:p>
          <a:p>
            <a:pPr indent="0" lvl="0" marL="0" rtl="0" algn="l">
              <a:spcBef>
                <a:spcPts val="0"/>
              </a:spcBef>
              <a:spcAft>
                <a:spcPts val="0"/>
              </a:spcAft>
              <a:buNone/>
            </a:pPr>
            <a:r>
              <a:rPr lang="en" sz="1600">
                <a:solidFill>
                  <a:schemeClr val="dk1"/>
                </a:solidFill>
              </a:rPr>
              <a:t>(a ∨ b ∨ ¬ab_xor) ∧ (a ∨ ¬b ∨ ab_xor) ∧ (¬a ∨ b ∨ ab_xor) ∧ (¬a ∨ ¬b ∨ ¬ab_xor) ∧ (ab_xor ∨ cin ∨ ¬sum) ∧ (ab_xor ∨ ¬cin ∨ sum) ∧ (¬ab_xor ∨ cin ∨ sum) ∧ (¬ab_xor ∨ ¬cin ∨ ¬sum)</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cout =</a:t>
            </a:r>
            <a:endParaRPr sz="1600">
              <a:solidFill>
                <a:schemeClr val="dk1"/>
              </a:solidFill>
            </a:endParaRPr>
          </a:p>
          <a:p>
            <a:pPr indent="0" lvl="0" marL="0" rtl="0" algn="l">
              <a:spcBef>
                <a:spcPts val="0"/>
              </a:spcBef>
              <a:spcAft>
                <a:spcPts val="0"/>
              </a:spcAft>
              <a:buNone/>
            </a:pPr>
            <a:r>
              <a:rPr lang="en" sz="1600">
                <a:solidFill>
                  <a:schemeClr val="dk1"/>
                </a:solidFill>
              </a:rPr>
              <a:t>(¬a ∨ ¬b ∨ cout) ∧ (¬a ∨ ¬cin ∨ cout) ∧ (¬b ∨ ¬cin ∨ cout)</a:t>
            </a:r>
            <a:endParaRPr sz="1600">
              <a:solidFill>
                <a:schemeClr val="dk1"/>
              </a:solidFill>
            </a:endParaRPr>
          </a:p>
          <a:p>
            <a:pPr indent="0" lvl="0" marL="0" rtl="0" algn="l">
              <a:spcBef>
                <a:spcPts val="0"/>
              </a:spcBef>
              <a:spcAft>
                <a:spcPts val="0"/>
              </a:spcAft>
              <a:buNone/>
            </a:pPr>
            <a:r>
              <a:rPr lang="en" sz="1600">
                <a:solidFill>
                  <a:schemeClr val="dk1"/>
                </a:solidFill>
              </a:rPr>
              <a:t>∧ (a ∨ b ∨ ¬cout) ∧ (a ∨ cin ∨ ¬cout) ∧ (b ∨ cin ∨ ¬cout)</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38"/>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3: </a:t>
            </a:r>
            <a:r>
              <a:rPr lang="en" sz="3000">
                <a:solidFill>
                  <a:schemeClr val="dk1"/>
                </a:solidFill>
                <a:latin typeface="Calibri"/>
                <a:ea typeface="Calibri"/>
                <a:cs typeface="Calibri"/>
                <a:sym typeface="Calibri"/>
              </a:rPr>
              <a:t>Inference</a:t>
            </a:r>
            <a:endParaRPr sz="3000">
              <a:latin typeface="Calibri"/>
              <a:ea typeface="Calibri"/>
              <a:cs typeface="Calibri"/>
              <a:sym typeface="Calibri"/>
            </a:endParaRPr>
          </a:p>
        </p:txBody>
      </p:sp>
      <p:pic>
        <p:nvPicPr>
          <p:cNvPr descr="A purple and white sign with white letters" id="244" name="Google Shape;244;p38"/>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245" name="Google Shape;245;p38"/>
          <p:cNvSpPr txBox="1"/>
          <p:nvPr/>
        </p:nvSpPr>
        <p:spPr>
          <a:xfrm>
            <a:off x="90471" y="1139675"/>
            <a:ext cx="3304800" cy="33864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INPUT(a)</a:t>
            </a:r>
            <a:endParaRPr sz="1600"/>
          </a:p>
          <a:p>
            <a:pPr indent="0" lvl="0" marL="0" rtl="0" algn="l">
              <a:spcBef>
                <a:spcPts val="0"/>
              </a:spcBef>
              <a:spcAft>
                <a:spcPts val="0"/>
              </a:spcAft>
              <a:buNone/>
            </a:pPr>
            <a:r>
              <a:rPr lang="en" sz="1600"/>
              <a:t>INPUT(b)</a:t>
            </a:r>
            <a:endParaRPr sz="1600"/>
          </a:p>
          <a:p>
            <a:pPr indent="0" lvl="0" marL="0" rtl="0" algn="l">
              <a:spcBef>
                <a:spcPts val="0"/>
              </a:spcBef>
              <a:spcAft>
                <a:spcPts val="0"/>
              </a:spcAft>
              <a:buNone/>
            </a:pPr>
            <a:r>
              <a:rPr lang="en" sz="1600"/>
              <a:t>INPUT(cin)</a:t>
            </a:r>
            <a:endParaRPr sz="1600"/>
          </a:p>
          <a:p>
            <a:pPr indent="0" lvl="0" marL="0" rtl="0" algn="l">
              <a:spcBef>
                <a:spcPts val="0"/>
              </a:spcBef>
              <a:spcAft>
                <a:spcPts val="0"/>
              </a:spcAft>
              <a:buNone/>
            </a:pPr>
            <a:r>
              <a:rPr lang="en" sz="1600"/>
              <a:t>OUTPUT(sum)</a:t>
            </a:r>
            <a:endParaRPr sz="1600"/>
          </a:p>
          <a:p>
            <a:pPr indent="0" lvl="0" marL="0" rtl="0" algn="l">
              <a:spcBef>
                <a:spcPts val="0"/>
              </a:spcBef>
              <a:spcAft>
                <a:spcPts val="0"/>
              </a:spcAft>
              <a:buNone/>
            </a:pPr>
            <a:r>
              <a:rPr lang="en" sz="1600"/>
              <a:t>OUTPUT(cout)</a:t>
            </a:r>
            <a:endParaRPr sz="1600"/>
          </a:p>
          <a:p>
            <a:pPr indent="0" lvl="0" marL="0" rtl="0" algn="l">
              <a:spcBef>
                <a:spcPts val="0"/>
              </a:spcBef>
              <a:spcAft>
                <a:spcPts val="0"/>
              </a:spcAft>
              <a:buNone/>
            </a:pPr>
            <a:r>
              <a:rPr lang="en" sz="1600"/>
              <a:t>ab_xor    = XOR(a, b)</a:t>
            </a:r>
            <a:endParaRPr sz="1600"/>
          </a:p>
          <a:p>
            <a:pPr indent="0" lvl="0" marL="0" rtl="0" algn="l">
              <a:spcBef>
                <a:spcPts val="0"/>
              </a:spcBef>
              <a:spcAft>
                <a:spcPts val="0"/>
              </a:spcAft>
              <a:buNone/>
            </a:pPr>
            <a:r>
              <a:rPr lang="en" sz="1600"/>
              <a:t>sum       = XOR(ab_xor, cin)</a:t>
            </a:r>
            <a:endParaRPr sz="1600"/>
          </a:p>
          <a:p>
            <a:pPr indent="0" lvl="0" marL="0" rtl="0" algn="l">
              <a:spcBef>
                <a:spcPts val="0"/>
              </a:spcBef>
              <a:spcAft>
                <a:spcPts val="0"/>
              </a:spcAft>
              <a:buNone/>
            </a:pPr>
            <a:r>
              <a:rPr lang="en" sz="1600"/>
              <a:t>a_and_b   = AND(a, b)</a:t>
            </a:r>
            <a:endParaRPr sz="1600"/>
          </a:p>
          <a:p>
            <a:pPr indent="0" lvl="0" marL="0" rtl="0" algn="l">
              <a:spcBef>
                <a:spcPts val="0"/>
              </a:spcBef>
              <a:spcAft>
                <a:spcPts val="0"/>
              </a:spcAft>
              <a:buNone/>
            </a:pPr>
            <a:r>
              <a:rPr lang="en" sz="1600"/>
              <a:t>b_and_cin = AND(b, cin)</a:t>
            </a:r>
            <a:endParaRPr sz="1600"/>
          </a:p>
          <a:p>
            <a:pPr indent="0" lvl="0" marL="0" rtl="0" algn="l">
              <a:spcBef>
                <a:spcPts val="0"/>
              </a:spcBef>
              <a:spcAft>
                <a:spcPts val="0"/>
              </a:spcAft>
              <a:buNone/>
            </a:pPr>
            <a:r>
              <a:rPr lang="en" sz="1600"/>
              <a:t>a_and_cin = AND(a, cin)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t1        = OR(a_and_b, b_and_cin)</a:t>
            </a:r>
            <a:endParaRPr sz="1600"/>
          </a:p>
          <a:p>
            <a:pPr indent="0" lvl="0" marL="0" rtl="0" algn="l">
              <a:spcBef>
                <a:spcPts val="0"/>
              </a:spcBef>
              <a:spcAft>
                <a:spcPts val="0"/>
              </a:spcAft>
              <a:buNone/>
            </a:pPr>
            <a:r>
              <a:rPr lang="en" sz="1600"/>
              <a:t>cout      = OR(t1, a_and_cin)</a:t>
            </a:r>
            <a:endParaRPr sz="1600"/>
          </a:p>
        </p:txBody>
      </p:sp>
      <p:sp>
        <p:nvSpPr>
          <p:cNvPr id="246" name="Google Shape;246;p38"/>
          <p:cNvSpPr/>
          <p:nvPr/>
        </p:nvSpPr>
        <p:spPr>
          <a:xfrm>
            <a:off x="3695401" y="2293200"/>
            <a:ext cx="876600" cy="55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8"/>
          <p:cNvSpPr txBox="1"/>
          <p:nvPr/>
        </p:nvSpPr>
        <p:spPr>
          <a:xfrm>
            <a:off x="0" y="4684050"/>
            <a:ext cx="4843200" cy="4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alibri"/>
                <a:ea typeface="Calibri"/>
                <a:cs typeface="Calibri"/>
                <a:sym typeface="Calibri"/>
              </a:rPr>
              <a:t>Convert bench format to equivalent verilog</a:t>
            </a:r>
            <a:endParaRPr sz="2000">
              <a:solidFill>
                <a:schemeClr val="dk1"/>
              </a:solidFill>
              <a:latin typeface="Calibri"/>
              <a:ea typeface="Calibri"/>
              <a:cs typeface="Calibri"/>
              <a:sym typeface="Calibri"/>
            </a:endParaRPr>
          </a:p>
        </p:txBody>
      </p:sp>
      <p:sp>
        <p:nvSpPr>
          <p:cNvPr id="248" name="Google Shape;248;p38"/>
          <p:cNvSpPr txBox="1"/>
          <p:nvPr/>
        </p:nvSpPr>
        <p:spPr>
          <a:xfrm>
            <a:off x="4964194" y="444975"/>
            <a:ext cx="41463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 Full Adder (gate-level)</a:t>
            </a:r>
            <a:endParaRPr>
              <a:solidFill>
                <a:srgbClr val="38761D"/>
              </a:solidFill>
            </a:endParaRPr>
          </a:p>
          <a:p>
            <a:pPr indent="0" lvl="0" marL="0" rtl="0" algn="l">
              <a:spcBef>
                <a:spcPts val="0"/>
              </a:spcBef>
              <a:spcAft>
                <a:spcPts val="0"/>
              </a:spcAft>
              <a:buNone/>
            </a:pPr>
            <a:r>
              <a:rPr lang="en">
                <a:solidFill>
                  <a:srgbClr val="38761D"/>
                </a:solidFill>
              </a:rPr>
              <a:t>module full_adder_gate (</a:t>
            </a:r>
            <a:endParaRPr>
              <a:solidFill>
                <a:srgbClr val="38761D"/>
              </a:solidFill>
            </a:endParaRPr>
          </a:p>
          <a:p>
            <a:pPr indent="0" lvl="0" marL="0" rtl="0" algn="l">
              <a:spcBef>
                <a:spcPts val="0"/>
              </a:spcBef>
              <a:spcAft>
                <a:spcPts val="0"/>
              </a:spcAft>
              <a:buNone/>
            </a:pPr>
            <a:r>
              <a:rPr lang="en">
                <a:solidFill>
                  <a:srgbClr val="38761D"/>
                </a:solidFill>
              </a:rPr>
              <a:t>    input  wire a,</a:t>
            </a:r>
            <a:endParaRPr>
              <a:solidFill>
                <a:srgbClr val="38761D"/>
              </a:solidFill>
            </a:endParaRPr>
          </a:p>
          <a:p>
            <a:pPr indent="0" lvl="0" marL="0" rtl="0" algn="l">
              <a:spcBef>
                <a:spcPts val="0"/>
              </a:spcBef>
              <a:spcAft>
                <a:spcPts val="0"/>
              </a:spcAft>
              <a:buNone/>
            </a:pPr>
            <a:r>
              <a:rPr lang="en">
                <a:solidFill>
                  <a:srgbClr val="38761D"/>
                </a:solidFill>
              </a:rPr>
              <a:t>    input  wire b,</a:t>
            </a:r>
            <a:endParaRPr>
              <a:solidFill>
                <a:srgbClr val="38761D"/>
              </a:solidFill>
            </a:endParaRPr>
          </a:p>
          <a:p>
            <a:pPr indent="0" lvl="0" marL="0" rtl="0" algn="l">
              <a:spcBef>
                <a:spcPts val="0"/>
              </a:spcBef>
              <a:spcAft>
                <a:spcPts val="0"/>
              </a:spcAft>
              <a:buNone/>
            </a:pPr>
            <a:r>
              <a:rPr lang="en">
                <a:solidFill>
                  <a:srgbClr val="38761D"/>
                </a:solidFill>
              </a:rPr>
              <a:t>    input  wire cin,</a:t>
            </a:r>
            <a:endParaRPr>
              <a:solidFill>
                <a:srgbClr val="38761D"/>
              </a:solidFill>
            </a:endParaRPr>
          </a:p>
          <a:p>
            <a:pPr indent="0" lvl="0" marL="0" rtl="0" algn="l">
              <a:spcBef>
                <a:spcPts val="0"/>
              </a:spcBef>
              <a:spcAft>
                <a:spcPts val="0"/>
              </a:spcAft>
              <a:buNone/>
            </a:pPr>
            <a:r>
              <a:rPr lang="en">
                <a:solidFill>
                  <a:srgbClr val="38761D"/>
                </a:solidFill>
              </a:rPr>
              <a:t>    output wire sum,</a:t>
            </a:r>
            <a:endParaRPr>
              <a:solidFill>
                <a:srgbClr val="38761D"/>
              </a:solidFill>
            </a:endParaRPr>
          </a:p>
          <a:p>
            <a:pPr indent="0" lvl="0" marL="0" rtl="0" algn="l">
              <a:spcBef>
                <a:spcPts val="0"/>
              </a:spcBef>
              <a:spcAft>
                <a:spcPts val="0"/>
              </a:spcAft>
              <a:buNone/>
            </a:pPr>
            <a:r>
              <a:rPr lang="en">
                <a:solidFill>
                  <a:srgbClr val="38761D"/>
                </a:solidFill>
              </a:rPr>
              <a:t>    output wire cout</a:t>
            </a:r>
            <a:endParaRPr>
              <a:solidFill>
                <a:srgbClr val="38761D"/>
              </a:solidFill>
            </a:endParaRPr>
          </a:p>
          <a:p>
            <a:pPr indent="0" lvl="0" marL="0" rtl="0" algn="l">
              <a:spcBef>
                <a:spcPts val="0"/>
              </a:spcBef>
              <a:spcAft>
                <a:spcPts val="0"/>
              </a:spcAft>
              <a:buNone/>
            </a:pPr>
            <a:r>
              <a:rPr lang="en">
                <a:solidFill>
                  <a:srgbClr val="38761D"/>
                </a:solidFill>
              </a:rPr>
              <a:t>);</a:t>
            </a:r>
            <a:endParaRPr>
              <a:solidFill>
                <a:srgbClr val="38761D"/>
              </a:solidFill>
            </a:endParaRPr>
          </a:p>
          <a:p>
            <a:pPr indent="0" lvl="0" marL="0" rtl="0" algn="l">
              <a:spcBef>
                <a:spcPts val="0"/>
              </a:spcBef>
              <a:spcAft>
                <a:spcPts val="0"/>
              </a:spcAft>
              <a:buNone/>
            </a:pPr>
            <a:r>
              <a:rPr lang="en">
                <a:solidFill>
                  <a:srgbClr val="38761D"/>
                </a:solidFill>
              </a:rPr>
              <a:t>    // internal wires</a:t>
            </a:r>
            <a:endParaRPr>
              <a:solidFill>
                <a:srgbClr val="38761D"/>
              </a:solidFill>
            </a:endParaRPr>
          </a:p>
          <a:p>
            <a:pPr indent="0" lvl="0" marL="0" rtl="0" algn="l">
              <a:spcBef>
                <a:spcPts val="0"/>
              </a:spcBef>
              <a:spcAft>
                <a:spcPts val="0"/>
              </a:spcAft>
              <a:buNone/>
            </a:pPr>
            <a:r>
              <a:rPr lang="en">
                <a:solidFill>
                  <a:srgbClr val="38761D"/>
                </a:solidFill>
              </a:rPr>
              <a:t>    wire ab_xor;</a:t>
            </a:r>
            <a:endParaRPr>
              <a:solidFill>
                <a:srgbClr val="38761D"/>
              </a:solidFill>
            </a:endParaRPr>
          </a:p>
          <a:p>
            <a:pPr indent="0" lvl="0" marL="0" rtl="0" algn="l">
              <a:spcBef>
                <a:spcPts val="0"/>
              </a:spcBef>
              <a:spcAft>
                <a:spcPts val="0"/>
              </a:spcAft>
              <a:buNone/>
            </a:pPr>
            <a:r>
              <a:rPr lang="en">
                <a:solidFill>
                  <a:srgbClr val="38761D"/>
                </a:solidFill>
              </a:rPr>
              <a:t>    wire a_and_b, b_and_cin, a_and_cin;</a:t>
            </a:r>
            <a:endParaRPr>
              <a:solidFill>
                <a:srgbClr val="38761D"/>
              </a:solidFill>
            </a:endParaRPr>
          </a:p>
          <a:p>
            <a:pPr indent="0" lvl="0" marL="0" rtl="0" algn="l">
              <a:spcBef>
                <a:spcPts val="0"/>
              </a:spcBef>
              <a:spcAft>
                <a:spcPts val="0"/>
              </a:spcAft>
              <a:buNone/>
            </a:pPr>
            <a:r>
              <a:rPr lang="en">
                <a:solidFill>
                  <a:srgbClr val="38761D"/>
                </a:solidFill>
              </a:rPr>
              <a:t>    // XOR chain for sum</a:t>
            </a:r>
            <a:endParaRPr>
              <a:solidFill>
                <a:srgbClr val="38761D"/>
              </a:solidFill>
            </a:endParaRPr>
          </a:p>
          <a:p>
            <a:pPr indent="0" lvl="0" marL="0" rtl="0" algn="l">
              <a:spcBef>
                <a:spcPts val="0"/>
              </a:spcBef>
              <a:spcAft>
                <a:spcPts val="0"/>
              </a:spcAft>
              <a:buNone/>
            </a:pPr>
            <a:r>
              <a:rPr lang="en">
                <a:solidFill>
                  <a:srgbClr val="38761D"/>
                </a:solidFill>
              </a:rPr>
              <a:t>    xor (ab_xor, a, b);       // ab_xor = a ^ b</a:t>
            </a:r>
            <a:endParaRPr>
              <a:solidFill>
                <a:srgbClr val="38761D"/>
              </a:solidFill>
            </a:endParaRPr>
          </a:p>
          <a:p>
            <a:pPr indent="0" lvl="0" marL="0" rtl="0" algn="l">
              <a:spcBef>
                <a:spcPts val="0"/>
              </a:spcBef>
              <a:spcAft>
                <a:spcPts val="0"/>
              </a:spcAft>
              <a:buNone/>
            </a:pPr>
            <a:r>
              <a:rPr lang="en">
                <a:solidFill>
                  <a:srgbClr val="38761D"/>
                </a:solidFill>
              </a:rPr>
              <a:t>    xor (sum,    ab_xor, cin);// sum    = (a ^ b) ^ cin</a:t>
            </a:r>
            <a:endParaRPr>
              <a:solidFill>
                <a:srgbClr val="38761D"/>
              </a:solidFill>
            </a:endParaRPr>
          </a:p>
          <a:p>
            <a:pPr indent="0" lvl="0" marL="0" rtl="0" algn="l">
              <a:spcBef>
                <a:spcPts val="0"/>
              </a:spcBef>
              <a:spcAft>
                <a:spcPts val="0"/>
              </a:spcAft>
              <a:buNone/>
            </a:pPr>
            <a:r>
              <a:rPr lang="en">
                <a:solidFill>
                  <a:srgbClr val="38761D"/>
                </a:solidFill>
              </a:rPr>
              <a:t>    // AND-OR network for carry out</a:t>
            </a:r>
            <a:endParaRPr>
              <a:solidFill>
                <a:srgbClr val="38761D"/>
              </a:solidFill>
            </a:endParaRPr>
          </a:p>
          <a:p>
            <a:pPr indent="0" lvl="0" marL="0" rtl="0" algn="l">
              <a:spcBef>
                <a:spcPts val="0"/>
              </a:spcBef>
              <a:spcAft>
                <a:spcPts val="0"/>
              </a:spcAft>
              <a:buNone/>
            </a:pPr>
            <a:r>
              <a:rPr lang="en">
                <a:solidFill>
                  <a:srgbClr val="38761D"/>
                </a:solidFill>
              </a:rPr>
              <a:t>    and (a_and_b,   a, b);    // a&amp;b</a:t>
            </a:r>
            <a:endParaRPr>
              <a:solidFill>
                <a:srgbClr val="38761D"/>
              </a:solidFill>
            </a:endParaRPr>
          </a:p>
          <a:p>
            <a:pPr indent="0" lvl="0" marL="0" rtl="0" algn="l">
              <a:spcBef>
                <a:spcPts val="0"/>
              </a:spcBef>
              <a:spcAft>
                <a:spcPts val="0"/>
              </a:spcAft>
              <a:buNone/>
            </a:pPr>
            <a:r>
              <a:rPr lang="en">
                <a:solidFill>
                  <a:srgbClr val="38761D"/>
                </a:solidFill>
              </a:rPr>
              <a:t>    and (b_and_cin, b, cin);  // b&amp;cin</a:t>
            </a:r>
            <a:endParaRPr>
              <a:solidFill>
                <a:srgbClr val="38761D"/>
              </a:solidFill>
            </a:endParaRPr>
          </a:p>
          <a:p>
            <a:pPr indent="0" lvl="0" marL="0" rtl="0" algn="l">
              <a:spcBef>
                <a:spcPts val="0"/>
              </a:spcBef>
              <a:spcAft>
                <a:spcPts val="0"/>
              </a:spcAft>
              <a:buNone/>
            </a:pPr>
            <a:r>
              <a:rPr lang="en">
                <a:solidFill>
                  <a:srgbClr val="38761D"/>
                </a:solidFill>
              </a:rPr>
              <a:t>    and (a_and_cin, a, cin);  // a&amp;cin</a:t>
            </a:r>
            <a:endParaRPr>
              <a:solidFill>
                <a:srgbClr val="38761D"/>
              </a:solidFill>
            </a:endParaRPr>
          </a:p>
          <a:p>
            <a:pPr indent="0" lvl="0" marL="0" rtl="0" algn="l">
              <a:spcBef>
                <a:spcPts val="0"/>
              </a:spcBef>
              <a:spcAft>
                <a:spcPts val="0"/>
              </a:spcAft>
              <a:buNone/>
            </a:pPr>
            <a:r>
              <a:rPr lang="en">
                <a:solidFill>
                  <a:srgbClr val="38761D"/>
                </a:solidFill>
              </a:rPr>
              <a:t>    or  (cout, a_and_b, b_and_cin, a_and_cin); </a:t>
            </a:r>
            <a:endParaRPr>
              <a:solidFill>
                <a:srgbClr val="38761D"/>
              </a:solidFill>
            </a:endParaRPr>
          </a:p>
          <a:p>
            <a:pPr indent="0" lvl="0" marL="0" rtl="0" algn="l">
              <a:spcBef>
                <a:spcPts val="0"/>
              </a:spcBef>
              <a:spcAft>
                <a:spcPts val="0"/>
              </a:spcAft>
              <a:buNone/>
            </a:pPr>
            <a:r>
              <a:rPr lang="en">
                <a:solidFill>
                  <a:srgbClr val="38761D"/>
                </a:solidFill>
              </a:rPr>
              <a:t>// cout = a&amp;b | b&amp;cin | a&amp;cin</a:t>
            </a:r>
            <a:endParaRPr>
              <a:solidFill>
                <a:srgbClr val="38761D"/>
              </a:solidFill>
            </a:endParaRPr>
          </a:p>
          <a:p>
            <a:pPr indent="0" lvl="0" marL="0" rtl="0" algn="l">
              <a:spcBef>
                <a:spcPts val="0"/>
              </a:spcBef>
              <a:spcAft>
                <a:spcPts val="0"/>
              </a:spcAft>
              <a:buNone/>
            </a:pPr>
            <a:r>
              <a:rPr lang="en">
                <a:solidFill>
                  <a:srgbClr val="38761D"/>
                </a:solidFill>
              </a:rPr>
              <a:t>endmodule</a:t>
            </a:r>
            <a:endParaRPr>
              <a:solidFill>
                <a:srgbClr val="38761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2" name="Shape 252"/>
        <p:cNvGrpSpPr/>
        <p:nvPr/>
      </p:nvGrpSpPr>
      <p:grpSpPr>
        <a:xfrm>
          <a:off x="0" y="0"/>
          <a:ext cx="0" cy="0"/>
          <a:chOff x="0" y="0"/>
          <a:chExt cx="0" cy="0"/>
        </a:xfrm>
      </p:grpSpPr>
      <p:sp>
        <p:nvSpPr>
          <p:cNvPr id="253" name="Google Shape;253;p39"/>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54" name="Google Shape;254;p39"/>
          <p:cNvPicPr preferRelativeResize="0"/>
          <p:nvPr>
            <p:ph idx="1" type="body"/>
          </p:nvPr>
        </p:nvPicPr>
        <p:blipFill rotWithShape="1">
          <a:blip r:embed="rId3">
            <a:alphaModFix/>
          </a:blip>
          <a:srcRect b="0" l="0" r="0" t="0"/>
          <a:stretch/>
        </p:blipFill>
        <p:spPr>
          <a:xfrm>
            <a:off x="35412" y="1161094"/>
            <a:ext cx="9092100" cy="3860400"/>
          </a:xfrm>
          <a:prstGeom prst="rect">
            <a:avLst/>
          </a:prstGeom>
          <a:noFill/>
          <a:ln>
            <a:noFill/>
          </a:ln>
        </p:spPr>
      </p:pic>
      <p:pic>
        <p:nvPicPr>
          <p:cNvPr descr="A purple and white sign with white letters" id="255" name="Google Shape;255;p39"/>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
        <p:nvSpPr>
          <p:cNvPr id="256" name="Google Shape;256;p39"/>
          <p:cNvSpPr txBox="1"/>
          <p:nvPr>
            <p:ph type="title"/>
          </p:nvPr>
        </p:nvSpPr>
        <p:spPr>
          <a:xfrm>
            <a:off x="13000" y="-52101"/>
            <a:ext cx="7685100" cy="5730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Play"/>
              <a:buNone/>
            </a:pPr>
            <a:r>
              <a:rPr lang="en" sz="3000">
                <a:solidFill>
                  <a:schemeClr val="dk1"/>
                </a:solidFill>
                <a:latin typeface="Calibri"/>
                <a:ea typeface="Calibri"/>
                <a:cs typeface="Calibri"/>
                <a:sym typeface="Calibri"/>
              </a:rPr>
              <a:t>Case 1: CNF Gen</a:t>
            </a:r>
            <a:r>
              <a:rPr lang="en" sz="3000">
                <a:latin typeface="Calibri"/>
                <a:ea typeface="Calibri"/>
                <a:cs typeface="Calibri"/>
                <a:sym typeface="Calibri"/>
              </a:rPr>
              <a:t>eration</a:t>
            </a:r>
            <a:r>
              <a:rPr lang="en" sz="3000">
                <a:solidFill>
                  <a:schemeClr val="dk1"/>
                </a:solidFill>
                <a:latin typeface="Calibri"/>
                <a:ea typeface="Calibri"/>
                <a:cs typeface="Calibri"/>
                <a:sym typeface="Calibri"/>
              </a:rPr>
              <a:t> </a:t>
            </a:r>
            <a:r>
              <a:rPr lang="en" sz="3000">
                <a:latin typeface="Calibri"/>
                <a:ea typeface="Calibri"/>
                <a:cs typeface="Calibri"/>
                <a:sym typeface="Calibri"/>
              </a:rPr>
              <a:t>by</a:t>
            </a:r>
            <a:r>
              <a:rPr lang="en" sz="3000">
                <a:solidFill>
                  <a:schemeClr val="dk1"/>
                </a:solidFill>
                <a:latin typeface="Calibri"/>
                <a:ea typeface="Calibri"/>
                <a:cs typeface="Calibri"/>
                <a:sym typeface="Calibri"/>
              </a:rPr>
              <a:t> </a:t>
            </a:r>
            <a:r>
              <a:rPr lang="en" sz="3000">
                <a:latin typeface="Calibri"/>
                <a:ea typeface="Calibri"/>
                <a:cs typeface="Calibri"/>
                <a:sym typeface="Calibri"/>
              </a:rPr>
              <a:t>B</a:t>
            </a:r>
            <a:r>
              <a:rPr lang="en" sz="3000">
                <a:solidFill>
                  <a:schemeClr val="dk1"/>
                </a:solidFill>
                <a:latin typeface="Calibri"/>
                <a:ea typeface="Calibri"/>
                <a:cs typeface="Calibri"/>
                <a:sym typeface="Calibri"/>
              </a:rPr>
              <a:t>ase </a:t>
            </a:r>
            <a:r>
              <a:rPr lang="en" sz="3000">
                <a:latin typeface="Calibri"/>
                <a:ea typeface="Calibri"/>
                <a:cs typeface="Calibri"/>
                <a:sym typeface="Calibri"/>
              </a:rPr>
              <a:t>M</a:t>
            </a:r>
            <a:r>
              <a:rPr lang="en" sz="3000">
                <a:solidFill>
                  <a:schemeClr val="dk1"/>
                </a:solidFill>
                <a:latin typeface="Calibri"/>
                <a:ea typeface="Calibri"/>
                <a:cs typeface="Calibri"/>
                <a:sym typeface="Calibri"/>
              </a:rPr>
              <a:t>odels</a:t>
            </a:r>
            <a:endParaRPr sz="30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a:t>
            </a:r>
            <a:endParaRPr sz="3000"/>
          </a:p>
        </p:txBody>
      </p:sp>
      <p:sp>
        <p:nvSpPr>
          <p:cNvPr id="262" name="Google Shape;262;p40"/>
          <p:cNvSpPr txBox="1"/>
          <p:nvPr>
            <p:ph idx="1" type="body"/>
          </p:nvPr>
        </p:nvSpPr>
        <p:spPr>
          <a:xfrm>
            <a:off x="125" y="1369225"/>
            <a:ext cx="9144000" cy="2538900"/>
          </a:xfrm>
          <a:prstGeom prst="rect">
            <a:avLst/>
          </a:prstGeom>
        </p:spPr>
        <p:txBody>
          <a:bodyPr anchorCtr="0" anchor="t" bIns="34275" lIns="68575" spcFirstLastPara="1" rIns="68575" wrap="square" tIns="34275">
            <a:normAutofit lnSpcReduction="10000"/>
          </a:bodyPr>
          <a:lstStyle/>
          <a:p>
            <a:pPr indent="0" lvl="0" marL="0" rtl="0" algn="l">
              <a:spcBef>
                <a:spcPts val="1000"/>
              </a:spcBef>
              <a:spcAft>
                <a:spcPts val="0"/>
              </a:spcAft>
              <a:buClr>
                <a:schemeClr val="dk1"/>
              </a:buClr>
              <a:buSzPts val="1100"/>
              <a:buFont typeface="Arial"/>
              <a:buNone/>
            </a:pPr>
            <a:r>
              <a:rPr lang="en" sz="2400"/>
              <a:t>•Use google collab implementing Veritas</a:t>
            </a:r>
            <a:endParaRPr sz="2400"/>
          </a:p>
          <a:p>
            <a:pPr indent="0" lvl="0" marL="0" rtl="0" algn="l">
              <a:spcBef>
                <a:spcPts val="1000"/>
              </a:spcBef>
              <a:spcAft>
                <a:spcPts val="0"/>
              </a:spcAft>
              <a:buClr>
                <a:schemeClr val="dk1"/>
              </a:buClr>
              <a:buSzPts val="1100"/>
              <a:buFont typeface="Arial"/>
              <a:buNone/>
            </a:pPr>
            <a:r>
              <a:rPr lang="en" sz="2400"/>
              <a:t>•</a:t>
            </a:r>
            <a:r>
              <a:rPr lang="en" sz="2400" u="sng">
                <a:solidFill>
                  <a:schemeClr val="hlink"/>
                </a:solidFill>
                <a:hlinkClick r:id="rId3"/>
              </a:rPr>
              <a:t>https://drive.google.com/file/d/1ysHMvfTkve9Pbqb6toweKuT6EV1fzQ_d/view?usp=sharing</a:t>
            </a:r>
            <a:endParaRPr sz="2400" u="sng">
              <a:solidFill>
                <a:schemeClr val="hlink"/>
              </a:solidFill>
            </a:endParaRPr>
          </a:p>
          <a:p>
            <a:pPr indent="0" lvl="0" marL="0" rtl="0" algn="l">
              <a:spcBef>
                <a:spcPts val="1000"/>
              </a:spcBef>
              <a:spcAft>
                <a:spcPts val="0"/>
              </a:spcAft>
              <a:buClr>
                <a:schemeClr val="dk1"/>
              </a:buClr>
              <a:buSzPts val="1100"/>
              <a:buFont typeface="Arial"/>
              <a:buNone/>
            </a:pPr>
            <a:r>
              <a:rPr lang="en" sz="2400"/>
              <a:t>•Try out different designs (add, sub, ect) and configurations (2-bit, 4-bit etc) </a:t>
            </a:r>
            <a:endParaRPr sz="2400"/>
          </a:p>
          <a:p>
            <a:pPr indent="0" lvl="0" marL="0" rtl="0" algn="l">
              <a:spcBef>
                <a:spcPts val="1000"/>
              </a:spcBef>
              <a:spcAft>
                <a:spcPts val="0"/>
              </a:spcAft>
              <a:buClr>
                <a:schemeClr val="dk1"/>
              </a:buClr>
              <a:buSzPts val="1100"/>
              <a:buFont typeface="Arial"/>
              <a:buNone/>
            </a:pPr>
            <a:r>
              <a:rPr lang="en" sz="2400"/>
              <a:t>•You will need a API Key to access the OpenAI API</a:t>
            </a:r>
            <a:endParaRPr sz="2400"/>
          </a:p>
        </p:txBody>
      </p:sp>
      <p:pic>
        <p:nvPicPr>
          <p:cNvPr descr="A purple and white sign with white letters" id="263" name="Google Shape;263;p40"/>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 generating bench</a:t>
            </a:r>
            <a:endParaRPr sz="3000"/>
          </a:p>
        </p:txBody>
      </p:sp>
      <p:sp>
        <p:nvSpPr>
          <p:cNvPr id="269" name="Google Shape;269;p41"/>
          <p:cNvSpPr txBox="1"/>
          <p:nvPr>
            <p:ph idx="1" type="body"/>
          </p:nvPr>
        </p:nvSpPr>
        <p:spPr>
          <a:xfrm>
            <a:off x="125" y="1369225"/>
            <a:ext cx="9144000" cy="25389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The second block in the collab notebook converts the cnf equations to equivalent .bench file.</a:t>
            </a:r>
            <a:endParaRPr/>
          </a:p>
          <a:p>
            <a:pPr indent="-361950" lvl="0" marL="457200" rtl="0" algn="l">
              <a:spcBef>
                <a:spcPts val="0"/>
              </a:spcBef>
              <a:spcAft>
                <a:spcPts val="0"/>
              </a:spcAft>
              <a:buSzPts val="2100"/>
              <a:buChar char="●"/>
            </a:pPr>
            <a:r>
              <a:rPr lang="en"/>
              <a:t>You have to ensure that you have declared the input and the output variable initially in the block.</a:t>
            </a:r>
            <a:endParaRPr/>
          </a:p>
          <a:p>
            <a:pPr indent="-361950" lvl="0" marL="457200" rtl="0" algn="l">
              <a:spcBef>
                <a:spcPts val="0"/>
              </a:spcBef>
              <a:spcAft>
                <a:spcPts val="0"/>
              </a:spcAft>
              <a:buSzPts val="2100"/>
              <a:buChar char="●"/>
            </a:pPr>
            <a:r>
              <a:rPr lang="en"/>
              <a:t>Check for the generated .bench files in the folder icon present on the left side of the collab notebook</a:t>
            </a:r>
            <a:endParaRPr/>
          </a:p>
        </p:txBody>
      </p:sp>
      <p:pic>
        <p:nvPicPr>
          <p:cNvPr descr="A purple and white sign with white letters" id="270" name="Google Shape;270;p41"/>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id="271" name="Google Shape;271;p41"/>
          <p:cNvPicPr preferRelativeResize="0"/>
          <p:nvPr/>
        </p:nvPicPr>
        <p:blipFill>
          <a:blip r:embed="rId4">
            <a:alphaModFix/>
          </a:blip>
          <a:stretch>
            <a:fillRect/>
          </a:stretch>
        </p:blipFill>
        <p:spPr>
          <a:xfrm>
            <a:off x="125" y="3394703"/>
            <a:ext cx="9144003" cy="1748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 simulating bench</a:t>
            </a:r>
            <a:endParaRPr sz="3000"/>
          </a:p>
        </p:txBody>
      </p:sp>
      <p:sp>
        <p:nvSpPr>
          <p:cNvPr id="277" name="Google Shape;277;p42"/>
          <p:cNvSpPr txBox="1"/>
          <p:nvPr>
            <p:ph idx="1" type="body"/>
          </p:nvPr>
        </p:nvSpPr>
        <p:spPr>
          <a:xfrm>
            <a:off x="125" y="1369225"/>
            <a:ext cx="9144000" cy="2538900"/>
          </a:xfrm>
          <a:prstGeom prst="rect">
            <a:avLst/>
          </a:prstGeom>
        </p:spPr>
        <p:txBody>
          <a:bodyPr anchorCtr="0" anchor="t" bIns="34275" lIns="68575" spcFirstLastPara="1" rIns="68575" wrap="square" tIns="34275">
            <a:normAutofit/>
          </a:bodyPr>
          <a:lstStyle/>
          <a:p>
            <a:pPr indent="-361950" lvl="0" marL="457200" rtl="0" algn="l">
              <a:spcBef>
                <a:spcPts val="1000"/>
              </a:spcBef>
              <a:spcAft>
                <a:spcPts val="0"/>
              </a:spcAft>
              <a:buSzPts val="2100"/>
              <a:buChar char="●"/>
            </a:pPr>
            <a:r>
              <a:rPr lang="en"/>
              <a:t>As an easy way to check whether the generated bench is derived from correct CNF, I have provided a </a:t>
            </a:r>
            <a:r>
              <a:rPr lang="en"/>
              <a:t>simulation</a:t>
            </a:r>
            <a:r>
              <a:rPr lang="en"/>
              <a:t> script in the third block</a:t>
            </a:r>
            <a:endParaRPr/>
          </a:p>
          <a:p>
            <a:pPr indent="-317500" lvl="0" marL="457200" rtl="0" algn="l">
              <a:spcBef>
                <a:spcPts val="0"/>
              </a:spcBef>
              <a:spcAft>
                <a:spcPts val="0"/>
              </a:spcAft>
              <a:buSzPts val="1400"/>
              <a:buChar char="●"/>
            </a:pPr>
            <a:r>
              <a:rPr lang="en"/>
              <a:t>This script generates a truth table for the circuit, which can be quickly checked to verify the functionality of the bench</a:t>
            </a:r>
            <a:endParaRPr/>
          </a:p>
          <a:p>
            <a:pPr indent="-317500" lvl="0" marL="457200" rtl="0" algn="l">
              <a:spcBef>
                <a:spcPts val="0"/>
              </a:spcBef>
              <a:spcAft>
                <a:spcPts val="0"/>
              </a:spcAft>
              <a:buSzPts val="1400"/>
              <a:buChar char="●"/>
            </a:pPr>
            <a:r>
              <a:rPr lang="en"/>
              <a:t>It is a quick way to verify the functionality for small circuits</a:t>
            </a:r>
            <a:endParaRPr/>
          </a:p>
          <a:p>
            <a:pPr indent="-317500" lvl="0" marL="457200" rtl="0" algn="l">
              <a:spcBef>
                <a:spcPts val="0"/>
              </a:spcBef>
              <a:spcAft>
                <a:spcPts val="0"/>
              </a:spcAft>
              <a:buSzPts val="1400"/>
              <a:buChar char="●"/>
            </a:pPr>
            <a:r>
              <a:rPr lang="en"/>
              <a:t>For bigger circuits we can use cec, but for that you have to call the “cec” tool on your linux machine, can not use it on collab directly</a:t>
            </a:r>
            <a:endParaRPr/>
          </a:p>
        </p:txBody>
      </p:sp>
      <p:pic>
        <p:nvPicPr>
          <p:cNvPr descr="A purple and white sign with white letters" id="278" name="Google Shape;278;p42"/>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 bench to verilog</a:t>
            </a:r>
            <a:endParaRPr sz="3000"/>
          </a:p>
        </p:txBody>
      </p:sp>
      <p:sp>
        <p:nvSpPr>
          <p:cNvPr id="284" name="Google Shape;284;p43"/>
          <p:cNvSpPr txBox="1"/>
          <p:nvPr>
            <p:ph idx="1" type="body"/>
          </p:nvPr>
        </p:nvSpPr>
        <p:spPr>
          <a:xfrm>
            <a:off x="125" y="1369225"/>
            <a:ext cx="9144000" cy="2538900"/>
          </a:xfrm>
          <a:prstGeom prst="rect">
            <a:avLst/>
          </a:prstGeom>
        </p:spPr>
        <p:txBody>
          <a:bodyPr anchorCtr="0" anchor="t" bIns="34275" lIns="68575" spcFirstLastPara="1" rIns="68575" wrap="square" tIns="34275">
            <a:normAutofit/>
          </a:bodyPr>
          <a:lstStyle/>
          <a:p>
            <a:pPr indent="-317500" lvl="0" marL="457200" rtl="0" algn="l">
              <a:spcBef>
                <a:spcPts val="1000"/>
              </a:spcBef>
              <a:spcAft>
                <a:spcPts val="0"/>
              </a:spcAft>
              <a:buSzPts val="1400"/>
              <a:buChar char="●"/>
            </a:pPr>
            <a:r>
              <a:rPr lang="en"/>
              <a:t>The fourth block of the collab contains the script to deterministically convert the bench to its equivalent verilog file</a:t>
            </a:r>
            <a:endParaRPr/>
          </a:p>
          <a:p>
            <a:pPr indent="-317500" lvl="0" marL="457200" rtl="0" algn="l">
              <a:spcBef>
                <a:spcPts val="0"/>
              </a:spcBef>
              <a:spcAft>
                <a:spcPts val="0"/>
              </a:spcAft>
              <a:buSzPts val="1400"/>
              <a:buChar char="●"/>
            </a:pPr>
            <a:r>
              <a:rPr lang="en"/>
              <a:t>The generated verilog file will also show up under the folder icon to the left</a:t>
            </a:r>
            <a:endParaRPr/>
          </a:p>
        </p:txBody>
      </p:sp>
      <p:pic>
        <p:nvPicPr>
          <p:cNvPr descr="A purple and white sign with white letters" id="285" name="Google Shape;285;p43"/>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a:t>
            </a:r>
            <a:endParaRPr sz="3000"/>
          </a:p>
        </p:txBody>
      </p:sp>
      <p:sp>
        <p:nvSpPr>
          <p:cNvPr id="291" name="Google Shape;291;p44"/>
          <p:cNvSpPr txBox="1"/>
          <p:nvPr>
            <p:ph idx="1" type="body"/>
          </p:nvPr>
        </p:nvSpPr>
        <p:spPr>
          <a:xfrm>
            <a:off x="125" y="1369225"/>
            <a:ext cx="9144000" cy="25389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Clr>
                <a:schemeClr val="dk1"/>
              </a:buClr>
              <a:buSzPts val="1100"/>
              <a:buFont typeface="Arial"/>
              <a:buNone/>
            </a:pPr>
            <a:r>
              <a:rPr lang="en" sz="2400"/>
              <a:t>Subash</a:t>
            </a:r>
            <a:r>
              <a:rPr lang="en" sz="2400"/>
              <a:t> your slides go here!</a:t>
            </a:r>
            <a:endParaRPr sz="2400"/>
          </a:p>
        </p:txBody>
      </p:sp>
      <p:pic>
        <p:nvPicPr>
          <p:cNvPr descr="A purple and white sign with white letters" id="292" name="Google Shape;292;p44"/>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title"/>
          </p:nvPr>
        </p:nvSpPr>
        <p:spPr>
          <a:xfrm>
            <a:off x="42950" y="26048"/>
            <a:ext cx="7886700" cy="698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Try out veritas collab </a:t>
            </a:r>
            <a:endParaRPr sz="3000"/>
          </a:p>
        </p:txBody>
      </p:sp>
      <p:sp>
        <p:nvSpPr>
          <p:cNvPr id="298" name="Google Shape;298;p45"/>
          <p:cNvSpPr txBox="1"/>
          <p:nvPr>
            <p:ph idx="1" type="body"/>
          </p:nvPr>
        </p:nvSpPr>
        <p:spPr>
          <a:xfrm>
            <a:off x="125" y="1369225"/>
            <a:ext cx="9144000" cy="2538900"/>
          </a:xfrm>
          <a:prstGeom prst="rect">
            <a:avLst/>
          </a:prstGeom>
        </p:spPr>
        <p:txBody>
          <a:bodyPr anchorCtr="0" anchor="t" bIns="34275" lIns="68575" spcFirstLastPara="1" rIns="68575" wrap="square" tIns="34275">
            <a:normAutofit/>
          </a:bodyPr>
          <a:lstStyle/>
          <a:p>
            <a:pPr indent="0" lvl="0" marL="0" rtl="0" algn="l">
              <a:spcBef>
                <a:spcPts val="1000"/>
              </a:spcBef>
              <a:spcAft>
                <a:spcPts val="0"/>
              </a:spcAft>
              <a:buClr>
                <a:schemeClr val="dk1"/>
              </a:buClr>
              <a:buSzPts val="1100"/>
              <a:buFont typeface="Arial"/>
              <a:buNone/>
            </a:pPr>
            <a:r>
              <a:rPr lang="en" sz="2400"/>
              <a:t>Dhirajen Your slides go here!</a:t>
            </a:r>
            <a:endParaRPr sz="2400"/>
          </a:p>
        </p:txBody>
      </p:sp>
      <p:pic>
        <p:nvPicPr>
          <p:cNvPr descr="A purple and white sign with white letters" id="299" name="Google Shape;299;p45"/>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46"/>
          <p:cNvSpPr txBox="1"/>
          <p:nvPr>
            <p:ph type="title"/>
          </p:nvPr>
        </p:nvSpPr>
        <p:spPr>
          <a:xfrm>
            <a:off x="0" y="-1104"/>
            <a:ext cx="7864800" cy="570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900"/>
              <a:buFont typeface="Play"/>
              <a:buNone/>
            </a:pPr>
            <a:r>
              <a:rPr lang="en" sz="3000">
                <a:latin typeface="Calibri"/>
                <a:ea typeface="Calibri"/>
                <a:cs typeface="Calibri"/>
                <a:sym typeface="Calibri"/>
              </a:rPr>
              <a:t>Generative Models and Verilog Generation</a:t>
            </a:r>
            <a:endParaRPr sz="3400">
              <a:latin typeface="Calibri"/>
              <a:ea typeface="Calibri"/>
              <a:cs typeface="Calibri"/>
              <a:sym typeface="Calibri"/>
            </a:endParaRPr>
          </a:p>
        </p:txBody>
      </p:sp>
      <p:sp>
        <p:nvSpPr>
          <p:cNvPr id="305" name="Google Shape;305;p46"/>
          <p:cNvSpPr txBox="1"/>
          <p:nvPr>
            <p:ph idx="1" type="body"/>
          </p:nvPr>
        </p:nvSpPr>
        <p:spPr>
          <a:xfrm>
            <a:off x="-50" y="493925"/>
            <a:ext cx="9144000" cy="4649700"/>
          </a:xfrm>
          <a:prstGeom prst="rect">
            <a:avLst/>
          </a:prstGeom>
          <a:noFill/>
          <a:ln>
            <a:noFill/>
          </a:ln>
        </p:spPr>
        <p:txBody>
          <a:bodyPr anchorCtr="0" anchor="ctr" bIns="34275" lIns="68575" spcFirstLastPara="1" rIns="68575" wrap="square" tIns="34275">
            <a:normAutofit/>
          </a:bodyPr>
          <a:lstStyle/>
          <a:p>
            <a:pPr indent="-190500" lvl="0" marL="177800" marR="0" rtl="0" algn="l">
              <a:lnSpc>
                <a:spcPct val="100000"/>
              </a:lnSpc>
              <a:spcBef>
                <a:spcPts val="0"/>
              </a:spcBef>
              <a:spcAft>
                <a:spcPts val="0"/>
              </a:spcAft>
              <a:buSzPts val="2000"/>
              <a:buFont typeface="Calibri"/>
              <a:buChar char="•"/>
            </a:pPr>
            <a:r>
              <a:rPr lang="en" sz="2000">
                <a:latin typeface="Calibri"/>
                <a:ea typeface="Calibri"/>
                <a:cs typeface="Calibri"/>
                <a:sym typeface="Calibri"/>
              </a:rPr>
              <a:t>LLMs vastly used around the world for coding</a:t>
            </a:r>
            <a:endParaRPr sz="2000">
              <a:latin typeface="Calibri"/>
              <a:ea typeface="Calibri"/>
              <a:cs typeface="Calibri"/>
              <a:sym typeface="Calibri"/>
            </a:endParaRPr>
          </a:p>
          <a:p>
            <a:pPr indent="-190500" lvl="0" marL="177800" rtl="0" algn="l">
              <a:lnSpc>
                <a:spcPct val="100000"/>
              </a:lnSpc>
              <a:spcBef>
                <a:spcPts val="800"/>
              </a:spcBef>
              <a:spcAft>
                <a:spcPts val="0"/>
              </a:spcAft>
              <a:buClr>
                <a:schemeClr val="dk1"/>
              </a:buClr>
              <a:buSzPts val="2000"/>
              <a:buFont typeface="Calibri"/>
              <a:buChar char="•"/>
            </a:pPr>
            <a:r>
              <a:rPr lang="en" sz="2000">
                <a:latin typeface="Calibri"/>
                <a:ea typeface="Calibri"/>
                <a:cs typeface="Calibri"/>
                <a:sym typeface="Calibri"/>
              </a:rPr>
              <a:t>Can LLMs be used for Hardware Code generation?</a:t>
            </a:r>
            <a:endParaRPr sz="2000">
              <a:latin typeface="Calibri"/>
              <a:ea typeface="Calibri"/>
              <a:cs typeface="Calibri"/>
              <a:sym typeface="Calibri"/>
            </a:endParaRPr>
          </a:p>
          <a:p>
            <a:pPr indent="-190500" lvl="0" marL="177800" marR="0" rtl="0" algn="l">
              <a:lnSpc>
                <a:spcPct val="100000"/>
              </a:lnSpc>
              <a:spcBef>
                <a:spcPts val="800"/>
              </a:spcBef>
              <a:spcAft>
                <a:spcPts val="0"/>
              </a:spcAft>
              <a:buSzPts val="2000"/>
              <a:buFont typeface="Calibri"/>
              <a:buChar char="•"/>
            </a:pPr>
            <a:r>
              <a:rPr lang="en" sz="2000">
                <a:latin typeface="Calibri"/>
                <a:ea typeface="Calibri"/>
                <a:cs typeface="Calibri"/>
                <a:sym typeface="Calibri"/>
              </a:rPr>
              <a:t>Some Approaches</a:t>
            </a:r>
            <a:endParaRPr sz="2000">
              <a:latin typeface="Calibri"/>
              <a:ea typeface="Calibri"/>
              <a:cs typeface="Calibri"/>
              <a:sym typeface="Calibri"/>
            </a:endParaRPr>
          </a:p>
          <a:p>
            <a:pPr indent="-215900" lvl="1" marL="520700" rtl="0" algn="l">
              <a:lnSpc>
                <a:spcPct val="100000"/>
              </a:lnSpc>
              <a:spcBef>
                <a:spcPts val="0"/>
              </a:spcBef>
              <a:spcAft>
                <a:spcPts val="0"/>
              </a:spcAft>
              <a:buSzPts val="2000"/>
              <a:buFont typeface="Calibri"/>
              <a:buChar char="•"/>
            </a:pPr>
            <a:r>
              <a:rPr lang="en" sz="2000">
                <a:latin typeface="Calibri"/>
                <a:ea typeface="Calibri"/>
                <a:cs typeface="Calibri"/>
                <a:sym typeface="Calibri"/>
              </a:rPr>
              <a:t>DAV</a:t>
            </a:r>
            <a:endParaRPr sz="2000">
              <a:latin typeface="Calibri"/>
              <a:ea typeface="Calibri"/>
              <a:cs typeface="Calibri"/>
              <a:sym typeface="Calibri"/>
            </a:endParaRPr>
          </a:p>
          <a:p>
            <a:pPr indent="-215900" lvl="1" marL="520700" marR="0" rtl="0" algn="l">
              <a:lnSpc>
                <a:spcPct val="100000"/>
              </a:lnSpc>
              <a:spcBef>
                <a:spcPts val="0"/>
              </a:spcBef>
              <a:spcAft>
                <a:spcPts val="0"/>
              </a:spcAft>
              <a:buSzPts val="2000"/>
              <a:buFont typeface="Calibri"/>
              <a:buChar char="•"/>
            </a:pPr>
            <a:r>
              <a:rPr lang="en" sz="2000">
                <a:latin typeface="Calibri"/>
                <a:ea typeface="Calibri"/>
                <a:cs typeface="Calibri"/>
                <a:sym typeface="Calibri"/>
              </a:rPr>
              <a:t>ChipChat</a:t>
            </a:r>
            <a:endParaRPr sz="2000">
              <a:latin typeface="Calibri"/>
              <a:ea typeface="Calibri"/>
              <a:cs typeface="Calibri"/>
              <a:sym typeface="Calibri"/>
            </a:endParaRPr>
          </a:p>
          <a:p>
            <a:pPr indent="-215900" lvl="1" marL="520700" rtl="0" algn="l">
              <a:lnSpc>
                <a:spcPct val="100000"/>
              </a:lnSpc>
              <a:spcBef>
                <a:spcPts val="400"/>
              </a:spcBef>
              <a:spcAft>
                <a:spcPts val="0"/>
              </a:spcAft>
              <a:buSzPts val="2000"/>
              <a:buFont typeface="Calibri"/>
              <a:buChar char="•"/>
            </a:pPr>
            <a:r>
              <a:rPr lang="en" sz="2000">
                <a:latin typeface="Calibri"/>
                <a:ea typeface="Calibri"/>
                <a:cs typeface="Calibri"/>
                <a:sym typeface="Calibri"/>
              </a:rPr>
              <a:t>Verigen</a:t>
            </a:r>
            <a:endParaRPr sz="2000">
              <a:latin typeface="Calibri"/>
              <a:ea typeface="Calibri"/>
              <a:cs typeface="Calibri"/>
              <a:sym typeface="Calibri"/>
            </a:endParaRPr>
          </a:p>
          <a:p>
            <a:pPr indent="-215900" lvl="2" marL="863600" rtl="0" algn="l">
              <a:lnSpc>
                <a:spcPct val="100000"/>
              </a:lnSpc>
              <a:spcBef>
                <a:spcPts val="0"/>
              </a:spcBef>
              <a:spcAft>
                <a:spcPts val="0"/>
              </a:spcAft>
              <a:buSzPts val="2000"/>
              <a:buFont typeface="Calibri"/>
              <a:buChar char="•"/>
            </a:pPr>
            <a:r>
              <a:rPr lang="en" sz="2000">
                <a:latin typeface="Calibri"/>
                <a:ea typeface="Calibri"/>
                <a:cs typeface="Calibri"/>
                <a:sym typeface="Calibri"/>
              </a:rPr>
              <a:t>Trained CodeGen-2b and 16Bs on Verilog from github and text books</a:t>
            </a:r>
            <a:endParaRPr sz="2000">
              <a:latin typeface="Calibri"/>
              <a:ea typeface="Calibri"/>
              <a:cs typeface="Calibri"/>
              <a:sym typeface="Calibri"/>
            </a:endParaRPr>
          </a:p>
          <a:p>
            <a:pPr indent="-215900" lvl="2" marL="863600" rtl="0" algn="l">
              <a:lnSpc>
                <a:spcPct val="100000"/>
              </a:lnSpc>
              <a:spcBef>
                <a:spcPts val="800"/>
              </a:spcBef>
              <a:spcAft>
                <a:spcPts val="0"/>
              </a:spcAft>
              <a:buSzPts val="2000"/>
              <a:buFont typeface="Calibri"/>
              <a:buChar char="•"/>
            </a:pPr>
            <a:r>
              <a:rPr lang="en" sz="2000">
                <a:latin typeface="Calibri"/>
                <a:ea typeface="Calibri"/>
                <a:cs typeface="Calibri"/>
                <a:sym typeface="Calibri"/>
              </a:rPr>
              <a:t>Performed better than the contemporary state-of-the-art GPT3.5</a:t>
            </a:r>
            <a:endParaRPr sz="2000">
              <a:latin typeface="Calibri"/>
              <a:ea typeface="Calibri"/>
              <a:cs typeface="Calibri"/>
              <a:sym typeface="Calibri"/>
            </a:endParaRPr>
          </a:p>
          <a:p>
            <a:pPr indent="-215900" lvl="1" marL="520700" marR="0" rtl="0" algn="l">
              <a:lnSpc>
                <a:spcPct val="100000"/>
              </a:lnSpc>
              <a:spcBef>
                <a:spcPts val="0"/>
              </a:spcBef>
              <a:spcAft>
                <a:spcPts val="0"/>
              </a:spcAft>
              <a:buSzPts val="2000"/>
              <a:buFont typeface="Calibri"/>
              <a:buChar char="•"/>
            </a:pPr>
            <a:r>
              <a:rPr lang="en" sz="2000">
                <a:latin typeface="Calibri"/>
                <a:ea typeface="Calibri"/>
                <a:cs typeface="Calibri"/>
                <a:sym typeface="Calibri"/>
              </a:rPr>
              <a:t>AutoChip</a:t>
            </a:r>
            <a:endParaRPr sz="2000">
              <a:latin typeface="Calibri"/>
              <a:ea typeface="Calibri"/>
              <a:cs typeface="Calibri"/>
              <a:sym typeface="Calibri"/>
            </a:endParaRPr>
          </a:p>
          <a:p>
            <a:pPr indent="-215900" lvl="1" marL="520700" rtl="0" algn="l">
              <a:lnSpc>
                <a:spcPct val="100000"/>
              </a:lnSpc>
              <a:spcBef>
                <a:spcPts val="0"/>
              </a:spcBef>
              <a:spcAft>
                <a:spcPts val="0"/>
              </a:spcAft>
              <a:buSzPts val="2000"/>
              <a:buFont typeface="Calibri"/>
              <a:buChar char="•"/>
            </a:pPr>
            <a:r>
              <a:rPr lang="en" sz="2000">
                <a:latin typeface="Calibri"/>
                <a:ea typeface="Calibri"/>
                <a:cs typeface="Calibri"/>
                <a:sym typeface="Calibri"/>
              </a:rPr>
              <a:t>RTL Coder </a:t>
            </a:r>
            <a:endParaRPr sz="2000">
              <a:latin typeface="Calibri"/>
              <a:ea typeface="Calibri"/>
              <a:cs typeface="Calibri"/>
              <a:sym typeface="Calibri"/>
            </a:endParaRPr>
          </a:p>
          <a:p>
            <a:pPr indent="-215900" lvl="2" marL="863600" rtl="0" algn="l">
              <a:lnSpc>
                <a:spcPct val="100000"/>
              </a:lnSpc>
              <a:spcBef>
                <a:spcPts val="0"/>
              </a:spcBef>
              <a:spcAft>
                <a:spcPts val="0"/>
              </a:spcAft>
              <a:buSzPts val="2000"/>
              <a:buFont typeface="Calibri"/>
              <a:buChar char="•"/>
            </a:pPr>
            <a:r>
              <a:rPr lang="en" sz="2000">
                <a:latin typeface="Calibri"/>
                <a:ea typeface="Calibri"/>
                <a:cs typeface="Calibri"/>
                <a:sym typeface="Calibri"/>
              </a:rPr>
              <a:t>Used 27k prompt and solution pairs for training</a:t>
            </a:r>
            <a:endParaRPr sz="2000">
              <a:latin typeface="Calibri"/>
              <a:ea typeface="Calibri"/>
              <a:cs typeface="Calibri"/>
              <a:sym typeface="Calibri"/>
            </a:endParaRPr>
          </a:p>
          <a:p>
            <a:pPr indent="-215900" lvl="2" marL="863600" rtl="0" algn="l">
              <a:lnSpc>
                <a:spcPct val="100000"/>
              </a:lnSpc>
              <a:spcBef>
                <a:spcPts val="800"/>
              </a:spcBef>
              <a:spcAft>
                <a:spcPts val="0"/>
              </a:spcAft>
              <a:buSzPts val="2000"/>
              <a:buFont typeface="Calibri"/>
              <a:buChar char="•"/>
            </a:pPr>
            <a:r>
              <a:rPr lang="en" sz="2000">
                <a:latin typeface="Calibri"/>
                <a:ea typeface="Calibri"/>
                <a:cs typeface="Calibri"/>
                <a:sym typeface="Calibri"/>
              </a:rPr>
              <a:t>SoTA with the highest pass@k values</a:t>
            </a:r>
            <a:endParaRPr sz="2000">
              <a:latin typeface="Calibri"/>
              <a:ea typeface="Calibri"/>
              <a:cs typeface="Calibri"/>
              <a:sym typeface="Calibri"/>
            </a:endParaRPr>
          </a:p>
        </p:txBody>
      </p:sp>
      <p:pic>
        <p:nvPicPr>
          <p:cNvPr descr="A purple and white sign with white letters" id="306" name="Google Shape;306;p46"/>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0" name="Shape 310"/>
        <p:cNvGrpSpPr/>
        <p:nvPr/>
      </p:nvGrpSpPr>
      <p:grpSpPr>
        <a:xfrm>
          <a:off x="0" y="0"/>
          <a:ext cx="0" cy="0"/>
          <a:chOff x="0" y="0"/>
          <a:chExt cx="0" cy="0"/>
        </a:xfrm>
      </p:grpSpPr>
      <p:sp>
        <p:nvSpPr>
          <p:cNvPr id="311" name="Google Shape;311;p47"/>
          <p:cNvSpPr txBox="1"/>
          <p:nvPr>
            <p:ph type="title"/>
          </p:nvPr>
        </p:nvSpPr>
        <p:spPr>
          <a:xfrm>
            <a:off x="99475" y="0"/>
            <a:ext cx="6927600" cy="6459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3500"/>
              <a:buFont typeface="Play"/>
              <a:buNone/>
            </a:pPr>
            <a:r>
              <a:rPr lang="en" sz="3000">
                <a:latin typeface="Calibri"/>
                <a:ea typeface="Calibri"/>
                <a:cs typeface="Calibri"/>
                <a:sym typeface="Calibri"/>
              </a:rPr>
              <a:t>Limitations of Verilog Trained Models</a:t>
            </a:r>
            <a:endParaRPr sz="2800">
              <a:latin typeface="Calibri"/>
              <a:ea typeface="Calibri"/>
              <a:cs typeface="Calibri"/>
              <a:sym typeface="Calibri"/>
            </a:endParaRPr>
          </a:p>
        </p:txBody>
      </p:sp>
      <p:sp>
        <p:nvSpPr>
          <p:cNvPr id="312" name="Google Shape;312;p47"/>
          <p:cNvSpPr txBox="1"/>
          <p:nvPr>
            <p:ph idx="1" type="body"/>
          </p:nvPr>
        </p:nvSpPr>
        <p:spPr>
          <a:xfrm>
            <a:off x="848525" y="1519026"/>
            <a:ext cx="7607700" cy="1495200"/>
          </a:xfrm>
          <a:prstGeom prst="rect">
            <a:avLst/>
          </a:prstGeom>
          <a:noFill/>
          <a:ln>
            <a:noFill/>
          </a:ln>
        </p:spPr>
        <p:txBody>
          <a:bodyPr anchorCtr="0" anchor="ctr" bIns="34275" lIns="68575" spcFirstLastPara="1" rIns="68575" wrap="square" tIns="34275">
            <a:normAutofit/>
          </a:bodyPr>
          <a:lstStyle/>
          <a:p>
            <a:pPr indent="-190500" lvl="0" marL="177800" rtl="0" algn="l">
              <a:lnSpc>
                <a:spcPct val="90000"/>
              </a:lnSpc>
              <a:spcBef>
                <a:spcPts val="0"/>
              </a:spcBef>
              <a:spcAft>
                <a:spcPts val="0"/>
              </a:spcAft>
              <a:buClr>
                <a:schemeClr val="dk1"/>
              </a:buClr>
              <a:buSzPts val="2000"/>
              <a:buChar char="•"/>
            </a:pPr>
            <a:r>
              <a:rPr lang="en" sz="2000"/>
              <a:t>Numerous Syntax Errors</a:t>
            </a:r>
            <a:endParaRPr sz="2000"/>
          </a:p>
          <a:p>
            <a:pPr indent="-190500" lvl="0" marL="177800" rtl="0" algn="l">
              <a:lnSpc>
                <a:spcPct val="90000"/>
              </a:lnSpc>
              <a:spcBef>
                <a:spcPts val="800"/>
              </a:spcBef>
              <a:spcAft>
                <a:spcPts val="0"/>
              </a:spcAft>
              <a:buClr>
                <a:schemeClr val="dk1"/>
              </a:buClr>
              <a:buSzPts val="2000"/>
              <a:buChar char="•"/>
            </a:pPr>
            <a:r>
              <a:rPr lang="en" sz="2000"/>
              <a:t>Verification after generating the verilog</a:t>
            </a:r>
            <a:endParaRPr sz="2000"/>
          </a:p>
          <a:p>
            <a:pPr indent="-190500" lvl="0" marL="177800" rtl="0" algn="l">
              <a:lnSpc>
                <a:spcPct val="90000"/>
              </a:lnSpc>
              <a:spcBef>
                <a:spcPts val="800"/>
              </a:spcBef>
              <a:spcAft>
                <a:spcPts val="0"/>
              </a:spcAft>
              <a:buClr>
                <a:schemeClr val="dk1"/>
              </a:buClr>
              <a:buSzPts val="2000"/>
              <a:buChar char="•"/>
            </a:pPr>
            <a:r>
              <a:rPr lang="en" sz="2000"/>
              <a:t>Involves human intervention for testing</a:t>
            </a:r>
            <a:endParaRPr sz="2000"/>
          </a:p>
        </p:txBody>
      </p:sp>
      <p:pic>
        <p:nvPicPr>
          <p:cNvPr descr="A purple and white sign with white letters" id="313" name="Google Shape;313;p47"/>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sp>
        <p:nvSpPr>
          <p:cNvPr id="318" name="Google Shape;318;p48"/>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19" name="Google Shape;319;p48"/>
          <p:cNvSpPr txBox="1"/>
          <p:nvPr>
            <p:ph type="title"/>
          </p:nvPr>
        </p:nvSpPr>
        <p:spPr>
          <a:xfrm>
            <a:off x="13000" y="-52101"/>
            <a:ext cx="7685100" cy="5730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Play"/>
              <a:buNone/>
            </a:pPr>
            <a:r>
              <a:rPr lang="en" sz="3000">
                <a:solidFill>
                  <a:schemeClr val="dk1"/>
                </a:solidFill>
                <a:latin typeface="Calibri"/>
                <a:ea typeface="Calibri"/>
                <a:cs typeface="Calibri"/>
                <a:sym typeface="Calibri"/>
              </a:rPr>
              <a:t>Case 1: CNF Gen</a:t>
            </a:r>
            <a:r>
              <a:rPr lang="en" sz="3000">
                <a:latin typeface="Calibri"/>
                <a:ea typeface="Calibri"/>
                <a:cs typeface="Calibri"/>
                <a:sym typeface="Calibri"/>
              </a:rPr>
              <a:t>eration</a:t>
            </a:r>
            <a:r>
              <a:rPr lang="en" sz="3000">
                <a:solidFill>
                  <a:schemeClr val="dk1"/>
                </a:solidFill>
                <a:latin typeface="Calibri"/>
                <a:ea typeface="Calibri"/>
                <a:cs typeface="Calibri"/>
                <a:sym typeface="Calibri"/>
              </a:rPr>
              <a:t> </a:t>
            </a:r>
            <a:r>
              <a:rPr lang="en" sz="3000">
                <a:latin typeface="Calibri"/>
                <a:ea typeface="Calibri"/>
                <a:cs typeface="Calibri"/>
                <a:sym typeface="Calibri"/>
              </a:rPr>
              <a:t>by</a:t>
            </a:r>
            <a:r>
              <a:rPr lang="en" sz="3000">
                <a:solidFill>
                  <a:schemeClr val="dk1"/>
                </a:solidFill>
                <a:latin typeface="Calibri"/>
                <a:ea typeface="Calibri"/>
                <a:cs typeface="Calibri"/>
                <a:sym typeface="Calibri"/>
              </a:rPr>
              <a:t> </a:t>
            </a:r>
            <a:r>
              <a:rPr lang="en" sz="3000">
                <a:latin typeface="Calibri"/>
                <a:ea typeface="Calibri"/>
                <a:cs typeface="Calibri"/>
                <a:sym typeface="Calibri"/>
              </a:rPr>
              <a:t>B</a:t>
            </a:r>
            <a:r>
              <a:rPr lang="en" sz="3000">
                <a:solidFill>
                  <a:schemeClr val="dk1"/>
                </a:solidFill>
                <a:latin typeface="Calibri"/>
                <a:ea typeface="Calibri"/>
                <a:cs typeface="Calibri"/>
                <a:sym typeface="Calibri"/>
              </a:rPr>
              <a:t>ase </a:t>
            </a:r>
            <a:r>
              <a:rPr lang="en" sz="3000">
                <a:latin typeface="Calibri"/>
                <a:ea typeface="Calibri"/>
                <a:cs typeface="Calibri"/>
                <a:sym typeface="Calibri"/>
              </a:rPr>
              <a:t>M</a:t>
            </a:r>
            <a:r>
              <a:rPr lang="en" sz="3000">
                <a:solidFill>
                  <a:schemeClr val="dk1"/>
                </a:solidFill>
                <a:latin typeface="Calibri"/>
                <a:ea typeface="Calibri"/>
                <a:cs typeface="Calibri"/>
                <a:sym typeface="Calibri"/>
              </a:rPr>
              <a:t>odels</a:t>
            </a:r>
            <a:endParaRPr sz="3000">
              <a:latin typeface="Calibri"/>
              <a:ea typeface="Calibri"/>
              <a:cs typeface="Calibri"/>
              <a:sym typeface="Calibri"/>
            </a:endParaRPr>
          </a:p>
        </p:txBody>
      </p:sp>
      <p:pic>
        <p:nvPicPr>
          <p:cNvPr id="320" name="Google Shape;320;p48"/>
          <p:cNvPicPr preferRelativeResize="0"/>
          <p:nvPr>
            <p:ph idx="1" type="body"/>
          </p:nvPr>
        </p:nvPicPr>
        <p:blipFill rotWithShape="1">
          <a:blip r:embed="rId3">
            <a:alphaModFix/>
          </a:blip>
          <a:srcRect b="0" l="0" r="0" t="0"/>
          <a:stretch/>
        </p:blipFill>
        <p:spPr>
          <a:xfrm>
            <a:off x="174450" y="885750"/>
            <a:ext cx="8877300" cy="3905700"/>
          </a:xfrm>
          <a:prstGeom prst="rect">
            <a:avLst/>
          </a:prstGeom>
          <a:noFill/>
          <a:ln>
            <a:noFill/>
          </a:ln>
        </p:spPr>
      </p:pic>
      <p:pic>
        <p:nvPicPr>
          <p:cNvPr descr="A purple and white sign with white letters" id="321" name="Google Shape;321;p48"/>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49"/>
          <p:cNvSpPr txBox="1"/>
          <p:nvPr>
            <p:ph type="title"/>
          </p:nvPr>
        </p:nvSpPr>
        <p:spPr>
          <a:xfrm>
            <a:off x="13000" y="-52101"/>
            <a:ext cx="7685100" cy="5730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Play"/>
              <a:buNone/>
            </a:pPr>
            <a:r>
              <a:rPr lang="en" sz="3000">
                <a:latin typeface="Calibri"/>
                <a:ea typeface="Calibri"/>
                <a:cs typeface="Calibri"/>
                <a:sym typeface="Calibri"/>
              </a:rPr>
              <a:t>Leveraging The Thinking Power of LLMs</a:t>
            </a:r>
            <a:endParaRPr sz="3000">
              <a:latin typeface="Calibri"/>
              <a:ea typeface="Calibri"/>
              <a:cs typeface="Calibri"/>
              <a:sym typeface="Calibri"/>
            </a:endParaRPr>
          </a:p>
        </p:txBody>
      </p:sp>
      <p:pic>
        <p:nvPicPr>
          <p:cNvPr descr="A purple and white sign with white letters" id="327" name="Google Shape;327;p49"/>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pic>
        <p:nvPicPr>
          <p:cNvPr descr="A purple and white sign with white letters" id="328" name="Google Shape;328;p49"/>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329" name="Google Shape;329;p49"/>
          <p:cNvSpPr txBox="1"/>
          <p:nvPr/>
        </p:nvSpPr>
        <p:spPr>
          <a:xfrm>
            <a:off x="123275" y="1187835"/>
            <a:ext cx="8981700" cy="2253300"/>
          </a:xfrm>
          <a:prstGeom prst="rect">
            <a:avLst/>
          </a:prstGeom>
          <a:noFill/>
          <a:ln>
            <a:noFill/>
          </a:ln>
        </p:spPr>
        <p:txBody>
          <a:bodyPr anchorCtr="0" anchor="t" bIns="91425" lIns="91425" spcFirstLastPara="1" rIns="91425" wrap="square" tIns="91425">
            <a:spAutoFit/>
          </a:bodyPr>
          <a:lstStyle/>
          <a:p>
            <a:pPr indent="-381000" lvl="0" marL="457200" rtl="0" algn="just">
              <a:lnSpc>
                <a:spcPct val="115000"/>
              </a:lnSpc>
              <a:spcBef>
                <a:spcPts val="1200"/>
              </a:spcBef>
              <a:spcAft>
                <a:spcPts val="0"/>
              </a:spcAft>
              <a:buClr>
                <a:schemeClr val="dk1"/>
              </a:buClr>
              <a:buSzPts val="2400"/>
              <a:buFont typeface="Calibri"/>
              <a:buChar char="●"/>
            </a:pPr>
            <a:r>
              <a:rPr lang="en" sz="2400">
                <a:solidFill>
                  <a:schemeClr val="dk1"/>
                </a:solidFill>
                <a:latin typeface="Calibri"/>
                <a:ea typeface="Calibri"/>
                <a:cs typeface="Calibri"/>
                <a:sym typeface="Calibri"/>
              </a:rPr>
              <a:t>Thinking models can process large contexts and identify repeating patterns. They build on concepts when given a few examples.</a:t>
            </a:r>
            <a:endParaRPr sz="2400">
              <a:solidFill>
                <a:schemeClr val="dk1"/>
              </a:solidFill>
              <a:latin typeface="Calibri"/>
              <a:ea typeface="Calibri"/>
              <a:cs typeface="Calibri"/>
              <a:sym typeface="Calibri"/>
            </a:endParaRPr>
          </a:p>
          <a:p>
            <a:pPr indent="-381000" lvl="0" marL="457200" marR="0" rtl="0" algn="just">
              <a:lnSpc>
                <a:spcPct val="115000"/>
              </a:lnSpc>
              <a:spcBef>
                <a:spcPts val="0"/>
              </a:spcBef>
              <a:spcAft>
                <a:spcPts val="0"/>
              </a:spcAft>
              <a:buClr>
                <a:schemeClr val="dk1"/>
              </a:buClr>
              <a:buSzPts val="2400"/>
              <a:buFont typeface="Calibri"/>
              <a:buChar char="●"/>
            </a:pPr>
            <a:r>
              <a:rPr b="1" lang="en" sz="2400">
                <a:solidFill>
                  <a:schemeClr val="dk1"/>
                </a:solidFill>
                <a:latin typeface="Calibri"/>
                <a:ea typeface="Calibri"/>
                <a:cs typeface="Calibri"/>
                <a:sym typeface="Calibri"/>
              </a:rPr>
              <a:t>I</a:t>
            </a:r>
            <a:r>
              <a:rPr b="1" lang="en" sz="2400">
                <a:solidFill>
                  <a:schemeClr val="dk1"/>
                </a:solidFill>
                <a:latin typeface="Calibri"/>
                <a:ea typeface="Calibri"/>
                <a:cs typeface="Calibri"/>
                <a:sym typeface="Calibri"/>
              </a:rPr>
              <a:t>ncremental prompting</a:t>
            </a:r>
            <a:r>
              <a:rPr lang="en" sz="2400">
                <a:solidFill>
                  <a:schemeClr val="dk1"/>
                </a:solidFill>
                <a:latin typeface="Calibri"/>
                <a:ea typeface="Calibri"/>
                <a:cs typeface="Calibri"/>
                <a:sym typeface="Calibri"/>
              </a:rPr>
              <a:t>: </a:t>
            </a:r>
            <a:r>
              <a:rPr lang="en" sz="2400">
                <a:solidFill>
                  <a:schemeClr val="dk1"/>
                </a:solidFill>
                <a:latin typeface="Calibri"/>
                <a:ea typeface="Calibri"/>
                <a:cs typeface="Calibri"/>
                <a:sym typeface="Calibri"/>
              </a:rPr>
              <a:t>Construct large designs incrementally. Provide smaller examples of the same design→ allows model to scale up.</a:t>
            </a:r>
            <a:endParaRPr sz="24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0"/>
          <p:cNvSpPr txBox="1"/>
          <p:nvPr>
            <p:ph type="title"/>
          </p:nvPr>
        </p:nvSpPr>
        <p:spPr>
          <a:xfrm>
            <a:off x="0" y="0"/>
            <a:ext cx="7886700" cy="639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I</a:t>
            </a:r>
            <a:r>
              <a:rPr lang="en" sz="3000">
                <a:latin typeface="Arial"/>
                <a:ea typeface="Arial"/>
                <a:cs typeface="Arial"/>
                <a:sym typeface="Arial"/>
              </a:rPr>
              <a:t>ncremental Prompting</a:t>
            </a:r>
            <a:endParaRPr sz="3000">
              <a:latin typeface="Arial"/>
              <a:ea typeface="Arial"/>
              <a:cs typeface="Arial"/>
              <a:sym typeface="Arial"/>
            </a:endParaRPr>
          </a:p>
        </p:txBody>
      </p:sp>
      <p:sp>
        <p:nvSpPr>
          <p:cNvPr id="335" name="Google Shape;335;p5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336" name="Google Shape;336;p50"/>
          <p:cNvPicPr preferRelativeResize="0"/>
          <p:nvPr/>
        </p:nvPicPr>
        <p:blipFill>
          <a:blip r:embed="rId3">
            <a:alphaModFix/>
          </a:blip>
          <a:stretch>
            <a:fillRect/>
          </a:stretch>
        </p:blipFill>
        <p:spPr>
          <a:xfrm>
            <a:off x="82175" y="818478"/>
            <a:ext cx="9022750" cy="4325023"/>
          </a:xfrm>
          <a:prstGeom prst="rect">
            <a:avLst/>
          </a:prstGeom>
          <a:noFill/>
          <a:ln>
            <a:noFill/>
          </a:ln>
        </p:spPr>
      </p:pic>
      <p:pic>
        <p:nvPicPr>
          <p:cNvPr descr="A purple and white sign with white letters" id="337" name="Google Shape;337;p50"/>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type="title"/>
          </p:nvPr>
        </p:nvSpPr>
        <p:spPr>
          <a:xfrm>
            <a:off x="0" y="0"/>
            <a:ext cx="7886700" cy="5856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Incremental Prompting to Generating Circuits</a:t>
            </a:r>
            <a:endParaRPr sz="3000"/>
          </a:p>
        </p:txBody>
      </p:sp>
      <p:sp>
        <p:nvSpPr>
          <p:cNvPr id="343" name="Google Shape;343;p51"/>
          <p:cNvSpPr txBox="1"/>
          <p:nvPr>
            <p:ph idx="1" type="body"/>
          </p:nvPr>
        </p:nvSpPr>
        <p:spPr>
          <a:xfrm>
            <a:off x="0" y="883884"/>
            <a:ext cx="9104700" cy="3684600"/>
          </a:xfrm>
          <a:prstGeom prst="rect">
            <a:avLst/>
          </a:prstGeom>
        </p:spPr>
        <p:txBody>
          <a:bodyPr anchorCtr="0" anchor="t" bIns="34275" lIns="68575" spcFirstLastPara="1" rIns="68575" wrap="square" tIns="34275">
            <a:normAutofit lnSpcReduction="20000"/>
          </a:bodyPr>
          <a:lstStyle/>
          <a:p>
            <a:pPr indent="0" lvl="0" marL="0" rtl="0" algn="l">
              <a:spcBef>
                <a:spcPts val="1000"/>
              </a:spcBef>
              <a:spcAft>
                <a:spcPts val="0"/>
              </a:spcAft>
              <a:buClr>
                <a:schemeClr val="dk1"/>
              </a:buClr>
              <a:buSzPts val="1100"/>
              <a:buFont typeface="Arial"/>
              <a:buNone/>
            </a:pPr>
            <a:r>
              <a:rPr lang="en" sz="2800"/>
              <a:t>Step – 1: Base Prompting</a:t>
            </a:r>
            <a:endParaRPr sz="2800"/>
          </a:p>
          <a:p>
            <a:pPr indent="0" lvl="0" marL="0" rtl="0" algn="l">
              <a:spcBef>
                <a:spcPts val="1000"/>
              </a:spcBef>
              <a:spcAft>
                <a:spcPts val="0"/>
              </a:spcAft>
              <a:buClr>
                <a:schemeClr val="dk1"/>
              </a:buClr>
              <a:buSzPts val="1100"/>
              <a:buFont typeface="Arial"/>
              <a:buNone/>
            </a:pPr>
            <a:r>
              <a:rPr lang="en" sz="2000">
                <a:solidFill>
                  <a:srgbClr val="BA2121"/>
                </a:solidFill>
              </a:rPr>
              <a:t>Give me the CNF (conjunctive normal form) equation for a 1-bit full adder. Assume inputs A, B, Cin and outputs S (sum) and Cout (carry-out). Use ∧ for AND, ∨ for OR, and ! for NOT while giving the CNF equation. Just return the equations for S and Cout</a:t>
            </a:r>
            <a:endParaRPr sz="2000">
              <a:solidFill>
                <a:srgbClr val="BA2121"/>
              </a:solidFill>
            </a:endParaRPr>
          </a:p>
          <a:p>
            <a:pPr indent="0" lvl="0" marL="0" rtl="0" algn="l">
              <a:spcBef>
                <a:spcPts val="1000"/>
              </a:spcBef>
              <a:spcAft>
                <a:spcPts val="0"/>
              </a:spcAft>
              <a:buClr>
                <a:schemeClr val="dk1"/>
              </a:buClr>
              <a:buSzPts val="1100"/>
              <a:buFont typeface="Arial"/>
              <a:buNone/>
            </a:pPr>
            <a:r>
              <a:rPr lang="en" sz="2000">
                <a:solidFill>
                  <a:srgbClr val="BA2121"/>
                </a:solidFill>
              </a:rPr>
              <a:t>Response:</a:t>
            </a:r>
            <a:endParaRPr sz="2000">
              <a:solidFill>
                <a:srgbClr val="BA2121"/>
              </a:solidFill>
            </a:endParaRPr>
          </a:p>
          <a:p>
            <a:pPr indent="0" lvl="0" marL="0" rtl="0" algn="l">
              <a:spcBef>
                <a:spcPts val="1000"/>
              </a:spcBef>
              <a:spcAft>
                <a:spcPts val="0"/>
              </a:spcAft>
              <a:buClr>
                <a:schemeClr val="dk1"/>
              </a:buClr>
              <a:buSzPts val="1100"/>
              <a:buFont typeface="Arial"/>
              <a:buNone/>
            </a:pPr>
            <a:r>
              <a:rPr lang="en" sz="2000">
                <a:solidFill>
                  <a:srgbClr val="196B24"/>
                </a:solidFill>
              </a:rPr>
              <a:t>S = (!A ∨ B ∨ Cin ∨ S) ∧ (A ∨ !B ∨ Cin ∨ S) ∧ (A ∨ B ∨ !Cin ∨ S) ∧ (!A ∨ !B ∨ !Cin ∨ S) ∧ (A ∨ B ∨ Cin ∨ !S) ∧ (!A ∨ !B ∨ Cin ∨ !S) ∧ (!A ∨ B ∨ !Cin ∨ !S) ∧ (A ∨ !B ∨ !Cin ∨ !S)</a:t>
            </a:r>
            <a:endParaRPr sz="2000">
              <a:solidFill>
                <a:srgbClr val="196B24"/>
              </a:solidFill>
            </a:endParaRPr>
          </a:p>
          <a:p>
            <a:pPr indent="0" lvl="0" marL="0" rtl="0" algn="l">
              <a:spcBef>
                <a:spcPts val="1000"/>
              </a:spcBef>
              <a:spcAft>
                <a:spcPts val="0"/>
              </a:spcAft>
              <a:buClr>
                <a:schemeClr val="dk1"/>
              </a:buClr>
              <a:buSzPts val="1100"/>
              <a:buFont typeface="Arial"/>
              <a:buNone/>
            </a:pPr>
            <a:r>
              <a:rPr lang="en" sz="2000">
                <a:solidFill>
                  <a:srgbClr val="196B24"/>
                </a:solidFill>
              </a:rPr>
              <a:t>Cout = (!A ∨ !B ∨ Cin ∨ Cout) ∧ (!A ∨ B ∨ !Cin ∨ Cout) ∧ (A ∨ !B ∨ !Cin ∨ Cout) ∧ (!A ∨ !B ∨ !Cin ∨ Cout) ∧ (A ∨ B ∨ Cin ∨ !Cout) ∧ (!A ∨ B ∨ Cin ∨ !Cout) ∧ (A ∨ !B ∨ Cin ∨ !Cout) ∧ (A ∨ B ∨ !Cin ∨ !Cout)</a:t>
            </a:r>
            <a:endParaRPr/>
          </a:p>
        </p:txBody>
      </p:sp>
      <p:pic>
        <p:nvPicPr>
          <p:cNvPr descr="A purple and white sign with white letters" id="344" name="Google Shape;344;p51"/>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2"/>
          <p:cNvSpPr txBox="1"/>
          <p:nvPr>
            <p:ph type="title"/>
          </p:nvPr>
        </p:nvSpPr>
        <p:spPr>
          <a:xfrm>
            <a:off x="0" y="26048"/>
            <a:ext cx="7886700" cy="7086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Incremental Prompting to Generate Circuits</a:t>
            </a:r>
            <a:endParaRPr sz="3000"/>
          </a:p>
        </p:txBody>
      </p:sp>
      <p:sp>
        <p:nvSpPr>
          <p:cNvPr id="350" name="Google Shape;350;p52"/>
          <p:cNvSpPr txBox="1"/>
          <p:nvPr>
            <p:ph idx="1" type="body"/>
          </p:nvPr>
        </p:nvSpPr>
        <p:spPr>
          <a:xfrm>
            <a:off x="30900" y="722960"/>
            <a:ext cx="9250800" cy="4186800"/>
          </a:xfrm>
          <a:prstGeom prst="rect">
            <a:avLst/>
          </a:prstGeom>
        </p:spPr>
        <p:txBody>
          <a:bodyPr anchorCtr="0" anchor="t" bIns="34275" lIns="68575" spcFirstLastPara="1" rIns="68575" wrap="square" tIns="34275">
            <a:normAutofit lnSpcReduction="20000"/>
          </a:bodyPr>
          <a:lstStyle/>
          <a:p>
            <a:pPr indent="0" lvl="0" marL="0" rtl="0" algn="l">
              <a:spcBef>
                <a:spcPts val="1000"/>
              </a:spcBef>
              <a:spcAft>
                <a:spcPts val="0"/>
              </a:spcAft>
              <a:buClr>
                <a:schemeClr val="dk1"/>
              </a:buClr>
              <a:buSzPts val="1100"/>
              <a:buFont typeface="Arial"/>
              <a:buNone/>
            </a:pPr>
            <a:r>
              <a:rPr lang="en" sz="2400"/>
              <a:t>Step–2 Teaching Prompting:</a:t>
            </a:r>
            <a:endParaRPr sz="2400"/>
          </a:p>
          <a:p>
            <a:pPr indent="0" lvl="0" marL="0" rtl="0" algn="l">
              <a:spcBef>
                <a:spcPts val="1000"/>
              </a:spcBef>
              <a:spcAft>
                <a:spcPts val="0"/>
              </a:spcAft>
              <a:buClr>
                <a:schemeClr val="dk1"/>
              </a:buClr>
              <a:buSzPts val="1100"/>
              <a:buFont typeface="Arial"/>
              <a:buNone/>
            </a:pPr>
            <a:r>
              <a:rPr lang="en" sz="2400">
                <a:solidFill>
                  <a:srgbClr val="BA2121"/>
                </a:solidFill>
                <a:latin typeface="Calibri"/>
                <a:ea typeface="Calibri"/>
                <a:cs typeface="Calibri"/>
                <a:sym typeface="Calibri"/>
              </a:rPr>
              <a:t>Using the CNF equation for a 1-bit adder, construct a 2-bit adder. Equation of 1-bit adder is : “+base prompt response+". Just return the CNF equations.</a:t>
            </a:r>
            <a:endParaRPr sz="2400">
              <a:solidFill>
                <a:srgbClr val="BA2121"/>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lang="en" sz="2400">
                <a:solidFill>
                  <a:srgbClr val="6AA84F"/>
                </a:solidFill>
                <a:latin typeface="Calibri"/>
                <a:ea typeface="Calibri"/>
                <a:cs typeface="Calibri"/>
                <a:sym typeface="Calibri"/>
              </a:rPr>
              <a:t>Response:</a:t>
            </a:r>
            <a:endParaRPr sz="2400">
              <a:solidFill>
                <a:srgbClr val="6AA84F"/>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lang="en" sz="1600">
                <a:solidFill>
                  <a:srgbClr val="196B24"/>
                </a:solidFill>
              </a:rPr>
              <a:t>S0 =</a:t>
            </a:r>
            <a:r>
              <a:rPr lang="en" sz="1600">
                <a:solidFill>
                  <a:srgbClr val="BA2121"/>
                </a:solidFill>
              </a:rPr>
              <a:t> </a:t>
            </a:r>
            <a:r>
              <a:rPr lang="en" sz="1600">
                <a:solidFill>
                  <a:srgbClr val="196B24"/>
                </a:solidFill>
              </a:rPr>
              <a:t>(!A0 ∨ B0 ∨ Cin ∨ S0) ∧ (A0 ∨ !B0 ∨ Cin ∨ S0) ∧ (A0 ∨ B0 ∨ !Cin ∨ S0) ∧ (!A0 ∨ !B0 ∨ !Cin ∨ S0) ∧ (A0 ∨ B0 ∨ Cin ∨ !S0) ∧ (!A0 ∨ !B0 ∨ Cin ∨ !S0) ∧(!A0 ∨ B0 ∨ !Cin ∨ !S0) ∧ (A0 ∨ !B0 ∨ !Cin ∨ !S0)</a:t>
            </a:r>
            <a:endParaRPr sz="1600">
              <a:solidFill>
                <a:srgbClr val="196B24"/>
              </a:solidFill>
            </a:endParaRPr>
          </a:p>
          <a:p>
            <a:pPr indent="0" lvl="0" marL="0" rtl="0" algn="l">
              <a:spcBef>
                <a:spcPts val="1000"/>
              </a:spcBef>
              <a:spcAft>
                <a:spcPts val="0"/>
              </a:spcAft>
              <a:buClr>
                <a:schemeClr val="dk1"/>
              </a:buClr>
              <a:buSzPts val="1100"/>
              <a:buFont typeface="Arial"/>
              <a:buNone/>
            </a:pPr>
            <a:r>
              <a:rPr lang="en" sz="1600">
                <a:solidFill>
                  <a:srgbClr val="196B24"/>
                </a:solidFill>
              </a:rPr>
              <a:t>C1 =(!A0 ∨ !B0 ∨ Cin ∨ C1) ∧ (!A0 ∨ B0 ∨ !Cin ∨ C1) ∧ (A0 ∨ !B0 ∨ !Cin ∨ C1) ∧ (!A0 ∨ !B0 ∨ !Cin ∨ C1) ∧ (A0 ∨ B0 ∨ Cin ∨ !C1) ∧ (!A0 ∨ B0 ∨ Cin ∨ !C1) ∧(A0 ∨ !B0 ∨ Cin ∨ !C1)∧(A0 ∨ B0 ∨ !Cin ∨ !C1)</a:t>
            </a:r>
            <a:endParaRPr sz="1600">
              <a:solidFill>
                <a:srgbClr val="196B24"/>
              </a:solidFill>
            </a:endParaRPr>
          </a:p>
          <a:p>
            <a:pPr indent="0" lvl="0" marL="0" rtl="0" algn="l">
              <a:spcBef>
                <a:spcPts val="1000"/>
              </a:spcBef>
              <a:spcAft>
                <a:spcPts val="0"/>
              </a:spcAft>
              <a:buClr>
                <a:schemeClr val="dk1"/>
              </a:buClr>
              <a:buSzPts val="1100"/>
              <a:buFont typeface="Arial"/>
              <a:buNone/>
            </a:pPr>
            <a:r>
              <a:rPr lang="en" sz="1600">
                <a:solidFill>
                  <a:srgbClr val="196B24"/>
                </a:solidFill>
              </a:rPr>
              <a:t>S1=(!A1 ∨ B1 ∨ C1 ∨ S1) ∧ (A1 ∨ !B1 ∨ C1 ∨ S1) ∧ (A1 ∨ B1 ∨ !C1 ∨ S1) ∧ (!A1 ∨ !B1 ∨ !C1 ∨ S1) ∧ (A1 ∨ B1 ∨ C1 ∨ !S1) ∧ (!A1 ∨ !B1 ∨ C1 ∨ !S1) ∧ (!A1 ∨ B1 ∨ !C1 ∨ !S1) ∧ (A1 ∨ !B1 ∨ !C1 ∨ !S1)</a:t>
            </a:r>
            <a:endParaRPr sz="1600">
              <a:solidFill>
                <a:srgbClr val="196B24"/>
              </a:solidFill>
            </a:endParaRPr>
          </a:p>
          <a:p>
            <a:pPr indent="0" lvl="0" marL="0" rtl="0" algn="l">
              <a:spcBef>
                <a:spcPts val="1000"/>
              </a:spcBef>
              <a:spcAft>
                <a:spcPts val="0"/>
              </a:spcAft>
              <a:buClr>
                <a:schemeClr val="dk1"/>
              </a:buClr>
              <a:buSzPts val="1100"/>
              <a:buFont typeface="Arial"/>
              <a:buNone/>
            </a:pPr>
            <a:r>
              <a:rPr lang="en" sz="1600">
                <a:solidFill>
                  <a:srgbClr val="196B24"/>
                </a:solidFill>
              </a:rPr>
              <a:t>Cout=(!A1 ∨ !B1 ∨ C1 ∨ Cout) ∧ (!A1∨B1∨!C1∨Cout)∧(A1∨!B1 ∨!C1 ∨Cout) ∧ (!A1∨!B1 ∨ !C1 ∨ Cout) ∧ (A1∨B1∨C1∨!Cout) ∧ (!A1∨B1∨C1∨!Cout)∧(A1∨!B1∨C1∨!Cout)∧(A1 ∨ B1 ∨ !C1 ∨ !Cout)</a:t>
            </a:r>
            <a:endParaRPr/>
          </a:p>
        </p:txBody>
      </p:sp>
      <p:pic>
        <p:nvPicPr>
          <p:cNvPr descr="A purple and white sign with white letters" id="351" name="Google Shape;351;p52"/>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3"/>
          <p:cNvSpPr txBox="1"/>
          <p:nvPr>
            <p:ph type="title"/>
          </p:nvPr>
        </p:nvSpPr>
        <p:spPr>
          <a:xfrm>
            <a:off x="0" y="-2"/>
            <a:ext cx="7886700" cy="6603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3000">
                <a:latin typeface="Arial"/>
                <a:ea typeface="Arial"/>
                <a:cs typeface="Arial"/>
                <a:sym typeface="Arial"/>
              </a:rPr>
              <a:t>Incremental Prompting to Generate Circuits</a:t>
            </a:r>
            <a:endParaRPr sz="3000"/>
          </a:p>
        </p:txBody>
      </p:sp>
      <p:sp>
        <p:nvSpPr>
          <p:cNvPr id="357" name="Google Shape;357;p53"/>
          <p:cNvSpPr txBox="1"/>
          <p:nvPr>
            <p:ph idx="1" type="body"/>
          </p:nvPr>
        </p:nvSpPr>
        <p:spPr>
          <a:xfrm>
            <a:off x="0" y="994200"/>
            <a:ext cx="9018000" cy="4106700"/>
          </a:xfrm>
          <a:prstGeom prst="rect">
            <a:avLst/>
          </a:prstGeom>
        </p:spPr>
        <p:txBody>
          <a:bodyPr anchorCtr="0" anchor="t" bIns="34275" lIns="68575" spcFirstLastPara="1" rIns="68575" wrap="square" tIns="34275">
            <a:normAutofit lnSpcReduction="20000"/>
          </a:bodyPr>
          <a:lstStyle/>
          <a:p>
            <a:pPr indent="0" lvl="0" marL="0" rtl="0" algn="l">
              <a:spcBef>
                <a:spcPts val="1000"/>
              </a:spcBef>
              <a:spcAft>
                <a:spcPts val="0"/>
              </a:spcAft>
              <a:buClr>
                <a:schemeClr val="dk1"/>
              </a:buClr>
              <a:buSzPts val="1100"/>
              <a:buFont typeface="Arial"/>
              <a:buNone/>
            </a:pPr>
            <a:r>
              <a:rPr lang="en" sz="2800"/>
              <a:t>•Step – 3: Final Prompting:</a:t>
            </a:r>
            <a:endParaRPr sz="2800"/>
          </a:p>
          <a:p>
            <a:pPr indent="0" lvl="0" marL="0" rtl="0" algn="l">
              <a:spcBef>
                <a:spcPts val="1000"/>
              </a:spcBef>
              <a:spcAft>
                <a:spcPts val="0"/>
              </a:spcAft>
              <a:buClr>
                <a:schemeClr val="dk1"/>
              </a:buClr>
              <a:buSzPts val="1100"/>
              <a:buFont typeface="Arial"/>
              <a:buNone/>
            </a:pPr>
            <a:r>
              <a:rPr lang="en" sz="2000">
                <a:solidFill>
                  <a:srgbClr val="BA2121"/>
                </a:solidFill>
              </a:rPr>
              <a:t>Using CNF equation for a 1-bit adder: "+base prompt response+" and the equation of a 2-bit adder: "+teaching prompt response+". Construct a "+n-bit+" adder. Just return the CNF equations  as &lt;output&gt; = &lt;CNF equation&gt;.</a:t>
            </a:r>
            <a:endParaRPr sz="2000">
              <a:solidFill>
                <a:srgbClr val="BA2121"/>
              </a:solidFill>
            </a:endParaRPr>
          </a:p>
          <a:p>
            <a:pPr indent="0" lvl="0" marL="0" rtl="0" algn="l">
              <a:spcBef>
                <a:spcPts val="1000"/>
              </a:spcBef>
              <a:spcAft>
                <a:spcPts val="0"/>
              </a:spcAft>
              <a:buClr>
                <a:schemeClr val="dk1"/>
              </a:buClr>
              <a:buSzPts val="1100"/>
              <a:buFont typeface="Arial"/>
              <a:buNone/>
            </a:pPr>
            <a:r>
              <a:rPr lang="en" sz="1600">
                <a:solidFill>
                  <a:srgbClr val="BA2121"/>
                </a:solidFill>
              </a:rPr>
              <a:t>Response:</a:t>
            </a:r>
            <a:endParaRPr sz="1600">
              <a:solidFill>
                <a:srgbClr val="BA2121"/>
              </a:solidFill>
            </a:endParaRPr>
          </a:p>
          <a:p>
            <a:pPr indent="0" lvl="0" marL="0" rtl="0" algn="l">
              <a:spcBef>
                <a:spcPts val="1000"/>
              </a:spcBef>
              <a:spcAft>
                <a:spcPts val="0"/>
              </a:spcAft>
              <a:buClr>
                <a:schemeClr val="dk1"/>
              </a:buClr>
              <a:buSzPts val="1100"/>
              <a:buFont typeface="Arial"/>
              <a:buNone/>
            </a:pPr>
            <a:r>
              <a:rPr lang="en" sz="1400">
                <a:solidFill>
                  <a:srgbClr val="196B24"/>
                </a:solidFill>
              </a:rPr>
              <a:t>S0 = (!A0 ∨ B0 ∨ Cin ∨ S0) ∧ (A0 ∨ !B0 ∨ Cin ∨ S0) ∧ (A0 ∨ B0 ∨ !Cin ∨ S0) ∧(!A0 ∨ !B0 ∨ !Cin ∨ S0) ∧ (A0 ∨ B0 ∨ Cin ∨ !S0) ∧ (!A0 ∨ !B0 ∨ Cin ∨ !S0) ∧(!A0 ∨ B0 ∨ !Cin ∨ !S0) ∧ (A0 ∨ !B0 ∨ !Cin ∨ !S0)</a:t>
            </a:r>
            <a:endParaRPr sz="1400">
              <a:solidFill>
                <a:srgbClr val="196B24"/>
              </a:solidFill>
            </a:endParaRPr>
          </a:p>
          <a:p>
            <a:pPr indent="0" lvl="0" marL="0" rtl="0" algn="l">
              <a:spcBef>
                <a:spcPts val="1000"/>
              </a:spcBef>
              <a:spcAft>
                <a:spcPts val="0"/>
              </a:spcAft>
              <a:buClr>
                <a:schemeClr val="dk1"/>
              </a:buClr>
              <a:buSzPts val="1100"/>
              <a:buFont typeface="Arial"/>
              <a:buNone/>
            </a:pPr>
            <a:r>
              <a:rPr lang="en" sz="1400">
                <a:solidFill>
                  <a:srgbClr val="196B24"/>
                </a:solidFill>
              </a:rPr>
              <a:t>C1 = (!A0 ∨ !B0 ∨ Cin ∨ C1) ∧ (!A0 ∨ B0 ∨ !Cin ∨ C1) ∧ (A0 ∨ !B0 ∨ !Cin ∨ C1) ∧ (!A0 ∨ !B0 ∨ !Cin ∨ C1) ∧ (A0 ∨ B0 ∨ Cin ∨ !C1) ∧ (!A0 ∨ B0 ∨ Cin ∨ !C1) ∧(A0 ∨ !B0 ∨ Cin ∨ !C1) ∧ (A0 ∨ B0 ∨ !Cin ∨ !C1)</a:t>
            </a:r>
            <a:endParaRPr sz="1400">
              <a:solidFill>
                <a:srgbClr val="196B24"/>
              </a:solidFill>
            </a:endParaRPr>
          </a:p>
          <a:p>
            <a:pPr indent="0" lvl="0" marL="0" rtl="0" algn="l">
              <a:spcBef>
                <a:spcPts val="1000"/>
              </a:spcBef>
              <a:spcAft>
                <a:spcPts val="0"/>
              </a:spcAft>
              <a:buClr>
                <a:schemeClr val="dk1"/>
              </a:buClr>
              <a:buSzPts val="1100"/>
              <a:buFont typeface="Arial"/>
              <a:buNone/>
            </a:pPr>
            <a:r>
              <a:rPr lang="en" sz="1400">
                <a:solidFill>
                  <a:srgbClr val="196B24"/>
                </a:solidFill>
              </a:rPr>
              <a:t>……………………………………………………………..</a:t>
            </a:r>
            <a:endParaRPr sz="1400">
              <a:solidFill>
                <a:srgbClr val="196B24"/>
              </a:solidFill>
            </a:endParaRPr>
          </a:p>
          <a:p>
            <a:pPr indent="0" lvl="0" marL="0" rtl="0" algn="l">
              <a:spcBef>
                <a:spcPts val="1000"/>
              </a:spcBef>
              <a:spcAft>
                <a:spcPts val="0"/>
              </a:spcAft>
              <a:buClr>
                <a:schemeClr val="dk1"/>
              </a:buClr>
              <a:buSzPts val="1100"/>
              <a:buFont typeface="Arial"/>
              <a:buNone/>
            </a:pPr>
            <a:r>
              <a:rPr lang="en" sz="1400">
                <a:solidFill>
                  <a:srgbClr val="196B24"/>
                </a:solidFill>
              </a:rPr>
              <a:t>S2 =  (!A2 ∨ B2 ∨ C2 ∨ S2) ∧ (A2 ∨ !B2 ∨ C2 ∨ S2) ∧ (A2 ∨ B2 ∨ !C2 ∨ S2) ∧ (!A2 ∨ !B2 ∨ !C2 ∨ S2) ∧ (A2 ∨ B2 ∨ C2 ∨ !S2) ∧ (!A2 ∨ !B2 ∨ C2 ∨ !S2) ∧ (!A2 ∨ B2 ∨ !C2 ∨ !S2) ∧ (A2 ∨ !B2 ∨ !C2 ∨ !S2)</a:t>
            </a:r>
            <a:endParaRPr sz="1400">
              <a:solidFill>
                <a:srgbClr val="196B24"/>
              </a:solidFill>
            </a:endParaRPr>
          </a:p>
          <a:p>
            <a:pPr indent="0" lvl="0" marL="0" rtl="0" algn="l">
              <a:spcBef>
                <a:spcPts val="1000"/>
              </a:spcBef>
              <a:spcAft>
                <a:spcPts val="0"/>
              </a:spcAft>
              <a:buNone/>
            </a:pPr>
            <a:r>
              <a:rPr lang="en" sz="1400">
                <a:solidFill>
                  <a:srgbClr val="196B24"/>
                </a:solidFill>
              </a:rPr>
              <a:t>Cout =  (!A2 ∨ !B2 ∨ C2 ∨ Cout) ∧ (!A2 ∨ B2 ∨ !C2 ∨ Cout) ∧ (A2 ∨ !B2 ∨ !C2 ∨ Cout) ∧ (!A2 ∨ !B2 ∨ !C2 ∨ Cout) ∧ (A2 ∨ B2 ∨ C2 ∨ !Cout) ∧ (!A2 ∨ B2 ∨ C2 ∨ !Cout) ∧ (A2 ∨ !B2 ∨ C2 ∨ !Cout) ∧ (A2 ∨ B2 ∨ !C2 ∨ !Cout)</a:t>
            </a:r>
            <a:endParaRPr/>
          </a:p>
        </p:txBody>
      </p:sp>
      <p:pic>
        <p:nvPicPr>
          <p:cNvPr descr="A purple and white sign with white letters" id="358" name="Google Shape;358;p53"/>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
        <p:nvSpPr>
          <p:cNvPr id="363" name="Google Shape;363;p54"/>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64" name="Google Shape;364;p54"/>
          <p:cNvSpPr txBox="1"/>
          <p:nvPr>
            <p:ph type="title"/>
          </p:nvPr>
        </p:nvSpPr>
        <p:spPr>
          <a:xfrm>
            <a:off x="0" y="26050"/>
            <a:ext cx="7188000" cy="14139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3200"/>
              <a:buFont typeface="Play"/>
              <a:buNone/>
            </a:pPr>
            <a:r>
              <a:rPr lang="en" sz="3000">
                <a:latin typeface="Calibri"/>
                <a:ea typeface="Calibri"/>
                <a:cs typeface="Calibri"/>
                <a:sym typeface="Calibri"/>
              </a:rPr>
              <a:t>Case Study 2: </a:t>
            </a:r>
            <a:r>
              <a:rPr lang="en" sz="3000">
                <a:latin typeface="Arial"/>
                <a:ea typeface="Arial"/>
                <a:cs typeface="Arial"/>
                <a:sym typeface="Arial"/>
              </a:rPr>
              <a:t>Generate circuits </a:t>
            </a:r>
            <a:r>
              <a:rPr lang="en" sz="3000">
                <a:solidFill>
                  <a:srgbClr val="B7B7B7"/>
                </a:solidFill>
                <a:latin typeface="Arial"/>
                <a:ea typeface="Arial"/>
                <a:cs typeface="Arial"/>
                <a:sym typeface="Arial"/>
              </a:rPr>
              <a:t>on GPT5 thinking model using incremental prompting</a:t>
            </a:r>
            <a:endParaRPr sz="3000">
              <a:solidFill>
                <a:srgbClr val="B7B7B7"/>
              </a:solidFill>
              <a:latin typeface="Calibri"/>
              <a:ea typeface="Calibri"/>
              <a:cs typeface="Calibri"/>
              <a:sym typeface="Calibri"/>
            </a:endParaRPr>
          </a:p>
        </p:txBody>
      </p:sp>
      <p:sp>
        <p:nvSpPr>
          <p:cNvPr id="365" name="Google Shape;365;p54"/>
          <p:cNvSpPr txBox="1"/>
          <p:nvPr>
            <p:ph idx="1" type="body"/>
          </p:nvPr>
        </p:nvSpPr>
        <p:spPr>
          <a:xfrm>
            <a:off x="438950" y="1480700"/>
            <a:ext cx="8666100" cy="1775700"/>
          </a:xfrm>
          <a:prstGeom prst="rect">
            <a:avLst/>
          </a:prstGeom>
          <a:noFill/>
          <a:ln>
            <a:noFill/>
          </a:ln>
        </p:spPr>
        <p:txBody>
          <a:bodyPr anchorCtr="0" anchor="ctr" bIns="34275" lIns="68575" spcFirstLastPara="1" rIns="68575" wrap="square" tIns="34275">
            <a:normAutofit/>
          </a:bodyPr>
          <a:lstStyle/>
          <a:p>
            <a:pPr indent="-215900" lvl="0" marL="177800" rtl="0" algn="l">
              <a:lnSpc>
                <a:spcPct val="70000"/>
              </a:lnSpc>
              <a:spcBef>
                <a:spcPts val="0"/>
              </a:spcBef>
              <a:spcAft>
                <a:spcPts val="0"/>
              </a:spcAft>
              <a:buClr>
                <a:schemeClr val="dk1"/>
              </a:buClr>
              <a:buSzPts val="2400"/>
              <a:buFont typeface="Calibri"/>
              <a:buChar char="•"/>
            </a:pPr>
            <a:r>
              <a:rPr lang="en" sz="2400">
                <a:latin typeface="Calibri"/>
                <a:ea typeface="Calibri"/>
                <a:cs typeface="Calibri"/>
                <a:sym typeface="Calibri"/>
              </a:rPr>
              <a:t>Successfully generated 2-8 bit adders</a:t>
            </a:r>
            <a:endParaRPr sz="2400">
              <a:latin typeface="Calibri"/>
              <a:ea typeface="Calibri"/>
              <a:cs typeface="Calibri"/>
              <a:sym typeface="Calibri"/>
            </a:endParaRPr>
          </a:p>
          <a:p>
            <a:pPr indent="-215900" lvl="0" marL="177800" rtl="0" algn="l">
              <a:lnSpc>
                <a:spcPct val="70000"/>
              </a:lnSpc>
              <a:spcBef>
                <a:spcPts val="800"/>
              </a:spcBef>
              <a:spcAft>
                <a:spcPts val="0"/>
              </a:spcAft>
              <a:buClr>
                <a:schemeClr val="dk1"/>
              </a:buClr>
              <a:buSzPts val="2400"/>
              <a:buFont typeface="Calibri"/>
              <a:buChar char="•"/>
            </a:pPr>
            <a:r>
              <a:rPr lang="en" sz="2400">
                <a:latin typeface="Calibri"/>
                <a:ea typeface="Calibri"/>
                <a:cs typeface="Calibri"/>
                <a:sym typeface="Calibri"/>
              </a:rPr>
              <a:t>Successfully generated 2-8 bit subtractors</a:t>
            </a:r>
            <a:endParaRPr sz="2400">
              <a:latin typeface="Calibri"/>
              <a:ea typeface="Calibri"/>
              <a:cs typeface="Calibri"/>
              <a:sym typeface="Calibri"/>
            </a:endParaRPr>
          </a:p>
          <a:p>
            <a:pPr indent="-215900" lvl="0" marL="177800" rtl="0" algn="l">
              <a:lnSpc>
                <a:spcPct val="70000"/>
              </a:lnSpc>
              <a:spcBef>
                <a:spcPts val="800"/>
              </a:spcBef>
              <a:spcAft>
                <a:spcPts val="0"/>
              </a:spcAft>
              <a:buClr>
                <a:schemeClr val="dk1"/>
              </a:buClr>
              <a:buSzPts val="2400"/>
              <a:buFont typeface="Calibri"/>
              <a:buChar char="•"/>
            </a:pPr>
            <a:r>
              <a:rPr lang="en" sz="2400">
                <a:latin typeface="Calibri"/>
                <a:ea typeface="Calibri"/>
                <a:cs typeface="Calibri"/>
                <a:sym typeface="Calibri"/>
              </a:rPr>
              <a:t>Successfully </a:t>
            </a:r>
            <a:r>
              <a:rPr lang="en" sz="2400">
                <a:latin typeface="Calibri"/>
                <a:ea typeface="Calibri"/>
                <a:cs typeface="Calibri"/>
                <a:sym typeface="Calibri"/>
              </a:rPr>
              <a:t>generated </a:t>
            </a:r>
            <a:r>
              <a:rPr lang="en" sz="2400">
                <a:latin typeface="Calibri"/>
                <a:ea typeface="Calibri"/>
                <a:cs typeface="Calibri"/>
                <a:sym typeface="Calibri"/>
              </a:rPr>
              <a:t>2x1 to 16x1 MUXes</a:t>
            </a:r>
            <a:endParaRPr sz="2400">
              <a:latin typeface="Calibri"/>
              <a:ea typeface="Calibri"/>
              <a:cs typeface="Calibri"/>
              <a:sym typeface="Calibri"/>
            </a:endParaRPr>
          </a:p>
          <a:p>
            <a:pPr indent="-215900" lvl="0" marL="177800" rtl="0" algn="l">
              <a:lnSpc>
                <a:spcPct val="70000"/>
              </a:lnSpc>
              <a:spcBef>
                <a:spcPts val="800"/>
              </a:spcBef>
              <a:spcAft>
                <a:spcPts val="0"/>
              </a:spcAft>
              <a:buClr>
                <a:schemeClr val="dk1"/>
              </a:buClr>
              <a:buSzPts val="2400"/>
              <a:buFont typeface="Calibri"/>
              <a:buChar char="•"/>
            </a:pPr>
            <a:r>
              <a:rPr lang="en" sz="2400">
                <a:latin typeface="Calibri"/>
                <a:ea typeface="Calibri"/>
                <a:cs typeface="Calibri"/>
                <a:sym typeface="Calibri"/>
              </a:rPr>
              <a:t>Successfully </a:t>
            </a:r>
            <a:r>
              <a:rPr lang="en" sz="2400">
                <a:latin typeface="Calibri"/>
                <a:ea typeface="Calibri"/>
                <a:cs typeface="Calibri"/>
                <a:sym typeface="Calibri"/>
              </a:rPr>
              <a:t>generated </a:t>
            </a:r>
            <a:r>
              <a:rPr lang="en" sz="2400">
                <a:latin typeface="Calibri"/>
                <a:ea typeface="Calibri"/>
                <a:cs typeface="Calibri"/>
                <a:sym typeface="Calibri"/>
              </a:rPr>
              <a:t>2x4 to 5x32 Decoders</a:t>
            </a:r>
            <a:endParaRPr sz="2400"/>
          </a:p>
        </p:txBody>
      </p:sp>
      <p:pic>
        <p:nvPicPr>
          <p:cNvPr descr="A purple and white sign with white letters" id="366" name="Google Shape;366;p54"/>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 name="Shape 370"/>
        <p:cNvGrpSpPr/>
        <p:nvPr/>
      </p:nvGrpSpPr>
      <p:grpSpPr>
        <a:xfrm>
          <a:off x="0" y="0"/>
          <a:ext cx="0" cy="0"/>
          <a:chOff x="0" y="0"/>
          <a:chExt cx="0" cy="0"/>
        </a:xfrm>
      </p:grpSpPr>
      <p:sp>
        <p:nvSpPr>
          <p:cNvPr id="371" name="Google Shape;371;p55"/>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72" name="Google Shape;372;p55"/>
          <p:cNvSpPr txBox="1"/>
          <p:nvPr>
            <p:ph type="title"/>
          </p:nvPr>
        </p:nvSpPr>
        <p:spPr>
          <a:xfrm>
            <a:off x="-25" y="39076"/>
            <a:ext cx="6877500" cy="6384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800"/>
              <a:buFont typeface="Play"/>
              <a:buNone/>
            </a:pPr>
            <a:r>
              <a:rPr lang="en" sz="3000">
                <a:solidFill>
                  <a:schemeClr val="dk1"/>
                </a:solidFill>
                <a:latin typeface="Calibri"/>
                <a:ea typeface="Calibri"/>
                <a:cs typeface="Calibri"/>
                <a:sym typeface="Calibri"/>
              </a:rPr>
              <a:t>Case Study 3: Generat</a:t>
            </a:r>
            <a:r>
              <a:rPr lang="en" sz="3000">
                <a:latin typeface="Calibri"/>
                <a:ea typeface="Calibri"/>
                <a:cs typeface="Calibri"/>
                <a:sym typeface="Calibri"/>
              </a:rPr>
              <a:t>e</a:t>
            </a:r>
            <a:r>
              <a:rPr lang="en" sz="3000">
                <a:solidFill>
                  <a:schemeClr val="dk1"/>
                </a:solidFill>
                <a:latin typeface="Calibri"/>
                <a:ea typeface="Calibri"/>
                <a:cs typeface="Calibri"/>
                <a:sym typeface="Calibri"/>
              </a:rPr>
              <a:t> a small ALU</a:t>
            </a:r>
            <a:endParaRPr sz="3500">
              <a:latin typeface="Calibri"/>
              <a:ea typeface="Calibri"/>
              <a:cs typeface="Calibri"/>
              <a:sym typeface="Calibri"/>
            </a:endParaRPr>
          </a:p>
        </p:txBody>
      </p:sp>
      <p:pic>
        <p:nvPicPr>
          <p:cNvPr id="373" name="Google Shape;373;p55"/>
          <p:cNvPicPr preferRelativeResize="0"/>
          <p:nvPr>
            <p:ph idx="1" type="body"/>
          </p:nvPr>
        </p:nvPicPr>
        <p:blipFill rotWithShape="1">
          <a:blip r:embed="rId3">
            <a:alphaModFix/>
          </a:blip>
          <a:srcRect b="0" l="0" r="0" t="0"/>
          <a:stretch/>
        </p:blipFill>
        <p:spPr>
          <a:xfrm>
            <a:off x="35786" y="764700"/>
            <a:ext cx="8993100" cy="4227000"/>
          </a:xfrm>
          <a:prstGeom prst="rect">
            <a:avLst/>
          </a:prstGeom>
          <a:noFill/>
          <a:ln>
            <a:noFill/>
          </a:ln>
        </p:spPr>
      </p:pic>
      <p:pic>
        <p:nvPicPr>
          <p:cNvPr descr="A purple and white sign with white letters" id="374" name="Google Shape;374;p55"/>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p56"/>
          <p:cNvSpPr txBox="1"/>
          <p:nvPr>
            <p:ph type="title"/>
          </p:nvPr>
        </p:nvSpPr>
        <p:spPr>
          <a:xfrm>
            <a:off x="-52075" y="26050"/>
            <a:ext cx="7764900" cy="4680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3690"/>
              <a:buFont typeface="Play"/>
              <a:buNone/>
            </a:pPr>
            <a:r>
              <a:rPr lang="en" sz="3000">
                <a:latin typeface="Calibri"/>
                <a:ea typeface="Calibri"/>
                <a:cs typeface="Calibri"/>
                <a:sym typeface="Calibri"/>
              </a:rPr>
              <a:t>PLF</a:t>
            </a:r>
            <a:r>
              <a:rPr lang="en" sz="3000">
                <a:latin typeface="Calibri"/>
                <a:ea typeface="Calibri"/>
                <a:cs typeface="Calibri"/>
                <a:sym typeface="Calibri"/>
              </a:rPr>
              <a:t> ↔ Logic Design</a:t>
            </a:r>
            <a:endParaRPr sz="2280">
              <a:latin typeface="Calibri"/>
              <a:ea typeface="Calibri"/>
              <a:cs typeface="Calibri"/>
              <a:sym typeface="Calibri"/>
            </a:endParaRPr>
          </a:p>
        </p:txBody>
      </p:sp>
      <p:sp>
        <p:nvSpPr>
          <p:cNvPr id="380" name="Google Shape;380;p56"/>
          <p:cNvSpPr txBox="1"/>
          <p:nvPr>
            <p:ph idx="1" type="body"/>
          </p:nvPr>
        </p:nvSpPr>
        <p:spPr>
          <a:xfrm>
            <a:off x="126650" y="2038275"/>
            <a:ext cx="8890800" cy="1482600"/>
          </a:xfrm>
          <a:prstGeom prst="rect">
            <a:avLst/>
          </a:prstGeom>
          <a:noFill/>
          <a:ln>
            <a:noFill/>
          </a:ln>
        </p:spPr>
        <p:txBody>
          <a:bodyPr anchorCtr="0" anchor="ctr" bIns="34275" lIns="68575" spcFirstLastPara="1" rIns="68575" wrap="square" tIns="34275">
            <a:normAutofit/>
          </a:bodyPr>
          <a:lstStyle/>
          <a:p>
            <a:pPr indent="-190500" lvl="0" marL="177800" rtl="0" algn="l">
              <a:lnSpc>
                <a:spcPct val="90000"/>
              </a:lnSpc>
              <a:spcBef>
                <a:spcPts val="0"/>
              </a:spcBef>
              <a:spcAft>
                <a:spcPts val="0"/>
              </a:spcAft>
              <a:buClr>
                <a:schemeClr val="dk1"/>
              </a:buClr>
              <a:buSzPts val="2000"/>
              <a:buFont typeface="Calibri"/>
              <a:buChar char="•"/>
            </a:pPr>
            <a:r>
              <a:rPr lang="en" sz="2000">
                <a:latin typeface="Calibri"/>
                <a:ea typeface="Calibri"/>
                <a:cs typeface="Calibri"/>
                <a:sym typeface="Calibri"/>
              </a:rPr>
              <a:t>Logic designs can be represented as a conjunction of Tseytin transformations of basic gates. (</a:t>
            </a:r>
            <a:r>
              <a:rPr lang="en" sz="2000" u="sng">
                <a:solidFill>
                  <a:schemeClr val="hlink"/>
                </a:solidFill>
                <a:latin typeface="Calibri"/>
                <a:ea typeface="Calibri"/>
                <a:cs typeface="Calibri"/>
                <a:sym typeface="Calibri"/>
                <a:hlinkClick r:id="rId3"/>
              </a:rPr>
              <a:t>https://en.wikipedia.org/wiki/Tseytin_transformation</a:t>
            </a:r>
            <a:r>
              <a:rPr lang="en" sz="2000">
                <a:latin typeface="Calibri"/>
                <a:ea typeface="Calibri"/>
                <a:cs typeface="Calibri"/>
                <a:sym typeface="Calibri"/>
              </a:rPr>
              <a:t>)</a:t>
            </a:r>
            <a:endParaRPr sz="2000">
              <a:latin typeface="Calibri"/>
              <a:ea typeface="Calibri"/>
              <a:cs typeface="Calibri"/>
              <a:sym typeface="Calibri"/>
            </a:endParaRPr>
          </a:p>
          <a:p>
            <a:pPr indent="-190500" lvl="0" marL="177800" rtl="0" algn="l">
              <a:lnSpc>
                <a:spcPct val="90000"/>
              </a:lnSpc>
              <a:spcBef>
                <a:spcPts val="800"/>
              </a:spcBef>
              <a:spcAft>
                <a:spcPts val="0"/>
              </a:spcAft>
              <a:buClr>
                <a:schemeClr val="dk1"/>
              </a:buClr>
              <a:buSzPts val="2000"/>
              <a:buFont typeface="Calibri"/>
              <a:buChar char="•"/>
            </a:pPr>
            <a:r>
              <a:rPr lang="en" sz="2000">
                <a:latin typeface="Calibri"/>
                <a:ea typeface="Calibri"/>
                <a:cs typeface="Calibri"/>
                <a:sym typeface="Calibri"/>
              </a:rPr>
              <a:t>From the PLF corresponding verilog of the design can be obtained</a:t>
            </a:r>
            <a:endParaRPr sz="2000">
              <a:latin typeface="Calibri"/>
              <a:ea typeface="Calibri"/>
              <a:cs typeface="Calibri"/>
              <a:sym typeface="Calibri"/>
            </a:endParaRPr>
          </a:p>
        </p:txBody>
      </p:sp>
      <p:pic>
        <p:nvPicPr>
          <p:cNvPr descr="A purple and white sign with white letters" id="381" name="Google Shape;381;p56"/>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5" name="Shape 385"/>
        <p:cNvGrpSpPr/>
        <p:nvPr/>
      </p:nvGrpSpPr>
      <p:grpSpPr>
        <a:xfrm>
          <a:off x="0" y="0"/>
          <a:ext cx="0" cy="0"/>
          <a:chOff x="0" y="0"/>
          <a:chExt cx="0" cy="0"/>
        </a:xfrm>
      </p:grpSpPr>
      <p:sp>
        <p:nvSpPr>
          <p:cNvPr id="386" name="Google Shape;386;p57"/>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1: Preprocessing</a:t>
            </a:r>
            <a:endParaRPr sz="3000">
              <a:latin typeface="Calibri"/>
              <a:ea typeface="Calibri"/>
              <a:cs typeface="Calibri"/>
              <a:sym typeface="Calibri"/>
            </a:endParaRPr>
          </a:p>
        </p:txBody>
      </p:sp>
      <p:pic>
        <p:nvPicPr>
          <p:cNvPr descr="A purple and white sign with white letters" id="387" name="Google Shape;387;p57"/>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388" name="Google Shape;388;p57"/>
          <p:cNvSpPr txBox="1"/>
          <p:nvPr/>
        </p:nvSpPr>
        <p:spPr>
          <a:xfrm>
            <a:off x="81650" y="1654325"/>
            <a:ext cx="2525100" cy="9174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Prompt: Give me a 1-bit full adder with input a,b, cin and outputs sum, cout</a:t>
            </a:r>
            <a:endParaRPr sz="1500">
              <a:solidFill>
                <a:schemeClr val="dk1"/>
              </a:solidFill>
            </a:endParaRPr>
          </a:p>
        </p:txBody>
      </p:sp>
      <p:sp>
        <p:nvSpPr>
          <p:cNvPr id="389" name="Google Shape;389;p57"/>
          <p:cNvSpPr txBox="1"/>
          <p:nvPr/>
        </p:nvSpPr>
        <p:spPr>
          <a:xfrm>
            <a:off x="66575" y="3868970"/>
            <a:ext cx="2525100" cy="7953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Prompt: Give me a 1-bit full adder with input a,b, cin and outputs sum, cout</a:t>
            </a:r>
            <a:endParaRPr sz="1500">
              <a:solidFill>
                <a:schemeClr val="dk1"/>
              </a:solidFill>
            </a:endParaRPr>
          </a:p>
        </p:txBody>
      </p:sp>
      <p:sp>
        <p:nvSpPr>
          <p:cNvPr id="390" name="Google Shape;390;p57"/>
          <p:cNvSpPr txBox="1"/>
          <p:nvPr/>
        </p:nvSpPr>
        <p:spPr>
          <a:xfrm>
            <a:off x="2676950" y="3849698"/>
            <a:ext cx="6467100" cy="6774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sum↔(a∧¬b∧¬cin) ∨ (¬a∧b∧¬cin) ∨ (¬a∧¬b∧cin) ∨ (a∧b∧cin)</a:t>
            </a:r>
            <a:endParaRPr sz="1600">
              <a:solidFill>
                <a:schemeClr val="dk1"/>
              </a:solidFill>
            </a:endParaRPr>
          </a:p>
          <a:p>
            <a:pPr indent="0" lvl="0" marL="0" rtl="0" algn="l">
              <a:spcBef>
                <a:spcPts val="0"/>
              </a:spcBef>
              <a:spcAft>
                <a:spcPts val="0"/>
              </a:spcAft>
              <a:buNone/>
            </a:pPr>
            <a:r>
              <a:rPr lang="en" sz="1600">
                <a:solidFill>
                  <a:schemeClr val="dk1"/>
                </a:solidFill>
              </a:rPr>
              <a:t>cout↔(a∧b) ∨ (cin∧(a∨b))</a:t>
            </a:r>
            <a:endParaRPr sz="1600">
              <a:solidFill>
                <a:schemeClr val="dk1"/>
              </a:solidFill>
            </a:endParaRPr>
          </a:p>
        </p:txBody>
      </p:sp>
      <p:sp>
        <p:nvSpPr>
          <p:cNvPr id="391" name="Google Shape;391;p57"/>
          <p:cNvSpPr txBox="1"/>
          <p:nvPr/>
        </p:nvSpPr>
        <p:spPr>
          <a:xfrm>
            <a:off x="239777" y="649401"/>
            <a:ext cx="8865000" cy="728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Char char="●"/>
            </a:pPr>
            <a:r>
              <a:rPr lang="en" sz="2000">
                <a:solidFill>
                  <a:schemeClr val="dk1"/>
                </a:solidFill>
              </a:rPr>
              <a:t>Training Data Set: Combinations of Prompt + CNF or </a:t>
            </a:r>
            <a:r>
              <a:rPr lang="en" sz="2000">
                <a:solidFill>
                  <a:schemeClr val="dk1"/>
                </a:solidFill>
                <a:highlight>
                  <a:srgbClr val="FFFF00"/>
                </a:highlight>
              </a:rPr>
              <a:t>Prompt + PLF</a:t>
            </a:r>
            <a:r>
              <a:rPr lang="en" sz="2000">
                <a:solidFill>
                  <a:schemeClr val="dk1"/>
                </a:solidFill>
              </a:rPr>
              <a: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Later takes less tokens.</a:t>
            </a:r>
            <a:endParaRPr sz="2000">
              <a:solidFill>
                <a:schemeClr val="dk1"/>
              </a:solidFill>
            </a:endParaRPr>
          </a:p>
        </p:txBody>
      </p:sp>
      <p:sp>
        <p:nvSpPr>
          <p:cNvPr id="392" name="Google Shape;392;p57"/>
          <p:cNvSpPr txBox="1"/>
          <p:nvPr/>
        </p:nvSpPr>
        <p:spPr>
          <a:xfrm>
            <a:off x="2676950" y="1650962"/>
            <a:ext cx="6411000" cy="16923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sum =  (a ∨ b ∨ ¬ab_xor) ∧ (a ∨ ¬b ∨ ab_xor) ∧ (¬a ∨ b ∨ ab_xor) ∧ </a:t>
            </a:r>
            <a:endParaRPr sz="1600">
              <a:solidFill>
                <a:schemeClr val="dk1"/>
              </a:solidFill>
            </a:endParaRPr>
          </a:p>
          <a:p>
            <a:pPr indent="0" lvl="0" marL="0" rtl="0" algn="l">
              <a:spcBef>
                <a:spcPts val="0"/>
              </a:spcBef>
              <a:spcAft>
                <a:spcPts val="0"/>
              </a:spcAft>
              <a:buNone/>
            </a:pPr>
            <a:r>
              <a:rPr lang="en" sz="1600">
                <a:solidFill>
                  <a:schemeClr val="dk1"/>
                </a:solidFill>
              </a:rPr>
              <a:t>(¬a ∨ ¬b ∨ ¬ab_xor) ∧ (ab_xor ∨ cin ∨ ¬sum) ∧ (ab_xor ∨ ¬cin ∨ sum) ∧ (¬ab_xor ∨ cin ∨ sum) ∧ (¬ab_xor ∨ ¬cin ∨ ¬sum)</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cout =  (¬a ∨ ¬b ∨ cout) ∧ (¬a ∨ ¬cin ∨ cout) ∧ (¬b ∨ ¬cin ∨ cout)</a:t>
            </a:r>
            <a:endParaRPr sz="1600">
              <a:solidFill>
                <a:schemeClr val="dk1"/>
              </a:solidFill>
            </a:endParaRPr>
          </a:p>
          <a:p>
            <a:pPr indent="0" lvl="0" marL="0" rtl="0" algn="l">
              <a:spcBef>
                <a:spcPts val="0"/>
              </a:spcBef>
              <a:spcAft>
                <a:spcPts val="0"/>
              </a:spcAft>
              <a:buNone/>
            </a:pPr>
            <a:r>
              <a:rPr lang="en" sz="1600">
                <a:solidFill>
                  <a:schemeClr val="dk1"/>
                </a:solidFill>
              </a:rPr>
              <a:t>∧ (a ∨ b ∨ ¬cout) ∧ (a ∨ cin ∨ ¬cout) ∧ (b ∨ cin ∨ ¬cout)</a:t>
            </a:r>
            <a:endParaRPr sz="16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8"/>
          <p:cNvSpPr txBox="1"/>
          <p:nvPr>
            <p:ph type="title"/>
          </p:nvPr>
        </p:nvSpPr>
        <p:spPr>
          <a:xfrm>
            <a:off x="0" y="0"/>
            <a:ext cx="7886700" cy="996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latin typeface="Calibri"/>
                <a:ea typeface="Calibri"/>
                <a:cs typeface="Calibri"/>
                <a:sym typeface="Calibri"/>
              </a:rPr>
              <a:t>Tseytin Expressions are Large: </a:t>
            </a:r>
            <a:endParaRPr sz="3000">
              <a:latin typeface="Calibri"/>
              <a:ea typeface="Calibri"/>
              <a:cs typeface="Calibri"/>
              <a:sym typeface="Calibri"/>
            </a:endParaRPr>
          </a:p>
          <a:p>
            <a:pPr indent="0" lvl="0" marL="0" rtl="0" algn="l">
              <a:lnSpc>
                <a:spcPct val="90000"/>
              </a:lnSpc>
              <a:spcBef>
                <a:spcPts val="0"/>
              </a:spcBef>
              <a:spcAft>
                <a:spcPts val="0"/>
              </a:spcAft>
              <a:buClr>
                <a:schemeClr val="dk1"/>
              </a:buClr>
              <a:buSzPts val="3300"/>
              <a:buFont typeface="Play"/>
              <a:buNone/>
            </a:pPr>
            <a:r>
              <a:rPr lang="en" sz="3000">
                <a:latin typeface="Calibri"/>
                <a:ea typeface="Calibri"/>
                <a:cs typeface="Calibri"/>
                <a:sym typeface="Calibri"/>
              </a:rPr>
              <a:t>Use Propositional Logic Formulas (PLF)</a:t>
            </a:r>
            <a:endParaRPr sz="3000">
              <a:latin typeface="Calibri"/>
              <a:ea typeface="Calibri"/>
              <a:cs typeface="Calibri"/>
              <a:sym typeface="Calibri"/>
            </a:endParaRPr>
          </a:p>
        </p:txBody>
      </p:sp>
      <p:pic>
        <p:nvPicPr>
          <p:cNvPr id="398" name="Google Shape;398;p58"/>
          <p:cNvPicPr preferRelativeResize="0"/>
          <p:nvPr>
            <p:ph idx="1" type="body"/>
          </p:nvPr>
        </p:nvPicPr>
        <p:blipFill rotWithShape="1">
          <a:blip r:embed="rId3">
            <a:alphaModFix/>
          </a:blip>
          <a:srcRect b="0" l="0" r="0" t="0"/>
          <a:stretch/>
        </p:blipFill>
        <p:spPr>
          <a:xfrm>
            <a:off x="4572000" y="1565357"/>
            <a:ext cx="4070100" cy="375600"/>
          </a:xfrm>
          <a:prstGeom prst="rect">
            <a:avLst/>
          </a:prstGeom>
          <a:noFill/>
          <a:ln>
            <a:noFill/>
          </a:ln>
        </p:spPr>
      </p:pic>
      <p:pic>
        <p:nvPicPr>
          <p:cNvPr id="399" name="Google Shape;399;p58"/>
          <p:cNvPicPr preferRelativeResize="0"/>
          <p:nvPr/>
        </p:nvPicPr>
        <p:blipFill rotWithShape="1">
          <a:blip r:embed="rId4">
            <a:alphaModFix/>
          </a:blip>
          <a:srcRect b="0" l="0" r="0" t="0"/>
          <a:stretch/>
        </p:blipFill>
        <p:spPr>
          <a:xfrm>
            <a:off x="6532757" y="2428868"/>
            <a:ext cx="1114454" cy="285758"/>
          </a:xfrm>
          <a:prstGeom prst="rect">
            <a:avLst/>
          </a:prstGeom>
          <a:noFill/>
          <a:ln>
            <a:noFill/>
          </a:ln>
        </p:spPr>
      </p:pic>
      <p:sp>
        <p:nvSpPr>
          <p:cNvPr id="400" name="Google Shape;400;p58"/>
          <p:cNvSpPr txBox="1"/>
          <p:nvPr/>
        </p:nvSpPr>
        <p:spPr>
          <a:xfrm>
            <a:off x="367733" y="1511176"/>
            <a:ext cx="55689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000">
                <a:solidFill>
                  <a:schemeClr val="dk1"/>
                </a:solidFill>
                <a:latin typeface="Calibri"/>
                <a:ea typeface="Calibri"/>
                <a:cs typeface="Calibri"/>
                <a:sym typeface="Calibri"/>
              </a:rPr>
              <a:t>Tseytin </a:t>
            </a:r>
            <a:r>
              <a:rPr i="0" lang="en" sz="2000" u="none" cap="none" strike="noStrike">
                <a:solidFill>
                  <a:schemeClr val="dk1"/>
                </a:solidFill>
                <a:latin typeface="Calibri"/>
                <a:ea typeface="Calibri"/>
                <a:cs typeface="Calibri"/>
                <a:sym typeface="Calibri"/>
              </a:rPr>
              <a:t>Expression of XOR</a:t>
            </a:r>
            <a:endParaRPr i="0" sz="2000" u="none" cap="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 sz="2000">
                <a:solidFill>
                  <a:schemeClr val="dk1"/>
                </a:solidFill>
                <a:latin typeface="Calibri"/>
                <a:ea typeface="Calibri"/>
                <a:cs typeface="Calibri"/>
                <a:sym typeface="Calibri"/>
              </a:rPr>
              <a:t>Equivalent Propositional Logic Formula (PLF) of XOR</a:t>
            </a:r>
            <a:endParaRPr sz="2000">
              <a:solidFill>
                <a:schemeClr val="dk1"/>
              </a:solidFill>
              <a:latin typeface="Calibri"/>
              <a:ea typeface="Calibri"/>
              <a:cs typeface="Calibri"/>
              <a:sym typeface="Calibri"/>
            </a:endParaRPr>
          </a:p>
        </p:txBody>
      </p:sp>
      <p:pic>
        <p:nvPicPr>
          <p:cNvPr id="401" name="Google Shape;401;p58"/>
          <p:cNvPicPr preferRelativeResize="0"/>
          <p:nvPr/>
        </p:nvPicPr>
        <p:blipFill rotWithShape="1">
          <a:blip r:embed="rId5">
            <a:alphaModFix/>
          </a:blip>
          <a:srcRect b="0" l="0" r="0" t="0"/>
          <a:stretch/>
        </p:blipFill>
        <p:spPr>
          <a:xfrm>
            <a:off x="223492" y="3160889"/>
            <a:ext cx="8597050" cy="1563100"/>
          </a:xfrm>
          <a:prstGeom prst="rect">
            <a:avLst/>
          </a:prstGeom>
          <a:noFill/>
          <a:ln>
            <a:noFill/>
          </a:ln>
        </p:spPr>
      </p:pic>
      <p:pic>
        <p:nvPicPr>
          <p:cNvPr descr="A purple and white sign with white letters" id="402" name="Google Shape;402;p58"/>
          <p:cNvPicPr preferRelativeResize="0"/>
          <p:nvPr/>
        </p:nvPicPr>
        <p:blipFill rotWithShape="1">
          <a:blip r:embed="rId6">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6" name="Shape 406"/>
        <p:cNvGrpSpPr/>
        <p:nvPr/>
      </p:nvGrpSpPr>
      <p:grpSpPr>
        <a:xfrm>
          <a:off x="0" y="0"/>
          <a:ext cx="0" cy="0"/>
          <a:chOff x="0" y="0"/>
          <a:chExt cx="0" cy="0"/>
        </a:xfrm>
      </p:grpSpPr>
      <p:sp>
        <p:nvSpPr>
          <p:cNvPr id="407" name="Google Shape;407;p59"/>
          <p:cNvSpPr/>
          <p:nvPr/>
        </p:nvSpPr>
        <p:spPr>
          <a:xfrm>
            <a:off x="0" y="0"/>
            <a:ext cx="9144000" cy="5142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08" name="Google Shape;408;p59"/>
          <p:cNvSpPr txBox="1"/>
          <p:nvPr>
            <p:ph type="title"/>
          </p:nvPr>
        </p:nvSpPr>
        <p:spPr>
          <a:xfrm>
            <a:off x="0" y="0"/>
            <a:ext cx="7186500" cy="629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800"/>
              <a:buFont typeface="Play"/>
              <a:buNone/>
            </a:pPr>
            <a:r>
              <a:rPr lang="en" sz="3000">
                <a:solidFill>
                  <a:schemeClr val="dk1"/>
                </a:solidFill>
                <a:latin typeface="Calibri"/>
                <a:ea typeface="Calibri"/>
                <a:cs typeface="Calibri"/>
                <a:sym typeface="Calibri"/>
              </a:rPr>
              <a:t>Tseytin and PLFs in terms of tokens</a:t>
            </a:r>
            <a:endParaRPr sz="3500">
              <a:latin typeface="Calibri"/>
              <a:ea typeface="Calibri"/>
              <a:cs typeface="Calibri"/>
              <a:sym typeface="Calibri"/>
            </a:endParaRPr>
          </a:p>
        </p:txBody>
      </p:sp>
      <p:pic>
        <p:nvPicPr>
          <p:cNvPr id="409" name="Google Shape;409;p59"/>
          <p:cNvPicPr preferRelativeResize="0"/>
          <p:nvPr>
            <p:ph idx="1" type="body"/>
          </p:nvPr>
        </p:nvPicPr>
        <p:blipFill rotWithShape="1">
          <a:blip r:embed="rId3">
            <a:alphaModFix/>
          </a:blip>
          <a:srcRect b="0" l="0" r="0" t="0"/>
          <a:stretch/>
        </p:blipFill>
        <p:spPr>
          <a:xfrm>
            <a:off x="1144399" y="642635"/>
            <a:ext cx="6777600" cy="4337700"/>
          </a:xfrm>
          <a:prstGeom prst="rect">
            <a:avLst/>
          </a:prstGeom>
          <a:noFill/>
          <a:ln>
            <a:noFill/>
          </a:ln>
        </p:spPr>
      </p:pic>
      <p:pic>
        <p:nvPicPr>
          <p:cNvPr descr="A purple and white sign with white letters" id="410" name="Google Shape;410;p59"/>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4" name="Shape 414"/>
        <p:cNvGrpSpPr/>
        <p:nvPr/>
      </p:nvGrpSpPr>
      <p:grpSpPr>
        <a:xfrm>
          <a:off x="0" y="0"/>
          <a:ext cx="0" cy="0"/>
          <a:chOff x="0" y="0"/>
          <a:chExt cx="0" cy="0"/>
        </a:xfrm>
      </p:grpSpPr>
      <p:sp>
        <p:nvSpPr>
          <p:cNvPr id="415" name="Google Shape;415;p60"/>
          <p:cNvSpPr txBox="1"/>
          <p:nvPr>
            <p:ph type="title"/>
          </p:nvPr>
        </p:nvSpPr>
        <p:spPr>
          <a:xfrm>
            <a:off x="50" y="26050"/>
            <a:ext cx="9105000" cy="67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solidFill>
                  <a:schemeClr val="dk1"/>
                </a:solidFill>
                <a:latin typeface="Calibri"/>
                <a:ea typeface="Calibri"/>
                <a:cs typeface="Calibri"/>
                <a:sym typeface="Calibri"/>
              </a:rPr>
              <a:t>VeriCNF Flow </a:t>
            </a:r>
            <a:r>
              <a:rPr lang="en" sz="3000">
                <a:latin typeface="Calibri"/>
                <a:ea typeface="Calibri"/>
                <a:cs typeface="Calibri"/>
                <a:sym typeface="Calibri"/>
              </a:rPr>
              <a:t>Stage 1: Preprocessing</a:t>
            </a:r>
            <a:endParaRPr sz="3000">
              <a:latin typeface="Calibri"/>
              <a:ea typeface="Calibri"/>
              <a:cs typeface="Calibri"/>
              <a:sym typeface="Calibri"/>
            </a:endParaRPr>
          </a:p>
        </p:txBody>
      </p:sp>
      <p:pic>
        <p:nvPicPr>
          <p:cNvPr descr="A purple and white sign with white letters" id="416" name="Google Shape;416;p60"/>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417" name="Google Shape;417;p60"/>
          <p:cNvSpPr txBox="1"/>
          <p:nvPr/>
        </p:nvSpPr>
        <p:spPr>
          <a:xfrm>
            <a:off x="-11700" y="868050"/>
            <a:ext cx="5202000" cy="42405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00"/>
                </a:solidFill>
              </a:rPr>
              <a:t>// Full Adder (gate-level)</a:t>
            </a:r>
            <a:endParaRPr sz="1200">
              <a:solidFill>
                <a:srgbClr val="FF0000"/>
              </a:solidFill>
            </a:endParaRPr>
          </a:p>
          <a:p>
            <a:pPr indent="0" lvl="0" marL="0" rtl="0" algn="l">
              <a:spcBef>
                <a:spcPts val="0"/>
              </a:spcBef>
              <a:spcAft>
                <a:spcPts val="0"/>
              </a:spcAft>
              <a:buNone/>
            </a:pPr>
            <a:r>
              <a:rPr lang="en" sz="1200">
                <a:solidFill>
                  <a:srgbClr val="FF0000"/>
                </a:solidFill>
              </a:rPr>
              <a:t>module full_adder_gate (</a:t>
            </a:r>
            <a:endParaRPr sz="1200">
              <a:solidFill>
                <a:srgbClr val="FF0000"/>
              </a:solidFill>
            </a:endParaRPr>
          </a:p>
          <a:p>
            <a:pPr indent="0" lvl="0" marL="0" rtl="0" algn="l">
              <a:spcBef>
                <a:spcPts val="0"/>
              </a:spcBef>
              <a:spcAft>
                <a:spcPts val="0"/>
              </a:spcAft>
              <a:buNone/>
            </a:pPr>
            <a:r>
              <a:rPr lang="en" sz="1200">
                <a:solidFill>
                  <a:srgbClr val="FF0000"/>
                </a:solidFill>
              </a:rPr>
              <a:t>    input  wire a,</a:t>
            </a:r>
            <a:endParaRPr sz="1200">
              <a:solidFill>
                <a:srgbClr val="FF0000"/>
              </a:solidFill>
            </a:endParaRPr>
          </a:p>
          <a:p>
            <a:pPr indent="0" lvl="0" marL="0" rtl="0" algn="l">
              <a:spcBef>
                <a:spcPts val="0"/>
              </a:spcBef>
              <a:spcAft>
                <a:spcPts val="0"/>
              </a:spcAft>
              <a:buNone/>
            </a:pPr>
            <a:r>
              <a:rPr lang="en" sz="1200">
                <a:solidFill>
                  <a:srgbClr val="FF0000"/>
                </a:solidFill>
              </a:rPr>
              <a:t>    input  wire b,</a:t>
            </a:r>
            <a:endParaRPr sz="1200">
              <a:solidFill>
                <a:srgbClr val="FF0000"/>
              </a:solidFill>
            </a:endParaRPr>
          </a:p>
          <a:p>
            <a:pPr indent="0" lvl="0" marL="0" rtl="0" algn="l">
              <a:spcBef>
                <a:spcPts val="0"/>
              </a:spcBef>
              <a:spcAft>
                <a:spcPts val="0"/>
              </a:spcAft>
              <a:buNone/>
            </a:pPr>
            <a:r>
              <a:rPr lang="en" sz="1200">
                <a:solidFill>
                  <a:srgbClr val="FF0000"/>
                </a:solidFill>
              </a:rPr>
              <a:t>    input  wire cin,</a:t>
            </a:r>
            <a:endParaRPr sz="1200">
              <a:solidFill>
                <a:srgbClr val="FF0000"/>
              </a:solidFill>
            </a:endParaRPr>
          </a:p>
          <a:p>
            <a:pPr indent="0" lvl="0" marL="0" rtl="0" algn="l">
              <a:spcBef>
                <a:spcPts val="0"/>
              </a:spcBef>
              <a:spcAft>
                <a:spcPts val="0"/>
              </a:spcAft>
              <a:buNone/>
            </a:pPr>
            <a:r>
              <a:rPr lang="en" sz="1200">
                <a:solidFill>
                  <a:srgbClr val="FF0000"/>
                </a:solidFill>
              </a:rPr>
              <a:t>    output wire sum,</a:t>
            </a:r>
            <a:endParaRPr sz="1200">
              <a:solidFill>
                <a:srgbClr val="FF0000"/>
              </a:solidFill>
            </a:endParaRPr>
          </a:p>
          <a:p>
            <a:pPr indent="0" lvl="0" marL="0" rtl="0" algn="l">
              <a:spcBef>
                <a:spcPts val="0"/>
              </a:spcBef>
              <a:spcAft>
                <a:spcPts val="0"/>
              </a:spcAft>
              <a:buNone/>
            </a:pPr>
            <a:r>
              <a:rPr lang="en" sz="1200">
                <a:solidFill>
                  <a:srgbClr val="FF0000"/>
                </a:solidFill>
              </a:rPr>
              <a:t>    output wire cout</a:t>
            </a:r>
            <a:endParaRPr sz="1200">
              <a:solidFill>
                <a:srgbClr val="FF0000"/>
              </a:solidFill>
            </a:endParaRPr>
          </a:p>
          <a:p>
            <a:pPr indent="0" lvl="0" marL="0" rtl="0" algn="l">
              <a:spcBef>
                <a:spcPts val="0"/>
              </a:spcBef>
              <a:spcAft>
                <a:spcPts val="0"/>
              </a:spcAft>
              <a:buNone/>
            </a:pPr>
            <a:r>
              <a:rPr lang="en" sz="1200">
                <a:solidFill>
                  <a:srgbClr val="FF0000"/>
                </a:solidFill>
              </a:rPr>
              <a:t>);</a:t>
            </a:r>
            <a:endParaRPr sz="1200">
              <a:solidFill>
                <a:srgbClr val="FF0000"/>
              </a:solidFill>
            </a:endParaRPr>
          </a:p>
          <a:p>
            <a:pPr indent="0" lvl="0" marL="0" rtl="0" algn="l">
              <a:spcBef>
                <a:spcPts val="0"/>
              </a:spcBef>
              <a:spcAft>
                <a:spcPts val="0"/>
              </a:spcAft>
              <a:buNone/>
            </a:pPr>
            <a:r>
              <a:rPr lang="en" sz="1200">
                <a:solidFill>
                  <a:srgbClr val="FF0000"/>
                </a:solidFill>
              </a:rPr>
              <a:t>    // internal wires</a:t>
            </a:r>
            <a:endParaRPr sz="1200">
              <a:solidFill>
                <a:srgbClr val="FF0000"/>
              </a:solidFill>
            </a:endParaRPr>
          </a:p>
          <a:p>
            <a:pPr indent="0" lvl="0" marL="0" rtl="0" algn="l">
              <a:spcBef>
                <a:spcPts val="0"/>
              </a:spcBef>
              <a:spcAft>
                <a:spcPts val="0"/>
              </a:spcAft>
              <a:buNone/>
            </a:pPr>
            <a:r>
              <a:rPr lang="en" sz="1200">
                <a:solidFill>
                  <a:srgbClr val="FF0000"/>
                </a:solidFill>
              </a:rPr>
              <a:t>    wire ab_xor;</a:t>
            </a:r>
            <a:endParaRPr sz="1200">
              <a:solidFill>
                <a:srgbClr val="FF0000"/>
              </a:solidFill>
            </a:endParaRPr>
          </a:p>
          <a:p>
            <a:pPr indent="0" lvl="0" marL="0" rtl="0" algn="l">
              <a:spcBef>
                <a:spcPts val="0"/>
              </a:spcBef>
              <a:spcAft>
                <a:spcPts val="0"/>
              </a:spcAft>
              <a:buNone/>
            </a:pPr>
            <a:r>
              <a:rPr lang="en" sz="1200">
                <a:solidFill>
                  <a:srgbClr val="FF0000"/>
                </a:solidFill>
              </a:rPr>
              <a:t>    wire a_and_b, b_and_cin, a_and_cin;</a:t>
            </a:r>
            <a:endParaRPr sz="1200">
              <a:solidFill>
                <a:srgbClr val="FF0000"/>
              </a:solidFill>
            </a:endParaRPr>
          </a:p>
          <a:p>
            <a:pPr indent="0" lvl="0" marL="0" rtl="0" algn="l">
              <a:spcBef>
                <a:spcPts val="0"/>
              </a:spcBef>
              <a:spcAft>
                <a:spcPts val="0"/>
              </a:spcAft>
              <a:buNone/>
            </a:pPr>
            <a:r>
              <a:t/>
            </a:r>
            <a:endParaRPr sz="1200">
              <a:solidFill>
                <a:srgbClr val="FF0000"/>
              </a:solidFill>
            </a:endParaRPr>
          </a:p>
          <a:p>
            <a:pPr indent="0" lvl="0" marL="0" rtl="0" algn="l">
              <a:spcBef>
                <a:spcPts val="0"/>
              </a:spcBef>
              <a:spcAft>
                <a:spcPts val="0"/>
              </a:spcAft>
              <a:buNone/>
            </a:pPr>
            <a:r>
              <a:rPr lang="en" sz="1200">
                <a:solidFill>
                  <a:srgbClr val="FF0000"/>
                </a:solidFill>
              </a:rPr>
              <a:t>    // XOR chain for sum</a:t>
            </a:r>
            <a:endParaRPr sz="1200">
              <a:solidFill>
                <a:srgbClr val="FF0000"/>
              </a:solidFill>
            </a:endParaRPr>
          </a:p>
          <a:p>
            <a:pPr indent="0" lvl="0" marL="0" rtl="0" algn="l">
              <a:spcBef>
                <a:spcPts val="0"/>
              </a:spcBef>
              <a:spcAft>
                <a:spcPts val="0"/>
              </a:spcAft>
              <a:buNone/>
            </a:pPr>
            <a:r>
              <a:rPr lang="en" sz="1200">
                <a:solidFill>
                  <a:srgbClr val="FF0000"/>
                </a:solidFill>
              </a:rPr>
              <a:t>    xor (ab_xor, a, b);       // ab_xor = a ^ b</a:t>
            </a:r>
            <a:endParaRPr sz="1200">
              <a:solidFill>
                <a:srgbClr val="FF0000"/>
              </a:solidFill>
            </a:endParaRPr>
          </a:p>
          <a:p>
            <a:pPr indent="0" lvl="0" marL="0" rtl="0" algn="l">
              <a:spcBef>
                <a:spcPts val="0"/>
              </a:spcBef>
              <a:spcAft>
                <a:spcPts val="0"/>
              </a:spcAft>
              <a:buNone/>
            </a:pPr>
            <a:r>
              <a:rPr lang="en" sz="1200">
                <a:solidFill>
                  <a:srgbClr val="FF0000"/>
                </a:solidFill>
              </a:rPr>
              <a:t>    xor (sum,    ab_xor, cin);// sum    = (a ^ b) ^ cin</a:t>
            </a:r>
            <a:endParaRPr sz="1200">
              <a:solidFill>
                <a:srgbClr val="FF0000"/>
              </a:solidFill>
            </a:endParaRPr>
          </a:p>
          <a:p>
            <a:pPr indent="0" lvl="0" marL="0" rtl="0" algn="l">
              <a:spcBef>
                <a:spcPts val="0"/>
              </a:spcBef>
              <a:spcAft>
                <a:spcPts val="0"/>
              </a:spcAft>
              <a:buNone/>
            </a:pPr>
            <a:r>
              <a:t/>
            </a:r>
            <a:endParaRPr sz="1200">
              <a:solidFill>
                <a:srgbClr val="FF0000"/>
              </a:solidFill>
            </a:endParaRPr>
          </a:p>
          <a:p>
            <a:pPr indent="0" lvl="0" marL="0" rtl="0" algn="l">
              <a:spcBef>
                <a:spcPts val="0"/>
              </a:spcBef>
              <a:spcAft>
                <a:spcPts val="0"/>
              </a:spcAft>
              <a:buNone/>
            </a:pPr>
            <a:r>
              <a:rPr lang="en" sz="1200">
                <a:solidFill>
                  <a:srgbClr val="FF0000"/>
                </a:solidFill>
              </a:rPr>
              <a:t>    // AND-OR network for carry out</a:t>
            </a:r>
            <a:endParaRPr sz="1200">
              <a:solidFill>
                <a:srgbClr val="FF0000"/>
              </a:solidFill>
            </a:endParaRPr>
          </a:p>
          <a:p>
            <a:pPr indent="0" lvl="0" marL="0" rtl="0" algn="l">
              <a:spcBef>
                <a:spcPts val="0"/>
              </a:spcBef>
              <a:spcAft>
                <a:spcPts val="0"/>
              </a:spcAft>
              <a:buNone/>
            </a:pPr>
            <a:r>
              <a:rPr lang="en" sz="1200">
                <a:solidFill>
                  <a:srgbClr val="FF0000"/>
                </a:solidFill>
              </a:rPr>
              <a:t>    and (a_and_b,   a, b);    // a&amp;b</a:t>
            </a:r>
            <a:endParaRPr sz="1200">
              <a:solidFill>
                <a:srgbClr val="FF0000"/>
              </a:solidFill>
            </a:endParaRPr>
          </a:p>
          <a:p>
            <a:pPr indent="0" lvl="0" marL="0" rtl="0" algn="l">
              <a:spcBef>
                <a:spcPts val="0"/>
              </a:spcBef>
              <a:spcAft>
                <a:spcPts val="0"/>
              </a:spcAft>
              <a:buNone/>
            </a:pPr>
            <a:r>
              <a:rPr lang="en" sz="1200">
                <a:solidFill>
                  <a:srgbClr val="FF0000"/>
                </a:solidFill>
              </a:rPr>
              <a:t>    and (b_and_cin, b, cin);  // b&amp;cin</a:t>
            </a:r>
            <a:endParaRPr sz="1200">
              <a:solidFill>
                <a:srgbClr val="FF0000"/>
              </a:solidFill>
            </a:endParaRPr>
          </a:p>
          <a:p>
            <a:pPr indent="0" lvl="0" marL="0" rtl="0" algn="l">
              <a:spcBef>
                <a:spcPts val="0"/>
              </a:spcBef>
              <a:spcAft>
                <a:spcPts val="0"/>
              </a:spcAft>
              <a:buNone/>
            </a:pPr>
            <a:r>
              <a:rPr lang="en" sz="1200">
                <a:solidFill>
                  <a:srgbClr val="FF0000"/>
                </a:solidFill>
              </a:rPr>
              <a:t>    and (a_and_cin, a, cin);  // a&amp;cin</a:t>
            </a:r>
            <a:endParaRPr sz="1200">
              <a:solidFill>
                <a:srgbClr val="FF0000"/>
              </a:solidFill>
            </a:endParaRPr>
          </a:p>
          <a:p>
            <a:pPr indent="0" lvl="0" marL="0" rtl="0" algn="l">
              <a:spcBef>
                <a:spcPts val="0"/>
              </a:spcBef>
              <a:spcAft>
                <a:spcPts val="0"/>
              </a:spcAft>
              <a:buNone/>
            </a:pPr>
            <a:r>
              <a:rPr lang="en" sz="1200">
                <a:solidFill>
                  <a:srgbClr val="FF0000"/>
                </a:solidFill>
              </a:rPr>
              <a:t>    or  (cout, a_and_b, b_and_cin, a_and_cin); // cout = a&amp;b | b&amp;cin | a&amp;cin</a:t>
            </a:r>
            <a:endParaRPr sz="1200">
              <a:solidFill>
                <a:srgbClr val="FF0000"/>
              </a:solidFill>
            </a:endParaRPr>
          </a:p>
          <a:p>
            <a:pPr indent="0" lvl="0" marL="0" rtl="0" algn="l">
              <a:spcBef>
                <a:spcPts val="0"/>
              </a:spcBef>
              <a:spcAft>
                <a:spcPts val="0"/>
              </a:spcAft>
              <a:buNone/>
            </a:pPr>
            <a:r>
              <a:rPr lang="en" sz="1200">
                <a:solidFill>
                  <a:srgbClr val="FF0000"/>
                </a:solidFill>
              </a:rPr>
              <a:t>endmodule</a:t>
            </a:r>
            <a:endParaRPr sz="1200">
              <a:solidFill>
                <a:srgbClr val="FF0000"/>
              </a:solidFill>
            </a:endParaRPr>
          </a:p>
        </p:txBody>
      </p:sp>
      <p:sp>
        <p:nvSpPr>
          <p:cNvPr id="418" name="Google Shape;418;p60"/>
          <p:cNvSpPr/>
          <p:nvPr/>
        </p:nvSpPr>
        <p:spPr>
          <a:xfrm>
            <a:off x="1395174" y="2084063"/>
            <a:ext cx="517800" cy="600000"/>
          </a:xfrm>
          <a:prstGeom prst="rightArrow">
            <a:avLst>
              <a:gd fmla="val 33708"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60"/>
          <p:cNvSpPr txBox="1"/>
          <p:nvPr/>
        </p:nvSpPr>
        <p:spPr>
          <a:xfrm>
            <a:off x="1936325" y="1565150"/>
            <a:ext cx="7207800" cy="1076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sum↔(a∧¬b∧¬cin) ∨ (¬a∧b∧¬cin) ∨ (¬a∧¬b∧cin) ∨ (a∧b∧cin)</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rPr lang="en" sz="2000">
                <a:solidFill>
                  <a:schemeClr val="dk1"/>
                </a:solidFill>
              </a:rPr>
              <a:t>cout↔(a∧b) ∨ (cin∧(a∨b))</a:t>
            </a:r>
            <a:endParaRPr sz="2000">
              <a:solidFill>
                <a:schemeClr val="dk1"/>
              </a:solidFill>
            </a:endParaRPr>
          </a:p>
        </p:txBody>
      </p:sp>
      <p:sp>
        <p:nvSpPr>
          <p:cNvPr id="420" name="Google Shape;420;p60"/>
          <p:cNvSpPr txBox="1"/>
          <p:nvPr/>
        </p:nvSpPr>
        <p:spPr>
          <a:xfrm>
            <a:off x="1936325" y="631250"/>
            <a:ext cx="7193400" cy="775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rPr>
              <a:t>Reference verilog is converted to PLF gate-by-gate. # of clauses and tokens for PLF is less than that for CNF</a:t>
            </a:r>
            <a:endParaRPr sz="20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4" name="Shape 424"/>
        <p:cNvGrpSpPr/>
        <p:nvPr/>
      </p:nvGrpSpPr>
      <p:grpSpPr>
        <a:xfrm>
          <a:off x="0" y="0"/>
          <a:ext cx="0" cy="0"/>
          <a:chOff x="0" y="0"/>
          <a:chExt cx="0" cy="0"/>
        </a:xfrm>
      </p:grpSpPr>
      <p:sp>
        <p:nvSpPr>
          <p:cNvPr id="425" name="Google Shape;425;p61"/>
          <p:cNvSpPr txBox="1"/>
          <p:nvPr>
            <p:ph type="title"/>
          </p:nvPr>
        </p:nvSpPr>
        <p:spPr>
          <a:xfrm>
            <a:off x="0" y="-23075"/>
            <a:ext cx="7581900" cy="5550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30"/>
              <a:buFont typeface="Play"/>
              <a:buNone/>
            </a:pPr>
            <a:r>
              <a:rPr lang="en" sz="3030">
                <a:solidFill>
                  <a:schemeClr val="dk1"/>
                </a:solidFill>
                <a:latin typeface="Calibri"/>
                <a:ea typeface="Calibri"/>
                <a:cs typeface="Calibri"/>
                <a:sym typeface="Calibri"/>
              </a:rPr>
              <a:t>Evaluat</a:t>
            </a:r>
            <a:r>
              <a:rPr lang="en" sz="3030">
                <a:latin typeface="Calibri"/>
                <a:ea typeface="Calibri"/>
                <a:cs typeface="Calibri"/>
                <a:sym typeface="Calibri"/>
              </a:rPr>
              <a:t>e</a:t>
            </a:r>
            <a:r>
              <a:rPr lang="en" sz="3030">
                <a:solidFill>
                  <a:schemeClr val="dk1"/>
                </a:solidFill>
                <a:latin typeface="Calibri"/>
                <a:ea typeface="Calibri"/>
                <a:cs typeface="Calibri"/>
                <a:sym typeface="Calibri"/>
              </a:rPr>
              <a:t> </a:t>
            </a:r>
            <a:r>
              <a:rPr lang="en" sz="3030">
                <a:latin typeface="Calibri"/>
                <a:ea typeface="Calibri"/>
                <a:cs typeface="Calibri"/>
                <a:sym typeface="Calibri"/>
              </a:rPr>
              <a:t>G</a:t>
            </a:r>
            <a:r>
              <a:rPr lang="en" sz="3030">
                <a:solidFill>
                  <a:schemeClr val="dk1"/>
                </a:solidFill>
                <a:latin typeface="Calibri"/>
                <a:ea typeface="Calibri"/>
                <a:cs typeface="Calibri"/>
                <a:sym typeface="Calibri"/>
              </a:rPr>
              <a:t>enerated </a:t>
            </a:r>
            <a:r>
              <a:rPr lang="en" sz="3030">
                <a:latin typeface="Calibri"/>
                <a:ea typeface="Calibri"/>
                <a:cs typeface="Calibri"/>
                <a:sym typeface="Calibri"/>
              </a:rPr>
              <a:t>Verilog</a:t>
            </a:r>
            <a:r>
              <a:rPr lang="en" sz="3030">
                <a:solidFill>
                  <a:schemeClr val="dk1"/>
                </a:solidFill>
                <a:latin typeface="Calibri"/>
                <a:ea typeface="Calibri"/>
                <a:cs typeface="Calibri"/>
                <a:sym typeface="Calibri"/>
              </a:rPr>
              <a:t> – </a:t>
            </a:r>
            <a:r>
              <a:rPr i="1" lang="en" sz="3030">
                <a:solidFill>
                  <a:schemeClr val="dk1"/>
                </a:solidFill>
                <a:latin typeface="Calibri"/>
                <a:ea typeface="Calibri"/>
                <a:cs typeface="Calibri"/>
                <a:sym typeface="Calibri"/>
              </a:rPr>
              <a:t>pass@k</a:t>
            </a:r>
            <a:endParaRPr i="1" sz="3030">
              <a:solidFill>
                <a:schemeClr val="dk1"/>
              </a:solidFill>
              <a:latin typeface="Calibri"/>
              <a:ea typeface="Calibri"/>
              <a:cs typeface="Calibri"/>
              <a:sym typeface="Calibri"/>
            </a:endParaRPr>
          </a:p>
        </p:txBody>
      </p:sp>
      <p:pic>
        <p:nvPicPr>
          <p:cNvPr id="426" name="Google Shape;426;p61"/>
          <p:cNvPicPr preferRelativeResize="0"/>
          <p:nvPr>
            <p:ph idx="1" type="body"/>
          </p:nvPr>
        </p:nvPicPr>
        <p:blipFill rotWithShape="1">
          <a:blip r:embed="rId3">
            <a:alphaModFix/>
          </a:blip>
          <a:srcRect b="0" l="0" r="0" t="0"/>
          <a:stretch/>
        </p:blipFill>
        <p:spPr>
          <a:xfrm>
            <a:off x="638756" y="1913931"/>
            <a:ext cx="7866600" cy="1868400"/>
          </a:xfrm>
          <a:prstGeom prst="rect">
            <a:avLst/>
          </a:prstGeom>
          <a:noFill/>
          <a:ln>
            <a:noFill/>
          </a:ln>
        </p:spPr>
      </p:pic>
      <p:pic>
        <p:nvPicPr>
          <p:cNvPr descr="A purple and white sign with white letters" id="427" name="Google Shape;427;p61"/>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txBox="1"/>
          <p:nvPr>
            <p:ph type="title"/>
          </p:nvPr>
        </p:nvSpPr>
        <p:spPr>
          <a:xfrm>
            <a:off x="0" y="0"/>
            <a:ext cx="7027200" cy="6900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sz="3000">
                <a:latin typeface="Calibri"/>
                <a:ea typeface="Calibri"/>
                <a:cs typeface="Calibri"/>
                <a:sym typeface="Calibri"/>
              </a:rPr>
              <a:t>Comparison with SoTA</a:t>
            </a:r>
            <a:endParaRPr sz="3000">
              <a:latin typeface="Calibri"/>
              <a:ea typeface="Calibri"/>
              <a:cs typeface="Calibri"/>
              <a:sym typeface="Calibri"/>
            </a:endParaRPr>
          </a:p>
        </p:txBody>
      </p:sp>
      <p:pic>
        <p:nvPicPr>
          <p:cNvPr id="433" name="Google Shape;433;p62"/>
          <p:cNvPicPr preferRelativeResize="0"/>
          <p:nvPr/>
        </p:nvPicPr>
        <p:blipFill rotWithShape="1">
          <a:blip r:embed="rId3">
            <a:alphaModFix/>
          </a:blip>
          <a:srcRect b="0" l="7970" r="14570" t="10193"/>
          <a:stretch/>
        </p:blipFill>
        <p:spPr>
          <a:xfrm>
            <a:off x="130250" y="1836625"/>
            <a:ext cx="8649025" cy="1940800"/>
          </a:xfrm>
          <a:prstGeom prst="rect">
            <a:avLst/>
          </a:prstGeom>
          <a:noFill/>
          <a:ln>
            <a:noFill/>
          </a:ln>
        </p:spPr>
      </p:pic>
      <p:pic>
        <p:nvPicPr>
          <p:cNvPr descr="A purple and white sign with white letters" id="434" name="Google Shape;434;p62"/>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