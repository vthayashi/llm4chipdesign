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Ramesh Karr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9-27T18:55:43.423">
    <p:pos x="6000" y="0"/>
    <p:text>Can you add 2-3 slides for testbench generation. as a running example  to show that the multiple iterations do improve coverage
One slide should summarize the coverage results
Do the same for bug detection; separate testbench generation and bug detection into two parts of the presentation; you have it. but add more for bug detection (it is limited as it stands.; Thanks for your hlp Jitendra; 
Any related works? point to them. are they open source; then share the open source repo or whatever...</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68f673bfe8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g368f673bfe8_4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68f673bfe8_4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g368f673bfe8_4_42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68f673bfe8_4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g368f673bfe8_4_4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68f673bfe8_4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g368f673bfe8_4_45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68f673bfe8_4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368f673bfe8_4_46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68f673bfe8_4_1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g368f673bfe8_4_14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68f673bfe8_4_1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g368f673bfe8_4_145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68f673bfe8_4_1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68f673bfe8_4_150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68f673bfe8_4_1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68f673bfe8_4_15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68f673bfe8_6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368f673bfe8_6_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68f673bfe8_4_1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g368f673bfe8_4_160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68f673bfe8_4_1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g368f673bfe8_4_163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68f673bfe8_4_1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g368f673bfe8_4_164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68f673bfe8_4_1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368f673bfe8_4_165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68f673bfe8_4_1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g368f673bfe8_4_166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68f673bfe8_4_1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g368f673bfe8_4_167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cbad90669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cbad90669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cbad90669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cbad90669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cbad90669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cbad90669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844ceb08e3_5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844ceb08e3_5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844ceb08e3_5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844ceb08e3_5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844ceb08e3_5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844ceb08e3_5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844ceb08e3_5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844ceb08e3_5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89f5af64b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89f5af64b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89f5af64b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89f5af64b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840498" y="207826"/>
            <a:ext cx="7985302" cy="113930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2800">
                <a:solidFill>
                  <a:srgbClr val="333399"/>
                </a:solidFill>
                <a:latin typeface="Arial"/>
                <a:ea typeface="Arial"/>
                <a:cs typeface="Arial"/>
                <a:sym typeface="Aria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534504" y="1797310"/>
            <a:ext cx="7500620" cy="3244691"/>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1700">
                <a:solidFill>
                  <a:schemeClr val="dk1"/>
                </a:solidFill>
                <a:latin typeface="Arial"/>
                <a:ea typeface="Arial"/>
                <a:cs typeface="Arial"/>
                <a:sym typeface="Arial"/>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56" name="Shape 56"/>
        <p:cNvGrpSpPr/>
        <p:nvPr/>
      </p:nvGrpSpPr>
      <p:grpSpPr>
        <a:xfrm>
          <a:off x="0" y="0"/>
          <a:ext cx="0" cy="0"/>
          <a:chOff x="0" y="0"/>
          <a:chExt cx="0" cy="0"/>
        </a:xfrm>
      </p:grpSpPr>
      <p:sp>
        <p:nvSpPr>
          <p:cNvPr id="57" name="Google Shape;57;p14"/>
          <p:cNvSpPr/>
          <p:nvPr/>
        </p:nvSpPr>
        <p:spPr>
          <a:xfrm>
            <a:off x="63004" y="71276"/>
            <a:ext cx="0" cy="0"/>
          </a:xfrm>
          <a:custGeom>
            <a:rect b="b" l="l" r="r" t="t"/>
            <a:pathLst>
              <a:path extrusionOk="0" h="120000" w="120000">
                <a:moveTo>
                  <a:pt x="0" y="0"/>
                </a:moveTo>
                <a:lnTo>
                  <a:pt x="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8" name="Google Shape;58;p14"/>
          <p:cNvSpPr/>
          <p:nvPr/>
        </p:nvSpPr>
        <p:spPr>
          <a:xfrm>
            <a:off x="63004" y="52111"/>
            <a:ext cx="0" cy="0"/>
          </a:xfrm>
          <a:custGeom>
            <a:rect b="b" l="l" r="r" t="t"/>
            <a:pathLst>
              <a:path extrusionOk="0" h="120000" w="120000">
                <a:moveTo>
                  <a:pt x="0" y="0"/>
                </a:moveTo>
                <a:lnTo>
                  <a:pt x="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9" name="Google Shape;59;p14"/>
          <p:cNvSpPr txBox="1"/>
          <p:nvPr>
            <p:ph type="title"/>
          </p:nvPr>
        </p:nvSpPr>
        <p:spPr>
          <a:xfrm>
            <a:off x="840498" y="207826"/>
            <a:ext cx="7985302" cy="113930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2800">
                <a:solidFill>
                  <a:srgbClr val="333399"/>
                </a:solidFill>
                <a:latin typeface="Arial"/>
                <a:ea typeface="Arial"/>
                <a:cs typeface="Arial"/>
                <a:sym typeface="Aria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0" name="Google Shape;60;p14"/>
          <p:cNvSpPr txBox="1"/>
          <p:nvPr>
            <p:ph idx="1" type="body"/>
          </p:nvPr>
        </p:nvSpPr>
        <p:spPr>
          <a:xfrm>
            <a:off x="623417" y="1782460"/>
            <a:ext cx="3541395" cy="3338988"/>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a:solidFill>
                  <a:schemeClr val="dk1"/>
                </a:solidFill>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61" name="Google Shape;61;p14"/>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62" name="Google Shape;62;p14"/>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4"/>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jp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9.pn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ctrTitle"/>
          </p:nvPr>
        </p:nvSpPr>
        <p:spPr>
          <a:xfrm>
            <a:off x="23924" y="1373850"/>
            <a:ext cx="9144000" cy="744600"/>
          </a:xfrm>
          <a:prstGeom prst="rect">
            <a:avLst/>
          </a:prstGeom>
        </p:spPr>
        <p:txBody>
          <a:bodyPr anchorCtr="0" anchor="b" bIns="91425" lIns="91425" spcFirstLastPara="1" rIns="91425" wrap="square" tIns="91425">
            <a:normAutofit/>
          </a:bodyPr>
          <a:lstStyle/>
          <a:p>
            <a:pPr indent="0" lvl="0" marL="0" rtl="0" algn="ctr">
              <a:lnSpc>
                <a:spcPct val="115000"/>
              </a:lnSpc>
              <a:spcBef>
                <a:spcPts val="0"/>
              </a:spcBef>
              <a:spcAft>
                <a:spcPts val="0"/>
              </a:spcAft>
              <a:buNone/>
            </a:pPr>
            <a:r>
              <a:rPr lang="en" sz="3400">
                <a:highlight>
                  <a:srgbClr val="FFFFFF"/>
                </a:highlight>
              </a:rPr>
              <a:t>LLM-Aided Testbench Generation </a:t>
            </a:r>
            <a:endParaRPr sz="5000"/>
          </a:p>
        </p:txBody>
      </p:sp>
      <p:pic>
        <p:nvPicPr>
          <p:cNvPr descr="A purple and white sign with white letters" id="70" name="Google Shape;70;p15"/>
          <p:cNvPicPr preferRelativeResize="0"/>
          <p:nvPr/>
        </p:nvPicPr>
        <p:blipFill rotWithShape="1">
          <a:blip r:embed="rId4">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4" name="Shape 74"/>
        <p:cNvGrpSpPr/>
        <p:nvPr/>
      </p:nvGrpSpPr>
      <p:grpSpPr>
        <a:xfrm>
          <a:off x="0" y="0"/>
          <a:ext cx="0" cy="0"/>
          <a:chOff x="0" y="0"/>
          <a:chExt cx="0" cy="0"/>
        </a:xfrm>
      </p:grpSpPr>
      <p:sp>
        <p:nvSpPr>
          <p:cNvPr id="75" name="Google Shape;75;p16"/>
          <p:cNvSpPr txBox="1"/>
          <p:nvPr/>
        </p:nvSpPr>
        <p:spPr>
          <a:xfrm>
            <a:off x="213400" y="1899270"/>
            <a:ext cx="8636400" cy="1539900"/>
          </a:xfrm>
          <a:prstGeom prst="rect">
            <a:avLst/>
          </a:prstGeom>
          <a:noFill/>
          <a:ln>
            <a:noFill/>
          </a:ln>
        </p:spPr>
        <p:txBody>
          <a:bodyPr anchorCtr="0" anchor="t" bIns="0" lIns="0" spcFirstLastPara="1" rIns="0" wrap="square" tIns="61575">
            <a:spAutoFit/>
          </a:bodyPr>
          <a:lstStyle/>
          <a:p>
            <a:pPr indent="-381000" lvl="0" marL="457200" rtl="0" algn="l">
              <a:spcBef>
                <a:spcPts val="0"/>
              </a:spcBef>
              <a:spcAft>
                <a:spcPts val="0"/>
              </a:spcAft>
              <a:buClr>
                <a:schemeClr val="dk1"/>
              </a:buClr>
              <a:buSzPts val="2400"/>
              <a:buChar char="●"/>
            </a:pPr>
            <a:r>
              <a:rPr lang="en" sz="2400">
                <a:solidFill>
                  <a:schemeClr val="dk1"/>
                </a:solidFill>
              </a:rPr>
              <a:t>Testing is important</a:t>
            </a:r>
            <a:endParaRPr sz="2400"/>
          </a:p>
          <a:p>
            <a:pPr indent="-381000" lvl="1" marL="914400" rtl="0" algn="l">
              <a:lnSpc>
                <a:spcPct val="100000"/>
              </a:lnSpc>
              <a:spcBef>
                <a:spcPts val="0"/>
              </a:spcBef>
              <a:spcAft>
                <a:spcPts val="0"/>
              </a:spcAft>
              <a:buSzPts val="2400"/>
              <a:buFont typeface="Arial"/>
              <a:buChar char="○"/>
            </a:pPr>
            <a:r>
              <a:rPr lang="en" sz="2400">
                <a:latin typeface="Arial"/>
                <a:ea typeface="Arial"/>
                <a:cs typeface="Arial"/>
                <a:sym typeface="Arial"/>
              </a:rPr>
              <a:t>Pentium FDIV bug</a:t>
            </a:r>
            <a:endParaRPr sz="2400">
              <a:latin typeface="Arial"/>
              <a:ea typeface="Arial"/>
              <a:cs typeface="Arial"/>
              <a:sym typeface="Arial"/>
            </a:endParaRPr>
          </a:p>
          <a:p>
            <a:pPr indent="-381000" lvl="1" marL="914400" rtl="0" algn="l">
              <a:lnSpc>
                <a:spcPct val="100000"/>
              </a:lnSpc>
              <a:spcBef>
                <a:spcPts val="0"/>
              </a:spcBef>
              <a:spcAft>
                <a:spcPts val="0"/>
              </a:spcAft>
              <a:buSzPts val="2400"/>
              <a:buFont typeface="Arial"/>
              <a:buChar char="○"/>
            </a:pPr>
            <a:r>
              <a:rPr lang="en" sz="2400">
                <a:latin typeface="Arial"/>
                <a:ea typeface="Arial"/>
                <a:cs typeface="Arial"/>
                <a:sym typeface="Arial"/>
              </a:rPr>
              <a:t>More test engineers than design engineers</a:t>
            </a:r>
            <a:endParaRPr sz="2400">
              <a:latin typeface="Arial"/>
              <a:ea typeface="Arial"/>
              <a:cs typeface="Arial"/>
              <a:sym typeface="Arial"/>
            </a:endParaRPr>
          </a:p>
          <a:p>
            <a:pPr indent="-381000" lvl="0" marL="457200" marR="5080" rtl="0" algn="l">
              <a:lnSpc>
                <a:spcPct val="107812"/>
              </a:lnSpc>
              <a:spcBef>
                <a:spcPts val="0"/>
              </a:spcBef>
              <a:spcAft>
                <a:spcPts val="0"/>
              </a:spcAft>
              <a:buClr>
                <a:schemeClr val="dk1"/>
              </a:buClr>
              <a:buSzPts val="2400"/>
              <a:buChar char="●"/>
            </a:pPr>
            <a:r>
              <a:rPr lang="en" sz="2400">
                <a:solidFill>
                  <a:schemeClr val="dk1"/>
                </a:solidFill>
              </a:rPr>
              <a:t>Lecture objective: writing testbenches to apply test vectors</a:t>
            </a:r>
            <a:endParaRPr sz="2400"/>
          </a:p>
        </p:txBody>
      </p:sp>
      <p:sp>
        <p:nvSpPr>
          <p:cNvPr id="76" name="Google Shape;76;p16"/>
          <p:cNvSpPr txBox="1"/>
          <p:nvPr/>
        </p:nvSpPr>
        <p:spPr>
          <a:xfrm>
            <a:off x="0" y="9"/>
            <a:ext cx="7691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200">
                <a:solidFill>
                  <a:srgbClr val="333399"/>
                </a:solidFill>
              </a:rPr>
              <a:t>Introduction to Testbenches</a:t>
            </a:r>
            <a:endParaRPr sz="1000"/>
          </a:p>
        </p:txBody>
      </p:sp>
      <p:pic>
        <p:nvPicPr>
          <p:cNvPr descr="A purple and white sign with white letters" id="77" name="Google Shape;77;p16"/>
          <p:cNvPicPr preferRelativeResize="0"/>
          <p:nvPr/>
        </p:nvPicPr>
        <p:blipFill rotWithShape="1">
          <a:blip r:embed="rId3">
            <a:alphaModFix/>
          </a:blip>
          <a:srcRect b="0" l="0" r="0" t="0"/>
          <a:stretch/>
        </p:blipFill>
        <p:spPr>
          <a:xfrm>
            <a:off x="7027076" y="36325"/>
            <a:ext cx="2077847" cy="35029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nvSpPr>
        <p:spPr>
          <a:xfrm>
            <a:off x="0" y="1538125"/>
            <a:ext cx="9045600" cy="2298600"/>
          </a:xfrm>
          <a:prstGeom prst="rect">
            <a:avLst/>
          </a:prstGeom>
          <a:noFill/>
          <a:ln>
            <a:noFill/>
          </a:ln>
        </p:spPr>
        <p:txBody>
          <a:bodyPr anchorCtr="0" anchor="t" bIns="0" lIns="0" spcFirstLastPara="1" rIns="0" wrap="square" tIns="12700">
            <a:spAutoFit/>
          </a:bodyPr>
          <a:lstStyle/>
          <a:p>
            <a:pPr indent="-368300" lvl="0" marL="457200" marR="200660" rtl="0" algn="l">
              <a:lnSpc>
                <a:spcPct val="115000"/>
              </a:lnSpc>
              <a:spcBef>
                <a:spcPts val="0"/>
              </a:spcBef>
              <a:spcAft>
                <a:spcPts val="0"/>
              </a:spcAft>
              <a:buSzPts val="2200"/>
              <a:buFont typeface="Arial"/>
              <a:buChar char="●"/>
            </a:pPr>
            <a:r>
              <a:rPr lang="en" sz="2200">
                <a:latin typeface="Arial"/>
                <a:ea typeface="Arial"/>
                <a:cs typeface="Arial"/>
                <a:sym typeface="Arial"/>
              </a:rPr>
              <a:t>As logic designs become complex, comprehensive, up front verification becomes critical to the success of the design project.</a:t>
            </a:r>
            <a:endParaRPr sz="2200">
              <a:latin typeface="Arial"/>
              <a:ea typeface="Arial"/>
              <a:cs typeface="Arial"/>
              <a:sym typeface="Arial"/>
            </a:endParaRPr>
          </a:p>
          <a:p>
            <a:pPr indent="-368300" lvl="0" marL="457200" marR="5080" rtl="0" algn="l">
              <a:lnSpc>
                <a:spcPct val="115000"/>
              </a:lnSpc>
              <a:spcBef>
                <a:spcPts val="0"/>
              </a:spcBef>
              <a:spcAft>
                <a:spcPts val="0"/>
              </a:spcAft>
              <a:buSzPts val="2200"/>
              <a:buFont typeface="Arial"/>
              <a:buChar char="●"/>
            </a:pPr>
            <a:r>
              <a:rPr lang="en" sz="2200">
                <a:latin typeface="Arial"/>
                <a:ea typeface="Arial"/>
                <a:cs typeface="Arial"/>
                <a:sym typeface="Arial"/>
              </a:rPr>
              <a:t>When simulation is used right at the start of the project, you will have a much easier time with synthesis, and you will spend far less time re-running time-intensive processes, such as FPGA place-and-route tools and other synthesis related software.</a:t>
            </a:r>
            <a:endParaRPr sz="2200">
              <a:latin typeface="Arial"/>
              <a:ea typeface="Arial"/>
              <a:cs typeface="Arial"/>
              <a:sym typeface="Arial"/>
            </a:endParaRPr>
          </a:p>
        </p:txBody>
      </p:sp>
      <p:sp>
        <p:nvSpPr>
          <p:cNvPr id="83" name="Google Shape;83;p17"/>
          <p:cNvSpPr txBox="1"/>
          <p:nvPr/>
        </p:nvSpPr>
        <p:spPr>
          <a:xfrm>
            <a:off x="0" y="9"/>
            <a:ext cx="7691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200">
                <a:solidFill>
                  <a:srgbClr val="333399"/>
                </a:solidFill>
              </a:rPr>
              <a:t>Introduction to Testbenches</a:t>
            </a:r>
            <a:endParaRPr sz="1000"/>
          </a:p>
        </p:txBody>
      </p:sp>
      <p:pic>
        <p:nvPicPr>
          <p:cNvPr descr="A purple and white sign with white letters" id="84" name="Google Shape;84;p17"/>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nvSpPr>
        <p:spPr>
          <a:xfrm>
            <a:off x="20525" y="1372300"/>
            <a:ext cx="5923200" cy="3347700"/>
          </a:xfrm>
          <a:prstGeom prst="rect">
            <a:avLst/>
          </a:prstGeom>
          <a:noFill/>
          <a:ln>
            <a:noFill/>
          </a:ln>
        </p:spPr>
        <p:txBody>
          <a:bodyPr anchorCtr="0" anchor="t" bIns="0" lIns="0" spcFirstLastPara="1" rIns="0" wrap="square" tIns="46975">
            <a:spAutoFit/>
          </a:bodyPr>
          <a:lstStyle/>
          <a:p>
            <a:pPr indent="-355600" lvl="0" marL="457200" marR="71755" rtl="0" algn="l">
              <a:lnSpc>
                <a:spcPct val="108000"/>
              </a:lnSpc>
              <a:spcBef>
                <a:spcPts val="0"/>
              </a:spcBef>
              <a:spcAft>
                <a:spcPts val="0"/>
              </a:spcAft>
              <a:buSzPts val="2000"/>
              <a:buFont typeface="Arial"/>
              <a:buChar char="●"/>
            </a:pPr>
            <a:r>
              <a:rPr lang="en" sz="2000">
                <a:latin typeface="Arial"/>
                <a:ea typeface="Arial"/>
                <a:cs typeface="Arial"/>
                <a:sym typeface="Arial"/>
              </a:rPr>
              <a:t>To </a:t>
            </a:r>
            <a:r>
              <a:rPr lang="en" sz="2000" u="sng">
                <a:latin typeface="Arial"/>
                <a:ea typeface="Arial"/>
                <a:cs typeface="Arial"/>
                <a:sym typeface="Arial"/>
              </a:rPr>
              <a:t>simulate</a:t>
            </a:r>
            <a:r>
              <a:rPr lang="en" sz="2000">
                <a:latin typeface="Arial"/>
                <a:ea typeface="Arial"/>
                <a:cs typeface="Arial"/>
                <a:sym typeface="Arial"/>
              </a:rPr>
              <a:t> your project, you will need to develop an additional </a:t>
            </a:r>
            <a:r>
              <a:rPr lang="en" sz="2000"/>
              <a:t>verilog</a:t>
            </a:r>
            <a:r>
              <a:rPr lang="en" sz="2000">
                <a:latin typeface="Arial"/>
                <a:ea typeface="Arial"/>
                <a:cs typeface="Arial"/>
                <a:sym typeface="Arial"/>
              </a:rPr>
              <a:t> program called a test bench.</a:t>
            </a:r>
            <a:endParaRPr sz="2000">
              <a:latin typeface="Arial"/>
              <a:ea typeface="Arial"/>
              <a:cs typeface="Arial"/>
              <a:sym typeface="Arial"/>
            </a:endParaRPr>
          </a:p>
          <a:p>
            <a:pPr indent="-355600" lvl="0" marL="457200" marR="5080" rtl="0" algn="l">
              <a:lnSpc>
                <a:spcPct val="108000"/>
              </a:lnSpc>
              <a:spcBef>
                <a:spcPts val="0"/>
              </a:spcBef>
              <a:spcAft>
                <a:spcPts val="0"/>
              </a:spcAft>
              <a:buSzPts val="2000"/>
              <a:buFont typeface="Arial"/>
              <a:buChar char="●"/>
            </a:pPr>
            <a:r>
              <a:rPr lang="en" sz="2000">
                <a:latin typeface="Arial"/>
                <a:ea typeface="Arial"/>
                <a:cs typeface="Arial"/>
                <a:sym typeface="Arial"/>
              </a:rPr>
              <a:t>Testbenches emulate a hardware breadboard into which you will “install” your synthesizable design description for the purpose of verification.</a:t>
            </a:r>
            <a:endParaRPr sz="2000">
              <a:latin typeface="Arial"/>
              <a:ea typeface="Arial"/>
              <a:cs typeface="Arial"/>
              <a:sym typeface="Arial"/>
            </a:endParaRPr>
          </a:p>
          <a:p>
            <a:pPr indent="-355600" lvl="0" marL="457200" marR="466090" rtl="0" algn="just">
              <a:lnSpc>
                <a:spcPct val="108000"/>
              </a:lnSpc>
              <a:spcBef>
                <a:spcPts val="0"/>
              </a:spcBef>
              <a:spcAft>
                <a:spcPts val="0"/>
              </a:spcAft>
              <a:buSzPts val="2000"/>
              <a:buFont typeface="Arial"/>
              <a:buChar char="●"/>
            </a:pPr>
            <a:r>
              <a:rPr lang="en" sz="2000">
                <a:latin typeface="Arial"/>
                <a:ea typeface="Arial"/>
                <a:cs typeface="Arial"/>
                <a:sym typeface="Arial"/>
              </a:rPr>
              <a:t>A Testbench can be thought of as a “Virtual Tester” into which you plug your design for verification.</a:t>
            </a:r>
            <a:endParaRPr sz="2000">
              <a:latin typeface="Arial"/>
              <a:ea typeface="Arial"/>
              <a:cs typeface="Arial"/>
              <a:sym typeface="Arial"/>
            </a:endParaRPr>
          </a:p>
        </p:txBody>
      </p:sp>
      <p:grpSp>
        <p:nvGrpSpPr>
          <p:cNvPr id="90" name="Google Shape;90;p18"/>
          <p:cNvGrpSpPr/>
          <p:nvPr/>
        </p:nvGrpSpPr>
        <p:grpSpPr>
          <a:xfrm>
            <a:off x="6858000" y="1771289"/>
            <a:ext cx="1952637" cy="1485908"/>
            <a:chOff x="6858000" y="2361718"/>
            <a:chExt cx="1952637" cy="1981211"/>
          </a:xfrm>
        </p:grpSpPr>
        <p:pic>
          <p:nvPicPr>
            <p:cNvPr id="91" name="Google Shape;91;p18"/>
            <p:cNvPicPr preferRelativeResize="0"/>
            <p:nvPr/>
          </p:nvPicPr>
          <p:blipFill rotWithShape="1">
            <a:blip r:embed="rId3">
              <a:alphaModFix/>
            </a:blip>
            <a:srcRect b="0" l="0" r="0" t="0"/>
            <a:stretch/>
          </p:blipFill>
          <p:spPr>
            <a:xfrm>
              <a:off x="7486651" y="2361718"/>
              <a:ext cx="1323986" cy="1981211"/>
            </a:xfrm>
            <a:prstGeom prst="rect">
              <a:avLst/>
            </a:prstGeom>
            <a:noFill/>
            <a:ln>
              <a:noFill/>
            </a:ln>
          </p:spPr>
        </p:pic>
        <p:sp>
          <p:nvSpPr>
            <p:cNvPr id="92" name="Google Shape;92;p18"/>
            <p:cNvSpPr/>
            <p:nvPr/>
          </p:nvSpPr>
          <p:spPr>
            <a:xfrm>
              <a:off x="6858000" y="2590914"/>
              <a:ext cx="696595" cy="278765"/>
            </a:xfrm>
            <a:custGeom>
              <a:rect b="b" l="l" r="r" t="t"/>
              <a:pathLst>
                <a:path extrusionOk="0" h="278764" w="696595">
                  <a:moveTo>
                    <a:pt x="0" y="0"/>
                  </a:moveTo>
                  <a:lnTo>
                    <a:pt x="696595" y="278282"/>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3" name="Google Shape;93;p18"/>
            <p:cNvSpPr/>
            <p:nvPr/>
          </p:nvSpPr>
          <p:spPr>
            <a:xfrm>
              <a:off x="7535875" y="2832480"/>
              <a:ext cx="84455" cy="70485"/>
            </a:xfrm>
            <a:custGeom>
              <a:rect b="b" l="l" r="r" t="t"/>
              <a:pathLst>
                <a:path extrusionOk="0" h="70485" w="84454">
                  <a:moveTo>
                    <a:pt x="28079" y="0"/>
                  </a:moveTo>
                  <a:lnTo>
                    <a:pt x="0" y="70192"/>
                  </a:lnTo>
                  <a:lnTo>
                    <a:pt x="84239" y="63004"/>
                  </a:lnTo>
                  <a:lnTo>
                    <a:pt x="28079"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94" name="Google Shape;94;p18"/>
          <p:cNvGrpSpPr/>
          <p:nvPr/>
        </p:nvGrpSpPr>
        <p:grpSpPr>
          <a:xfrm>
            <a:off x="5943599" y="1771469"/>
            <a:ext cx="838200" cy="457200"/>
            <a:chOff x="5943599" y="2361958"/>
            <a:chExt cx="838200" cy="609600"/>
          </a:xfrm>
        </p:grpSpPr>
        <p:sp>
          <p:nvSpPr>
            <p:cNvPr id="95" name="Google Shape;95;p18"/>
            <p:cNvSpPr/>
            <p:nvPr/>
          </p:nvSpPr>
          <p:spPr>
            <a:xfrm>
              <a:off x="5943599" y="2361958"/>
              <a:ext cx="838200" cy="609600"/>
            </a:xfrm>
            <a:custGeom>
              <a:rect b="b" l="l" r="r" t="t"/>
              <a:pathLst>
                <a:path extrusionOk="0" h="609600" w="838200">
                  <a:moveTo>
                    <a:pt x="838085" y="0"/>
                  </a:moveTo>
                  <a:lnTo>
                    <a:pt x="0" y="0"/>
                  </a:lnTo>
                  <a:lnTo>
                    <a:pt x="0" y="609485"/>
                  </a:lnTo>
                  <a:lnTo>
                    <a:pt x="419036" y="609485"/>
                  </a:lnTo>
                  <a:lnTo>
                    <a:pt x="838085" y="609485"/>
                  </a:lnTo>
                  <a:lnTo>
                    <a:pt x="838085" y="0"/>
                  </a:lnTo>
                  <a:close/>
                </a:path>
              </a:pathLst>
            </a:custGeom>
            <a:solidFill>
              <a:srgbClr val="00E3A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6" name="Google Shape;96;p18"/>
            <p:cNvSpPr/>
            <p:nvPr/>
          </p:nvSpPr>
          <p:spPr>
            <a:xfrm>
              <a:off x="5943599" y="2361958"/>
              <a:ext cx="838200" cy="609600"/>
            </a:xfrm>
            <a:custGeom>
              <a:rect b="b" l="l" r="r" t="t"/>
              <a:pathLst>
                <a:path extrusionOk="0" h="609600" w="838200">
                  <a:moveTo>
                    <a:pt x="419036" y="609485"/>
                  </a:moveTo>
                  <a:lnTo>
                    <a:pt x="0" y="609485"/>
                  </a:lnTo>
                  <a:lnTo>
                    <a:pt x="0" y="0"/>
                  </a:lnTo>
                  <a:lnTo>
                    <a:pt x="838085" y="0"/>
                  </a:lnTo>
                  <a:lnTo>
                    <a:pt x="838085" y="609485"/>
                  </a:lnTo>
                  <a:lnTo>
                    <a:pt x="419036" y="609485"/>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97" name="Google Shape;97;p18"/>
          <p:cNvSpPr txBox="1"/>
          <p:nvPr/>
        </p:nvSpPr>
        <p:spPr>
          <a:xfrm>
            <a:off x="6096863" y="1854012"/>
            <a:ext cx="489584" cy="22479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sz="1800">
                <a:latin typeface="Arial"/>
                <a:ea typeface="Arial"/>
                <a:cs typeface="Arial"/>
                <a:sym typeface="Arial"/>
              </a:rPr>
              <a:t>RC5</a:t>
            </a:r>
            <a:endParaRPr sz="1800">
              <a:latin typeface="Arial"/>
              <a:ea typeface="Arial"/>
              <a:cs typeface="Arial"/>
              <a:sym typeface="Arial"/>
            </a:endParaRPr>
          </a:p>
        </p:txBody>
      </p:sp>
      <p:grpSp>
        <p:nvGrpSpPr>
          <p:cNvPr id="98" name="Google Shape;98;p18"/>
          <p:cNvGrpSpPr/>
          <p:nvPr/>
        </p:nvGrpSpPr>
        <p:grpSpPr>
          <a:xfrm>
            <a:off x="8269554" y="3373107"/>
            <a:ext cx="76200" cy="685857"/>
            <a:chOff x="8269554" y="4497476"/>
            <a:chExt cx="76200" cy="914476"/>
          </a:xfrm>
        </p:grpSpPr>
        <p:sp>
          <p:nvSpPr>
            <p:cNvPr id="99" name="Google Shape;99;p18"/>
            <p:cNvSpPr/>
            <p:nvPr/>
          </p:nvSpPr>
          <p:spPr>
            <a:xfrm>
              <a:off x="8305914" y="4568037"/>
              <a:ext cx="1905" cy="843915"/>
            </a:xfrm>
            <a:custGeom>
              <a:rect b="b" l="l" r="r" t="t"/>
              <a:pathLst>
                <a:path extrusionOk="0" h="843914" w="1904">
                  <a:moveTo>
                    <a:pt x="0" y="843838"/>
                  </a:moveTo>
                  <a:lnTo>
                    <a:pt x="1447"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0" name="Google Shape;100;p18"/>
            <p:cNvSpPr/>
            <p:nvPr/>
          </p:nvSpPr>
          <p:spPr>
            <a:xfrm>
              <a:off x="8269554" y="4497476"/>
              <a:ext cx="76200" cy="76200"/>
            </a:xfrm>
            <a:custGeom>
              <a:rect b="b" l="l" r="r" t="t"/>
              <a:pathLst>
                <a:path extrusionOk="0" h="76200" w="76200">
                  <a:moveTo>
                    <a:pt x="37807" y="0"/>
                  </a:moveTo>
                  <a:lnTo>
                    <a:pt x="0" y="75603"/>
                  </a:lnTo>
                  <a:lnTo>
                    <a:pt x="75603" y="75603"/>
                  </a:lnTo>
                  <a:lnTo>
                    <a:pt x="37807"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01" name="Google Shape;101;p18"/>
          <p:cNvSpPr txBox="1"/>
          <p:nvPr/>
        </p:nvSpPr>
        <p:spPr>
          <a:xfrm>
            <a:off x="7544422" y="4254312"/>
            <a:ext cx="1214120" cy="22479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sz="1800">
                <a:latin typeface="Arial"/>
                <a:ea typeface="Arial"/>
                <a:cs typeface="Arial"/>
                <a:sym typeface="Arial"/>
              </a:rPr>
              <a:t>Testbench</a:t>
            </a:r>
            <a:endParaRPr sz="1800">
              <a:latin typeface="Arial"/>
              <a:ea typeface="Arial"/>
              <a:cs typeface="Arial"/>
              <a:sym typeface="Arial"/>
            </a:endParaRPr>
          </a:p>
        </p:txBody>
      </p:sp>
      <p:grpSp>
        <p:nvGrpSpPr>
          <p:cNvPr id="102" name="Google Shape;102;p18"/>
          <p:cNvGrpSpPr/>
          <p:nvPr/>
        </p:nvGrpSpPr>
        <p:grpSpPr>
          <a:xfrm>
            <a:off x="6440754" y="2401109"/>
            <a:ext cx="76200" cy="1657883"/>
            <a:chOff x="6440754" y="3201479"/>
            <a:chExt cx="76200" cy="2210511"/>
          </a:xfrm>
        </p:grpSpPr>
        <p:sp>
          <p:nvSpPr>
            <p:cNvPr id="103" name="Google Shape;103;p18"/>
            <p:cNvSpPr/>
            <p:nvPr/>
          </p:nvSpPr>
          <p:spPr>
            <a:xfrm>
              <a:off x="6477114" y="3272040"/>
              <a:ext cx="1905" cy="2139950"/>
            </a:xfrm>
            <a:custGeom>
              <a:rect b="b" l="l" r="r" t="t"/>
              <a:pathLst>
                <a:path extrusionOk="0" h="2139950" w="1904">
                  <a:moveTo>
                    <a:pt x="0" y="2139480"/>
                  </a:moveTo>
                  <a:lnTo>
                    <a:pt x="1447"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4" name="Google Shape;104;p18"/>
            <p:cNvSpPr/>
            <p:nvPr/>
          </p:nvSpPr>
          <p:spPr>
            <a:xfrm>
              <a:off x="6440754" y="3201479"/>
              <a:ext cx="76200" cy="76200"/>
            </a:xfrm>
            <a:custGeom>
              <a:rect b="b" l="l" r="r" t="t"/>
              <a:pathLst>
                <a:path extrusionOk="0" h="76200" w="76200">
                  <a:moveTo>
                    <a:pt x="37807" y="0"/>
                  </a:moveTo>
                  <a:lnTo>
                    <a:pt x="0" y="75603"/>
                  </a:lnTo>
                  <a:lnTo>
                    <a:pt x="75603" y="75603"/>
                  </a:lnTo>
                  <a:lnTo>
                    <a:pt x="37807"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05" name="Google Shape;105;p18"/>
          <p:cNvSpPr txBox="1"/>
          <p:nvPr/>
        </p:nvSpPr>
        <p:spPr>
          <a:xfrm>
            <a:off x="5868619" y="4140107"/>
            <a:ext cx="1256030" cy="43053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 sz="1800">
                <a:latin typeface="Arial"/>
                <a:ea typeface="Arial"/>
                <a:cs typeface="Arial"/>
                <a:sym typeface="Arial"/>
              </a:rPr>
              <a:t>Unit Under Test (UUT)</a:t>
            </a:r>
            <a:endParaRPr sz="1800">
              <a:latin typeface="Arial"/>
              <a:ea typeface="Arial"/>
              <a:cs typeface="Arial"/>
              <a:sym typeface="Arial"/>
            </a:endParaRPr>
          </a:p>
        </p:txBody>
      </p:sp>
      <p:sp>
        <p:nvSpPr>
          <p:cNvPr id="106" name="Google Shape;106;p18"/>
          <p:cNvSpPr txBox="1"/>
          <p:nvPr/>
        </p:nvSpPr>
        <p:spPr>
          <a:xfrm>
            <a:off x="0" y="9"/>
            <a:ext cx="7691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200">
                <a:solidFill>
                  <a:srgbClr val="333399"/>
                </a:solidFill>
              </a:rPr>
              <a:t>Introduction to Testbenches</a:t>
            </a:r>
            <a:endParaRPr sz="1000"/>
          </a:p>
        </p:txBody>
      </p:sp>
      <p:pic>
        <p:nvPicPr>
          <p:cNvPr descr="A purple and white sign with white letters" id="107" name="Google Shape;107;p18"/>
          <p:cNvPicPr preferRelativeResize="0"/>
          <p:nvPr/>
        </p:nvPicPr>
        <p:blipFill rotWithShape="1">
          <a:blip r:embed="rId4">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nvSpPr>
        <p:spPr>
          <a:xfrm>
            <a:off x="503851" y="1618400"/>
            <a:ext cx="8571600" cy="1490400"/>
          </a:xfrm>
          <a:prstGeom prst="rect">
            <a:avLst/>
          </a:prstGeom>
          <a:noFill/>
          <a:ln>
            <a:noFill/>
          </a:ln>
        </p:spPr>
        <p:txBody>
          <a:bodyPr anchorCtr="0" anchor="t" bIns="0" lIns="0" spcFirstLastPara="1" rIns="0" wrap="square" tIns="12700">
            <a:spAutoFit/>
          </a:bodyPr>
          <a:lstStyle/>
          <a:p>
            <a:pPr indent="-381000" lvl="0" marL="457200" marR="5080" rtl="0" algn="just">
              <a:lnSpc>
                <a:spcPct val="100000"/>
              </a:lnSpc>
              <a:spcBef>
                <a:spcPts val="0"/>
              </a:spcBef>
              <a:spcAft>
                <a:spcPts val="0"/>
              </a:spcAft>
              <a:buSzPts val="2400"/>
              <a:buFont typeface="Arial"/>
              <a:buChar char="●"/>
            </a:pPr>
            <a:r>
              <a:rPr lang="en" sz="2400">
                <a:latin typeface="Arial"/>
                <a:ea typeface="Arial"/>
                <a:cs typeface="Arial"/>
                <a:sym typeface="Arial"/>
              </a:rPr>
              <a:t>Can be simple– applying a sequence of inputs to the circuit over time.</a:t>
            </a:r>
            <a:endParaRPr sz="2400">
              <a:latin typeface="Arial"/>
              <a:ea typeface="Arial"/>
              <a:cs typeface="Arial"/>
              <a:sym typeface="Arial"/>
            </a:endParaRPr>
          </a:p>
          <a:p>
            <a:pPr indent="-381000" lvl="0" marL="457200" marR="303530" rtl="0" algn="just">
              <a:lnSpc>
                <a:spcPct val="100000"/>
              </a:lnSpc>
              <a:spcBef>
                <a:spcPts val="0"/>
              </a:spcBef>
              <a:spcAft>
                <a:spcPts val="0"/>
              </a:spcAft>
              <a:buSzPts val="2400"/>
              <a:buFont typeface="Arial"/>
              <a:buChar char="●"/>
            </a:pPr>
            <a:r>
              <a:rPr lang="en" sz="2400">
                <a:latin typeface="Arial"/>
                <a:ea typeface="Arial"/>
                <a:cs typeface="Arial"/>
                <a:sym typeface="Arial"/>
              </a:rPr>
              <a:t>Can be complex– reading test data from a disk file and writing test results to a screen and to a report file.</a:t>
            </a:r>
            <a:endParaRPr sz="2400">
              <a:latin typeface="Arial"/>
              <a:ea typeface="Arial"/>
              <a:cs typeface="Arial"/>
              <a:sym typeface="Arial"/>
            </a:endParaRPr>
          </a:p>
        </p:txBody>
      </p:sp>
      <p:sp>
        <p:nvSpPr>
          <p:cNvPr id="113" name="Google Shape;113;p19"/>
          <p:cNvSpPr txBox="1"/>
          <p:nvPr/>
        </p:nvSpPr>
        <p:spPr>
          <a:xfrm>
            <a:off x="0" y="9"/>
            <a:ext cx="7691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200">
                <a:solidFill>
                  <a:srgbClr val="333399"/>
                </a:solidFill>
              </a:rPr>
              <a:t>Introduction to Testbenches</a:t>
            </a:r>
            <a:endParaRPr sz="1000"/>
          </a:p>
        </p:txBody>
      </p:sp>
      <p:pic>
        <p:nvPicPr>
          <p:cNvPr descr="A purple and white sign with white letters" id="114" name="Google Shape;114;p19"/>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nvSpPr>
        <p:spPr>
          <a:xfrm>
            <a:off x="421825" y="1004250"/>
            <a:ext cx="8352900" cy="382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sz="2400"/>
              <a:t>A successful Testbench should be able to automatically: </a:t>
            </a:r>
            <a:endParaRPr sz="2400"/>
          </a:p>
        </p:txBody>
      </p:sp>
      <p:sp>
        <p:nvSpPr>
          <p:cNvPr id="120" name="Google Shape;120;p20"/>
          <p:cNvSpPr txBox="1"/>
          <p:nvPr/>
        </p:nvSpPr>
        <p:spPr>
          <a:xfrm>
            <a:off x="102665" y="2009094"/>
            <a:ext cx="8942100" cy="1860000"/>
          </a:xfrm>
          <a:prstGeom prst="rect">
            <a:avLst/>
          </a:prstGeom>
          <a:noFill/>
          <a:ln>
            <a:noFill/>
          </a:ln>
        </p:spPr>
        <p:txBody>
          <a:bodyPr anchorCtr="0" anchor="t" bIns="0" lIns="0" spcFirstLastPara="1" rIns="0" wrap="square" tIns="12700">
            <a:spAutoFit/>
          </a:bodyPr>
          <a:lstStyle/>
          <a:p>
            <a:pPr indent="-381000" lvl="0" marL="457200" marR="5080" rtl="0" algn="l">
              <a:lnSpc>
                <a:spcPct val="100000"/>
              </a:lnSpc>
              <a:spcBef>
                <a:spcPts val="0"/>
              </a:spcBef>
              <a:spcAft>
                <a:spcPts val="0"/>
              </a:spcAft>
              <a:buSzPts val="2400"/>
              <a:buChar char="●"/>
            </a:pPr>
            <a:r>
              <a:rPr lang="en" sz="2400"/>
              <a:t>Read input stimulus (test vectors) from an input file and apply it to the unit under test.</a:t>
            </a:r>
            <a:endParaRPr sz="2400"/>
          </a:p>
          <a:p>
            <a:pPr indent="-381000" lvl="0" marL="457200" marR="144780" rtl="0" algn="l">
              <a:lnSpc>
                <a:spcPct val="100000"/>
              </a:lnSpc>
              <a:spcBef>
                <a:spcPts val="0"/>
              </a:spcBef>
              <a:spcAft>
                <a:spcPts val="0"/>
              </a:spcAft>
              <a:buSzPts val="2400"/>
              <a:buChar char="●"/>
            </a:pPr>
            <a:r>
              <a:rPr lang="en" sz="2400"/>
              <a:t>Compare the outputs from the unit under test with a file that contains the expected results.</a:t>
            </a:r>
            <a:endParaRPr sz="2400"/>
          </a:p>
          <a:p>
            <a:pPr indent="-381000" lvl="0" marL="457200" rtl="0" algn="l">
              <a:lnSpc>
                <a:spcPct val="100000"/>
              </a:lnSpc>
              <a:spcBef>
                <a:spcPts val="0"/>
              </a:spcBef>
              <a:spcAft>
                <a:spcPts val="0"/>
              </a:spcAft>
              <a:buSzPts val="2400"/>
              <a:buChar char="●"/>
            </a:pPr>
            <a:r>
              <a:rPr lang="en" sz="2400"/>
              <a:t>Display to the user all errors so that they can be fixed.</a:t>
            </a:r>
            <a:endParaRPr sz="2400"/>
          </a:p>
        </p:txBody>
      </p:sp>
      <p:sp>
        <p:nvSpPr>
          <p:cNvPr id="121" name="Google Shape;121;p20"/>
          <p:cNvSpPr txBox="1"/>
          <p:nvPr>
            <p:ph type="title"/>
          </p:nvPr>
        </p:nvSpPr>
        <p:spPr>
          <a:xfrm>
            <a:off x="0" y="0"/>
            <a:ext cx="5040900" cy="5055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 sz="3200"/>
              <a:t>Successf</a:t>
            </a:r>
            <a:r>
              <a:rPr lang="en" sz="3200"/>
              <a:t>ul</a:t>
            </a:r>
            <a:r>
              <a:rPr lang="en" sz="3200"/>
              <a:t> Testbench</a:t>
            </a:r>
            <a:endParaRPr sz="3200"/>
          </a:p>
        </p:txBody>
      </p:sp>
      <p:pic>
        <p:nvPicPr>
          <p:cNvPr descr="A purple and white sign with white letters" id="122" name="Google Shape;122;p20"/>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6" name="Shape 126"/>
        <p:cNvGrpSpPr/>
        <p:nvPr/>
      </p:nvGrpSpPr>
      <p:grpSpPr>
        <a:xfrm>
          <a:off x="0" y="0"/>
          <a:ext cx="0" cy="0"/>
          <a:chOff x="0" y="0"/>
          <a:chExt cx="0" cy="0"/>
        </a:xfrm>
      </p:grpSpPr>
      <p:grpSp>
        <p:nvGrpSpPr>
          <p:cNvPr id="127" name="Google Shape;127;p21"/>
          <p:cNvGrpSpPr/>
          <p:nvPr/>
        </p:nvGrpSpPr>
        <p:grpSpPr>
          <a:xfrm>
            <a:off x="63004" y="52111"/>
            <a:ext cx="0" cy="19165"/>
            <a:chOff x="63004" y="69481"/>
            <a:chExt cx="0" cy="25553"/>
          </a:xfrm>
        </p:grpSpPr>
        <p:sp>
          <p:nvSpPr>
            <p:cNvPr id="128" name="Google Shape;128;p21"/>
            <p:cNvSpPr/>
            <p:nvPr/>
          </p:nvSpPr>
          <p:spPr>
            <a:xfrm>
              <a:off x="63004" y="95034"/>
              <a:ext cx="0" cy="0"/>
            </a:xfrm>
            <a:custGeom>
              <a:rect b="b" l="l" r="r" t="t"/>
              <a:pathLst>
                <a:path extrusionOk="0" h="120000" w="120000">
                  <a:moveTo>
                    <a:pt x="0" y="0"/>
                  </a:moveTo>
                  <a:lnTo>
                    <a:pt x="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9" name="Google Shape;129;p21"/>
            <p:cNvSpPr/>
            <p:nvPr/>
          </p:nvSpPr>
          <p:spPr>
            <a:xfrm>
              <a:off x="63004" y="69481"/>
              <a:ext cx="0" cy="0"/>
            </a:xfrm>
            <a:custGeom>
              <a:rect b="b" l="l" r="r" t="t"/>
              <a:pathLst>
                <a:path extrusionOk="0" h="120000" w="120000">
                  <a:moveTo>
                    <a:pt x="0" y="0"/>
                  </a:moveTo>
                  <a:lnTo>
                    <a:pt x="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30" name="Google Shape;130;p21"/>
          <p:cNvSpPr txBox="1"/>
          <p:nvPr/>
        </p:nvSpPr>
        <p:spPr>
          <a:xfrm>
            <a:off x="693026" y="1353730"/>
            <a:ext cx="7545600" cy="2506500"/>
          </a:xfrm>
          <a:prstGeom prst="rect">
            <a:avLst/>
          </a:prstGeom>
          <a:noFill/>
          <a:ln>
            <a:noFill/>
          </a:ln>
        </p:spPr>
        <p:txBody>
          <a:bodyPr anchorCtr="0" anchor="t" bIns="0" lIns="0" spcFirstLastPara="1" rIns="0" wrap="square" tIns="12700">
            <a:spAutoFit/>
          </a:bodyPr>
          <a:lstStyle/>
          <a:p>
            <a:pPr indent="-381000" lvl="0" marL="457200" rtl="0" algn="l">
              <a:lnSpc>
                <a:spcPct val="115000"/>
              </a:lnSpc>
              <a:spcBef>
                <a:spcPts val="0"/>
              </a:spcBef>
              <a:spcAft>
                <a:spcPts val="0"/>
              </a:spcAft>
              <a:buClr>
                <a:srgbClr val="022FAE"/>
              </a:buClr>
              <a:buSzPts val="2400"/>
              <a:buFont typeface="Arial"/>
              <a:buChar char="●"/>
            </a:pPr>
            <a:r>
              <a:rPr lang="en" sz="2400">
                <a:solidFill>
                  <a:srgbClr val="022FAE"/>
                </a:solidFill>
                <a:latin typeface="Arial"/>
                <a:ea typeface="Arial"/>
                <a:cs typeface="Arial"/>
                <a:sym typeface="Arial"/>
              </a:rPr>
              <a:t>Create module with no ports</a:t>
            </a:r>
            <a:endParaRPr sz="2400">
              <a:latin typeface="Arial"/>
              <a:ea typeface="Arial"/>
              <a:cs typeface="Arial"/>
              <a:sym typeface="Arial"/>
            </a:endParaRPr>
          </a:p>
          <a:p>
            <a:pPr indent="-381000" lvl="0" marL="457200" rtl="0" algn="l">
              <a:lnSpc>
                <a:spcPct val="115000"/>
              </a:lnSpc>
              <a:spcBef>
                <a:spcPts val="0"/>
              </a:spcBef>
              <a:spcAft>
                <a:spcPts val="0"/>
              </a:spcAft>
              <a:buClr>
                <a:srgbClr val="022FAE"/>
              </a:buClr>
              <a:buSzPts val="2400"/>
              <a:buFont typeface="Arial"/>
              <a:buChar char="●"/>
            </a:pPr>
            <a:r>
              <a:rPr lang="en" sz="2400">
                <a:solidFill>
                  <a:srgbClr val="022FAE"/>
                </a:solidFill>
                <a:latin typeface="Arial"/>
                <a:ea typeface="Arial"/>
                <a:cs typeface="Arial"/>
                <a:sym typeface="Arial"/>
              </a:rPr>
              <a:t>Define regs for inputs to Design Under Test (DUT),</a:t>
            </a:r>
            <a:endParaRPr sz="2400">
              <a:latin typeface="Arial"/>
              <a:ea typeface="Arial"/>
              <a:cs typeface="Arial"/>
              <a:sym typeface="Arial"/>
            </a:endParaRPr>
          </a:p>
          <a:p>
            <a:pPr indent="-381000" lvl="0" marL="457200" rtl="0" algn="l">
              <a:lnSpc>
                <a:spcPct val="115000"/>
              </a:lnSpc>
              <a:spcBef>
                <a:spcPts val="0"/>
              </a:spcBef>
              <a:spcAft>
                <a:spcPts val="0"/>
              </a:spcAft>
              <a:buClr>
                <a:srgbClr val="022FAE"/>
              </a:buClr>
              <a:buSzPts val="2400"/>
              <a:buFont typeface="Arial"/>
              <a:buChar char="●"/>
            </a:pPr>
            <a:r>
              <a:rPr lang="en" sz="2400">
                <a:solidFill>
                  <a:srgbClr val="022FAE"/>
                </a:solidFill>
                <a:latin typeface="Arial"/>
                <a:ea typeface="Arial"/>
                <a:cs typeface="Arial"/>
                <a:sym typeface="Arial"/>
              </a:rPr>
              <a:t>Define wires for outputs</a:t>
            </a:r>
            <a:endParaRPr sz="2400">
              <a:latin typeface="Arial"/>
              <a:ea typeface="Arial"/>
              <a:cs typeface="Arial"/>
              <a:sym typeface="Arial"/>
            </a:endParaRPr>
          </a:p>
          <a:p>
            <a:pPr indent="-381000" lvl="0" marL="457200" rtl="0" algn="l">
              <a:lnSpc>
                <a:spcPct val="115000"/>
              </a:lnSpc>
              <a:spcBef>
                <a:spcPts val="0"/>
              </a:spcBef>
              <a:spcAft>
                <a:spcPts val="0"/>
              </a:spcAft>
              <a:buClr>
                <a:srgbClr val="022FAE"/>
              </a:buClr>
              <a:buSzPts val="2400"/>
              <a:buFont typeface="Arial"/>
              <a:buChar char="●"/>
            </a:pPr>
            <a:r>
              <a:rPr lang="en" sz="2400">
                <a:solidFill>
                  <a:srgbClr val="022FAE"/>
                </a:solidFill>
                <a:latin typeface="Arial"/>
                <a:ea typeface="Arial"/>
                <a:cs typeface="Arial"/>
                <a:sym typeface="Arial"/>
              </a:rPr>
              <a:t>Define instance of DUT</a:t>
            </a:r>
            <a:endParaRPr sz="2400">
              <a:latin typeface="Arial"/>
              <a:ea typeface="Arial"/>
              <a:cs typeface="Arial"/>
              <a:sym typeface="Arial"/>
            </a:endParaRPr>
          </a:p>
          <a:p>
            <a:pPr indent="-381000" lvl="0" marL="457200" rtl="0" algn="l">
              <a:lnSpc>
                <a:spcPct val="115000"/>
              </a:lnSpc>
              <a:spcBef>
                <a:spcPts val="0"/>
              </a:spcBef>
              <a:spcAft>
                <a:spcPts val="0"/>
              </a:spcAft>
              <a:buClr>
                <a:srgbClr val="022FAE"/>
              </a:buClr>
              <a:buSzPts val="2400"/>
              <a:buFont typeface="Arial"/>
              <a:buChar char="●"/>
            </a:pPr>
            <a:r>
              <a:rPr lang="en" sz="2400">
                <a:solidFill>
                  <a:srgbClr val="022FAE"/>
                </a:solidFill>
                <a:latin typeface="Arial"/>
                <a:ea typeface="Arial"/>
                <a:cs typeface="Arial"/>
                <a:sym typeface="Arial"/>
              </a:rPr>
              <a:t>Create an initial block which defines input traces</a:t>
            </a:r>
            <a:endParaRPr sz="2400">
              <a:latin typeface="Arial"/>
              <a:ea typeface="Arial"/>
              <a:cs typeface="Arial"/>
              <a:sym typeface="Arial"/>
            </a:endParaRPr>
          </a:p>
          <a:p>
            <a:pPr indent="-381000" lvl="0" marL="457200" rtl="0" algn="l">
              <a:lnSpc>
                <a:spcPct val="115000"/>
              </a:lnSpc>
              <a:spcBef>
                <a:spcPts val="0"/>
              </a:spcBef>
              <a:spcAft>
                <a:spcPts val="0"/>
              </a:spcAft>
              <a:buClr>
                <a:srgbClr val="022FAE"/>
              </a:buClr>
              <a:buSzPts val="2400"/>
              <a:buFont typeface="Arial"/>
              <a:buChar char="●"/>
            </a:pPr>
            <a:r>
              <a:rPr lang="en" sz="2400">
                <a:solidFill>
                  <a:srgbClr val="022FAE"/>
                </a:solidFill>
                <a:latin typeface="Arial"/>
                <a:ea typeface="Arial"/>
                <a:cs typeface="Arial"/>
                <a:sym typeface="Arial"/>
              </a:rPr>
              <a:t>Simulate and check outputs are correct</a:t>
            </a:r>
            <a:endParaRPr sz="2400">
              <a:latin typeface="Arial"/>
              <a:ea typeface="Arial"/>
              <a:cs typeface="Arial"/>
              <a:sym typeface="Arial"/>
            </a:endParaRPr>
          </a:p>
        </p:txBody>
      </p:sp>
      <p:sp>
        <p:nvSpPr>
          <p:cNvPr id="131" name="Google Shape;131;p21"/>
          <p:cNvSpPr txBox="1"/>
          <p:nvPr/>
        </p:nvSpPr>
        <p:spPr>
          <a:xfrm>
            <a:off x="63000" y="52100"/>
            <a:ext cx="8493600" cy="677100"/>
          </a:xfrm>
          <a:prstGeom prst="rect">
            <a:avLst/>
          </a:prstGeom>
          <a:noFill/>
          <a:ln>
            <a:noFill/>
          </a:ln>
        </p:spPr>
        <p:txBody>
          <a:bodyPr anchorCtr="0" anchor="t" bIns="91425" lIns="91425" spcFirstLastPara="1" rIns="91425" wrap="square" tIns="91425">
            <a:spAutoFit/>
          </a:bodyPr>
          <a:lstStyle/>
          <a:p>
            <a:pPr indent="0" lvl="0" marL="12700" rtl="0" algn="l">
              <a:spcBef>
                <a:spcPts val="0"/>
              </a:spcBef>
              <a:spcAft>
                <a:spcPts val="0"/>
              </a:spcAft>
              <a:buNone/>
            </a:pPr>
            <a:r>
              <a:rPr lang="en" sz="3200">
                <a:solidFill>
                  <a:srgbClr val="022FAE"/>
                </a:solidFill>
              </a:rPr>
              <a:t>P</a:t>
            </a:r>
            <a:r>
              <a:rPr lang="en" sz="3200">
                <a:solidFill>
                  <a:srgbClr val="022FAE"/>
                </a:solidFill>
              </a:rPr>
              <a:t>rimer on verilog Testbenches</a:t>
            </a:r>
            <a:endParaRPr sz="3200">
              <a:solidFill>
                <a:srgbClr val="333399"/>
              </a:solidFill>
            </a:endParaRPr>
          </a:p>
        </p:txBody>
      </p:sp>
      <p:pic>
        <p:nvPicPr>
          <p:cNvPr descr="A purple and white sign with white letters" id="132" name="Google Shape;132;p21"/>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6" name="Shape 136"/>
        <p:cNvGrpSpPr/>
        <p:nvPr/>
      </p:nvGrpSpPr>
      <p:grpSpPr>
        <a:xfrm>
          <a:off x="0" y="0"/>
          <a:ext cx="0" cy="0"/>
          <a:chOff x="0" y="0"/>
          <a:chExt cx="0" cy="0"/>
        </a:xfrm>
      </p:grpSpPr>
      <p:grpSp>
        <p:nvGrpSpPr>
          <p:cNvPr id="137" name="Google Shape;137;p22"/>
          <p:cNvGrpSpPr/>
          <p:nvPr/>
        </p:nvGrpSpPr>
        <p:grpSpPr>
          <a:xfrm>
            <a:off x="63004" y="52111"/>
            <a:ext cx="0" cy="19165"/>
            <a:chOff x="63004" y="69481"/>
            <a:chExt cx="0" cy="25553"/>
          </a:xfrm>
        </p:grpSpPr>
        <p:sp>
          <p:nvSpPr>
            <p:cNvPr id="138" name="Google Shape;138;p22"/>
            <p:cNvSpPr/>
            <p:nvPr/>
          </p:nvSpPr>
          <p:spPr>
            <a:xfrm>
              <a:off x="63004" y="95034"/>
              <a:ext cx="0" cy="0"/>
            </a:xfrm>
            <a:custGeom>
              <a:rect b="b" l="l" r="r" t="t"/>
              <a:pathLst>
                <a:path extrusionOk="0" h="120000" w="120000">
                  <a:moveTo>
                    <a:pt x="0" y="0"/>
                  </a:moveTo>
                  <a:lnTo>
                    <a:pt x="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9" name="Google Shape;139;p22"/>
            <p:cNvSpPr/>
            <p:nvPr/>
          </p:nvSpPr>
          <p:spPr>
            <a:xfrm>
              <a:off x="63004" y="69481"/>
              <a:ext cx="0" cy="0"/>
            </a:xfrm>
            <a:custGeom>
              <a:rect b="b" l="l" r="r" t="t"/>
              <a:pathLst>
                <a:path extrusionOk="0" h="120000" w="120000">
                  <a:moveTo>
                    <a:pt x="0" y="0"/>
                  </a:moveTo>
                  <a:lnTo>
                    <a:pt x="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40" name="Google Shape;140;p22"/>
          <p:cNvSpPr txBox="1"/>
          <p:nvPr>
            <p:ph type="title"/>
          </p:nvPr>
        </p:nvSpPr>
        <p:spPr>
          <a:xfrm>
            <a:off x="29290" y="3705"/>
            <a:ext cx="8667900" cy="505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sz="3200">
                <a:solidFill>
                  <a:srgbClr val="022FAE"/>
                </a:solidFill>
              </a:rPr>
              <a:t>Testbenches for verilog example (or_and)</a:t>
            </a:r>
            <a:endParaRPr sz="3200"/>
          </a:p>
        </p:txBody>
      </p:sp>
      <p:sp>
        <p:nvSpPr>
          <p:cNvPr id="141" name="Google Shape;141;p22"/>
          <p:cNvSpPr txBox="1"/>
          <p:nvPr/>
        </p:nvSpPr>
        <p:spPr>
          <a:xfrm>
            <a:off x="122290" y="1088300"/>
            <a:ext cx="3038700" cy="2522400"/>
          </a:xfrm>
          <a:prstGeom prst="rect">
            <a:avLst/>
          </a:prstGeom>
          <a:noFill/>
          <a:ln>
            <a:noFill/>
          </a:ln>
        </p:spPr>
        <p:txBody>
          <a:bodyPr anchorCtr="0" anchor="t" bIns="0" lIns="0" spcFirstLastPara="1" rIns="0" wrap="square" tIns="9525">
            <a:spAutoFit/>
          </a:bodyPr>
          <a:lstStyle/>
          <a:p>
            <a:pPr indent="-457200" lvl="0" marL="469900" marR="5080" rtl="0" algn="l">
              <a:lnSpc>
                <a:spcPct val="100800"/>
              </a:lnSpc>
              <a:spcBef>
                <a:spcPts val="0"/>
              </a:spcBef>
              <a:spcAft>
                <a:spcPts val="0"/>
              </a:spcAft>
              <a:buNone/>
            </a:pPr>
            <a:r>
              <a:rPr lang="en" sz="1800">
                <a:solidFill>
                  <a:srgbClr val="022FAE"/>
                </a:solidFill>
                <a:latin typeface="Arial"/>
                <a:ea typeface="Arial"/>
                <a:cs typeface="Arial"/>
                <a:sym typeface="Arial"/>
              </a:rPr>
              <a:t>module or_and (</a:t>
            </a:r>
            <a:endParaRPr sz="1800">
              <a:solidFill>
                <a:srgbClr val="022FAE"/>
              </a:solidFill>
              <a:latin typeface="Arial"/>
              <a:ea typeface="Arial"/>
              <a:cs typeface="Arial"/>
              <a:sym typeface="Arial"/>
            </a:endParaRPr>
          </a:p>
          <a:p>
            <a:pPr indent="-457200" lvl="0" marL="469900" marR="5080" rtl="0" algn="l">
              <a:lnSpc>
                <a:spcPct val="100800"/>
              </a:lnSpc>
              <a:spcBef>
                <a:spcPts val="0"/>
              </a:spcBef>
              <a:spcAft>
                <a:spcPts val="0"/>
              </a:spcAft>
              <a:buNone/>
            </a:pPr>
            <a:r>
              <a:rPr lang="en" sz="1800">
                <a:solidFill>
                  <a:srgbClr val="022FAE"/>
                </a:solidFill>
                <a:latin typeface="Arial"/>
                <a:ea typeface="Arial"/>
                <a:cs typeface="Arial"/>
                <a:sym typeface="Arial"/>
              </a:rPr>
              <a:t>input</a:t>
            </a:r>
            <a:r>
              <a:rPr lang="en" sz="1800">
                <a:solidFill>
                  <a:srgbClr val="022FAE"/>
                </a:solidFill>
              </a:rPr>
              <a:t> </a:t>
            </a:r>
            <a:r>
              <a:rPr lang="en" sz="1800">
                <a:solidFill>
                  <a:srgbClr val="022FAE"/>
                </a:solidFill>
                <a:latin typeface="Arial"/>
                <a:ea typeface="Arial"/>
                <a:cs typeface="Arial"/>
                <a:sym typeface="Arial"/>
              </a:rPr>
              <a:t>wire a,b,c, </a:t>
            </a:r>
            <a:endParaRPr sz="1800">
              <a:solidFill>
                <a:srgbClr val="022FAE"/>
              </a:solidFill>
              <a:latin typeface="Arial"/>
              <a:ea typeface="Arial"/>
              <a:cs typeface="Arial"/>
              <a:sym typeface="Arial"/>
            </a:endParaRPr>
          </a:p>
          <a:p>
            <a:pPr indent="-457200" lvl="0" marL="469900" marR="5080" rtl="0" algn="l">
              <a:lnSpc>
                <a:spcPct val="100800"/>
              </a:lnSpc>
              <a:spcBef>
                <a:spcPts val="0"/>
              </a:spcBef>
              <a:spcAft>
                <a:spcPts val="0"/>
              </a:spcAft>
              <a:buNone/>
            </a:pPr>
            <a:r>
              <a:rPr lang="en" sz="1800">
                <a:solidFill>
                  <a:srgbClr val="022FAE"/>
                </a:solidFill>
                <a:latin typeface="Arial"/>
                <a:ea typeface="Arial"/>
                <a:cs typeface="Arial"/>
                <a:sym typeface="Arial"/>
              </a:rPr>
              <a:t>output wire o</a:t>
            </a:r>
            <a:endParaRPr sz="1800">
              <a:latin typeface="Arial"/>
              <a:ea typeface="Arial"/>
              <a:cs typeface="Arial"/>
              <a:sym typeface="Arial"/>
            </a:endParaRPr>
          </a:p>
          <a:p>
            <a:pPr indent="0" lvl="0" marL="12700" rtl="0" algn="l">
              <a:lnSpc>
                <a:spcPct val="100000"/>
              </a:lnSpc>
              <a:spcBef>
                <a:spcPts val="25"/>
              </a:spcBef>
              <a:spcAft>
                <a:spcPts val="0"/>
              </a:spcAft>
              <a:buNone/>
            </a:pPr>
            <a:r>
              <a:rPr lang="en" sz="1800">
                <a:solidFill>
                  <a:srgbClr val="022FAE"/>
                </a:solidFill>
                <a:latin typeface="Arial"/>
                <a:ea typeface="Arial"/>
                <a:cs typeface="Arial"/>
                <a:sym typeface="Arial"/>
              </a:rPr>
              <a:t>);</a:t>
            </a:r>
            <a:endParaRPr sz="1800">
              <a:latin typeface="Arial"/>
              <a:ea typeface="Arial"/>
              <a:cs typeface="Arial"/>
              <a:sym typeface="Arial"/>
            </a:endParaRPr>
          </a:p>
          <a:p>
            <a:pPr indent="0" lvl="0" marL="12700" rtl="0" algn="l">
              <a:lnSpc>
                <a:spcPct val="100000"/>
              </a:lnSpc>
              <a:spcBef>
                <a:spcPts val="20"/>
              </a:spcBef>
              <a:spcAft>
                <a:spcPts val="0"/>
              </a:spcAft>
              <a:buNone/>
            </a:pPr>
            <a:r>
              <a:rPr lang="en" sz="1800">
                <a:solidFill>
                  <a:srgbClr val="022FAE"/>
                </a:solidFill>
                <a:latin typeface="Arial"/>
                <a:ea typeface="Arial"/>
                <a:cs typeface="Arial"/>
                <a:sym typeface="Arial"/>
              </a:rPr>
              <a:t>wire d;</a:t>
            </a:r>
            <a:endParaRPr sz="1800">
              <a:solidFill>
                <a:srgbClr val="022FAE"/>
              </a:solidFill>
              <a:latin typeface="Arial"/>
              <a:ea typeface="Arial"/>
              <a:cs typeface="Arial"/>
              <a:sym typeface="Arial"/>
            </a:endParaRPr>
          </a:p>
          <a:p>
            <a:pPr indent="0" lvl="0" marL="12700" marR="5080" rtl="0" algn="l">
              <a:lnSpc>
                <a:spcPct val="100800"/>
              </a:lnSpc>
              <a:spcBef>
                <a:spcPts val="0"/>
              </a:spcBef>
              <a:spcAft>
                <a:spcPts val="0"/>
              </a:spcAft>
              <a:buNone/>
            </a:pPr>
            <a:r>
              <a:rPr lang="en" sz="1800">
                <a:solidFill>
                  <a:srgbClr val="022FAE"/>
                </a:solidFill>
              </a:rPr>
              <a:t>assign d = a | b; </a:t>
            </a:r>
            <a:endParaRPr sz="1800">
              <a:solidFill>
                <a:srgbClr val="022FAE"/>
              </a:solidFill>
            </a:endParaRPr>
          </a:p>
          <a:p>
            <a:pPr indent="0" lvl="0" marL="12700" marR="5080" rtl="0" algn="l">
              <a:lnSpc>
                <a:spcPct val="100800"/>
              </a:lnSpc>
              <a:spcBef>
                <a:spcPts val="0"/>
              </a:spcBef>
              <a:spcAft>
                <a:spcPts val="0"/>
              </a:spcAft>
              <a:buClr>
                <a:schemeClr val="dk1"/>
              </a:buClr>
              <a:buFont typeface="Arial"/>
              <a:buNone/>
            </a:pPr>
            <a:r>
              <a:rPr lang="en" sz="1800">
                <a:solidFill>
                  <a:srgbClr val="022FAE"/>
                </a:solidFill>
              </a:rPr>
              <a:t>assign o = d &amp; c;</a:t>
            </a:r>
            <a:endParaRPr sz="1800">
              <a:solidFill>
                <a:srgbClr val="022FAE"/>
              </a:solidFill>
            </a:endParaRPr>
          </a:p>
          <a:p>
            <a:pPr indent="0" lvl="0" marL="12700" marR="5080" rtl="0" algn="l">
              <a:lnSpc>
                <a:spcPct val="100800"/>
              </a:lnSpc>
              <a:spcBef>
                <a:spcPts val="0"/>
              </a:spcBef>
              <a:spcAft>
                <a:spcPts val="0"/>
              </a:spcAft>
              <a:buClr>
                <a:schemeClr val="dk1"/>
              </a:buClr>
              <a:buFont typeface="Arial"/>
              <a:buNone/>
            </a:pPr>
            <a:r>
              <a:t/>
            </a:r>
            <a:endParaRPr sz="1800">
              <a:solidFill>
                <a:srgbClr val="022FAE"/>
              </a:solidFill>
            </a:endParaRPr>
          </a:p>
          <a:p>
            <a:pPr indent="0" lvl="0" marL="12700" rtl="0" algn="l">
              <a:spcBef>
                <a:spcPts val="0"/>
              </a:spcBef>
              <a:spcAft>
                <a:spcPts val="0"/>
              </a:spcAft>
              <a:buClr>
                <a:schemeClr val="dk1"/>
              </a:buClr>
              <a:buFont typeface="Arial"/>
              <a:buNone/>
            </a:pPr>
            <a:r>
              <a:rPr lang="en" sz="1800">
                <a:solidFill>
                  <a:srgbClr val="022FAE"/>
                </a:solidFill>
              </a:rPr>
              <a:t>endmodule</a:t>
            </a:r>
            <a:endParaRPr sz="1800">
              <a:solidFill>
                <a:srgbClr val="022FAE"/>
              </a:solidFill>
            </a:endParaRPr>
          </a:p>
        </p:txBody>
      </p:sp>
      <p:sp>
        <p:nvSpPr>
          <p:cNvPr id="142" name="Google Shape;142;p22"/>
          <p:cNvSpPr txBox="1"/>
          <p:nvPr/>
        </p:nvSpPr>
        <p:spPr>
          <a:xfrm>
            <a:off x="100229" y="2767720"/>
            <a:ext cx="2630100" cy="378900"/>
          </a:xfrm>
          <a:prstGeom prst="rect">
            <a:avLst/>
          </a:prstGeom>
          <a:noFill/>
          <a:ln>
            <a:noFill/>
          </a:ln>
        </p:spPr>
        <p:txBody>
          <a:bodyPr anchorCtr="0" anchor="t" bIns="0" lIns="0" spcFirstLastPara="1" rIns="0" wrap="square" tIns="9525">
            <a:spAutoFit/>
          </a:bodyPr>
          <a:lstStyle/>
          <a:p>
            <a:pPr indent="0" lvl="0" marL="12700" rtl="0" algn="l">
              <a:spcBef>
                <a:spcPts val="0"/>
              </a:spcBef>
              <a:spcAft>
                <a:spcPts val="0"/>
              </a:spcAft>
              <a:buClr>
                <a:schemeClr val="dk1"/>
              </a:buClr>
              <a:buFont typeface="Arial"/>
              <a:buNone/>
            </a:pPr>
            <a:r>
              <a:t/>
            </a:r>
            <a:endParaRPr sz="2400">
              <a:solidFill>
                <a:srgbClr val="022FAE"/>
              </a:solidFill>
            </a:endParaRPr>
          </a:p>
        </p:txBody>
      </p:sp>
      <p:sp>
        <p:nvSpPr>
          <p:cNvPr id="143" name="Google Shape;143;p22"/>
          <p:cNvSpPr txBox="1"/>
          <p:nvPr/>
        </p:nvSpPr>
        <p:spPr>
          <a:xfrm>
            <a:off x="377426" y="4521118"/>
            <a:ext cx="1741200" cy="382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t/>
            </a:r>
            <a:endParaRPr sz="2400">
              <a:latin typeface="Arial"/>
              <a:ea typeface="Arial"/>
              <a:cs typeface="Arial"/>
              <a:sym typeface="Arial"/>
            </a:endParaRPr>
          </a:p>
        </p:txBody>
      </p:sp>
      <p:sp>
        <p:nvSpPr>
          <p:cNvPr id="144" name="Google Shape;144;p22"/>
          <p:cNvSpPr txBox="1"/>
          <p:nvPr/>
        </p:nvSpPr>
        <p:spPr>
          <a:xfrm>
            <a:off x="3798275" y="481046"/>
            <a:ext cx="2627100" cy="566400"/>
          </a:xfrm>
          <a:prstGeom prst="rect">
            <a:avLst/>
          </a:prstGeom>
          <a:noFill/>
          <a:ln>
            <a:noFill/>
          </a:ln>
        </p:spPr>
        <p:txBody>
          <a:bodyPr anchorCtr="0" anchor="t" bIns="0" lIns="0" spcFirstLastPara="1" rIns="0" wrap="square" tIns="9525">
            <a:spAutoFit/>
          </a:bodyPr>
          <a:lstStyle/>
          <a:p>
            <a:pPr indent="0" lvl="0" marL="12700" marR="5080" rtl="0" algn="l">
              <a:lnSpc>
                <a:spcPct val="101000"/>
              </a:lnSpc>
              <a:spcBef>
                <a:spcPts val="0"/>
              </a:spcBef>
              <a:spcAft>
                <a:spcPts val="0"/>
              </a:spcAft>
              <a:buNone/>
            </a:pPr>
            <a:r>
              <a:rPr lang="en" sz="1800">
                <a:solidFill>
                  <a:srgbClr val="022FAE"/>
                </a:solidFill>
                <a:latin typeface="Arial"/>
                <a:ea typeface="Arial"/>
                <a:cs typeface="Arial"/>
                <a:sym typeface="Arial"/>
              </a:rPr>
              <a:t>module test_or_and; </a:t>
            </a:r>
            <a:endParaRPr sz="1800">
              <a:solidFill>
                <a:srgbClr val="022FAE"/>
              </a:solidFill>
              <a:latin typeface="Arial"/>
              <a:ea typeface="Arial"/>
              <a:cs typeface="Arial"/>
              <a:sym typeface="Arial"/>
            </a:endParaRPr>
          </a:p>
          <a:p>
            <a:pPr indent="0" lvl="0" marL="12700" marR="5080" rtl="0" algn="l">
              <a:lnSpc>
                <a:spcPct val="101000"/>
              </a:lnSpc>
              <a:spcBef>
                <a:spcPts val="0"/>
              </a:spcBef>
              <a:spcAft>
                <a:spcPts val="0"/>
              </a:spcAft>
              <a:buNone/>
            </a:pPr>
            <a:r>
              <a:rPr lang="en" sz="1800">
                <a:solidFill>
                  <a:srgbClr val="022FAE"/>
                </a:solidFill>
                <a:latin typeface="Arial"/>
                <a:ea typeface="Arial"/>
                <a:cs typeface="Arial"/>
                <a:sym typeface="Arial"/>
              </a:rPr>
              <a:t>reg a,b,c;</a:t>
            </a:r>
            <a:endParaRPr sz="1800">
              <a:latin typeface="Arial"/>
              <a:ea typeface="Arial"/>
              <a:cs typeface="Arial"/>
              <a:sym typeface="Arial"/>
            </a:endParaRPr>
          </a:p>
        </p:txBody>
      </p:sp>
      <p:sp>
        <p:nvSpPr>
          <p:cNvPr id="145" name="Google Shape;145;p22"/>
          <p:cNvSpPr txBox="1"/>
          <p:nvPr/>
        </p:nvSpPr>
        <p:spPr>
          <a:xfrm>
            <a:off x="3808531" y="1035163"/>
            <a:ext cx="887700" cy="289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sz="1800">
                <a:solidFill>
                  <a:srgbClr val="022FAE"/>
                </a:solidFill>
                <a:latin typeface="Arial"/>
                <a:ea typeface="Arial"/>
                <a:cs typeface="Arial"/>
                <a:sym typeface="Arial"/>
              </a:rPr>
              <a:t>wire o;</a:t>
            </a:r>
            <a:endParaRPr sz="1800">
              <a:latin typeface="Arial"/>
              <a:ea typeface="Arial"/>
              <a:cs typeface="Arial"/>
              <a:sym typeface="Arial"/>
            </a:endParaRPr>
          </a:p>
        </p:txBody>
      </p:sp>
      <p:sp>
        <p:nvSpPr>
          <p:cNvPr id="146" name="Google Shape;146;p22"/>
          <p:cNvSpPr txBox="1"/>
          <p:nvPr/>
        </p:nvSpPr>
        <p:spPr>
          <a:xfrm>
            <a:off x="3798265" y="1332596"/>
            <a:ext cx="1463700" cy="289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sz="1800">
                <a:solidFill>
                  <a:srgbClr val="022FAE"/>
                </a:solidFill>
                <a:latin typeface="Arial"/>
                <a:ea typeface="Arial"/>
                <a:cs typeface="Arial"/>
                <a:sym typeface="Arial"/>
              </a:rPr>
              <a:t>or_and oa (</a:t>
            </a:r>
            <a:endParaRPr sz="1800">
              <a:latin typeface="Arial"/>
              <a:ea typeface="Arial"/>
              <a:cs typeface="Arial"/>
              <a:sym typeface="Arial"/>
            </a:endParaRPr>
          </a:p>
        </p:txBody>
      </p:sp>
      <p:sp>
        <p:nvSpPr>
          <p:cNvPr id="147" name="Google Shape;147;p22"/>
          <p:cNvSpPr txBox="1"/>
          <p:nvPr/>
        </p:nvSpPr>
        <p:spPr>
          <a:xfrm>
            <a:off x="4922785" y="1306782"/>
            <a:ext cx="2849100" cy="320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sz="2000">
                <a:solidFill>
                  <a:srgbClr val="022FAE"/>
                </a:solidFill>
                <a:latin typeface="Arial"/>
                <a:ea typeface="Arial"/>
                <a:cs typeface="Arial"/>
                <a:sym typeface="Arial"/>
              </a:rPr>
              <a:t>.</a:t>
            </a:r>
            <a:r>
              <a:rPr lang="en" sz="1800">
                <a:solidFill>
                  <a:srgbClr val="022FAE"/>
                </a:solidFill>
                <a:latin typeface="Arial"/>
                <a:ea typeface="Arial"/>
                <a:cs typeface="Arial"/>
                <a:sym typeface="Arial"/>
              </a:rPr>
              <a:t>a(a), .b(b), .c(c), .o(o)</a:t>
            </a:r>
            <a:endParaRPr sz="1800">
              <a:latin typeface="Arial"/>
              <a:ea typeface="Arial"/>
              <a:cs typeface="Arial"/>
              <a:sym typeface="Arial"/>
            </a:endParaRPr>
          </a:p>
        </p:txBody>
      </p:sp>
      <p:sp>
        <p:nvSpPr>
          <p:cNvPr id="148" name="Google Shape;148;p22"/>
          <p:cNvSpPr txBox="1"/>
          <p:nvPr/>
        </p:nvSpPr>
        <p:spPr>
          <a:xfrm>
            <a:off x="3798265" y="1722426"/>
            <a:ext cx="210300" cy="2898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lang="en" sz="1800">
                <a:solidFill>
                  <a:srgbClr val="022FAE"/>
                </a:solidFill>
                <a:latin typeface="Arial"/>
                <a:ea typeface="Arial"/>
                <a:cs typeface="Arial"/>
                <a:sym typeface="Arial"/>
              </a:rPr>
              <a:t>);</a:t>
            </a:r>
            <a:endParaRPr sz="1800">
              <a:latin typeface="Arial"/>
              <a:ea typeface="Arial"/>
              <a:cs typeface="Arial"/>
              <a:sym typeface="Arial"/>
            </a:endParaRPr>
          </a:p>
        </p:txBody>
      </p:sp>
      <p:sp>
        <p:nvSpPr>
          <p:cNvPr id="149" name="Google Shape;149;p22"/>
          <p:cNvSpPr txBox="1"/>
          <p:nvPr/>
        </p:nvSpPr>
        <p:spPr>
          <a:xfrm>
            <a:off x="3726400" y="2030134"/>
            <a:ext cx="4161300" cy="11301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sz="1800">
                <a:solidFill>
                  <a:srgbClr val="022FAE"/>
                </a:solidFill>
                <a:latin typeface="Arial"/>
                <a:ea typeface="Arial"/>
                <a:cs typeface="Arial"/>
                <a:sym typeface="Arial"/>
              </a:rPr>
              <a:t>initial begin: TEST_BLOCK</a:t>
            </a:r>
            <a:endParaRPr sz="1800">
              <a:latin typeface="Arial"/>
              <a:ea typeface="Arial"/>
              <a:cs typeface="Arial"/>
              <a:sym typeface="Arial"/>
            </a:endParaRPr>
          </a:p>
          <a:p>
            <a:pPr indent="0" lvl="0" marL="469900" rtl="0" algn="l">
              <a:lnSpc>
                <a:spcPct val="100000"/>
              </a:lnSpc>
              <a:spcBef>
                <a:spcPts val="25"/>
              </a:spcBef>
              <a:spcAft>
                <a:spcPts val="0"/>
              </a:spcAft>
              <a:buNone/>
            </a:pPr>
            <a:r>
              <a:rPr lang="en" sz="1800">
                <a:solidFill>
                  <a:srgbClr val="022FAE"/>
                </a:solidFill>
                <a:latin typeface="Arial"/>
                <a:ea typeface="Arial"/>
                <a:cs typeface="Arial"/>
                <a:sym typeface="Arial"/>
              </a:rPr>
              <a:t>a &lt;= 0;</a:t>
            </a:r>
            <a:endParaRPr sz="1800">
              <a:latin typeface="Arial"/>
              <a:ea typeface="Arial"/>
              <a:cs typeface="Arial"/>
              <a:sym typeface="Arial"/>
            </a:endParaRPr>
          </a:p>
          <a:p>
            <a:pPr indent="0" lvl="0" marL="469900" rtl="0" algn="l">
              <a:lnSpc>
                <a:spcPct val="100000"/>
              </a:lnSpc>
              <a:spcBef>
                <a:spcPts val="20"/>
              </a:spcBef>
              <a:spcAft>
                <a:spcPts val="0"/>
              </a:spcAft>
              <a:buNone/>
            </a:pPr>
            <a:r>
              <a:rPr lang="en" sz="1800">
                <a:solidFill>
                  <a:srgbClr val="022FAE"/>
                </a:solidFill>
                <a:latin typeface="Arial"/>
                <a:ea typeface="Arial"/>
                <a:cs typeface="Arial"/>
                <a:sym typeface="Arial"/>
              </a:rPr>
              <a:t>b &lt;= 0; //correct output o=0</a:t>
            </a:r>
            <a:endParaRPr sz="1800">
              <a:latin typeface="Arial"/>
              <a:ea typeface="Arial"/>
              <a:cs typeface="Arial"/>
              <a:sym typeface="Arial"/>
            </a:endParaRPr>
          </a:p>
          <a:p>
            <a:pPr indent="0" lvl="0" marL="469900" rtl="0" algn="l">
              <a:lnSpc>
                <a:spcPct val="100000"/>
              </a:lnSpc>
              <a:spcBef>
                <a:spcPts val="25"/>
              </a:spcBef>
              <a:spcAft>
                <a:spcPts val="0"/>
              </a:spcAft>
              <a:buNone/>
            </a:pPr>
            <a:r>
              <a:rPr lang="en" sz="1800">
                <a:solidFill>
                  <a:srgbClr val="022FAE"/>
                </a:solidFill>
                <a:latin typeface="Arial"/>
                <a:ea typeface="Arial"/>
                <a:cs typeface="Arial"/>
                <a:sym typeface="Arial"/>
              </a:rPr>
              <a:t>c &lt;= 0;</a:t>
            </a:r>
            <a:endParaRPr sz="1800">
              <a:latin typeface="Arial"/>
              <a:ea typeface="Arial"/>
              <a:cs typeface="Arial"/>
              <a:sym typeface="Arial"/>
            </a:endParaRPr>
          </a:p>
        </p:txBody>
      </p:sp>
      <p:sp>
        <p:nvSpPr>
          <p:cNvPr id="150" name="Google Shape;150;p22"/>
          <p:cNvSpPr txBox="1"/>
          <p:nvPr/>
        </p:nvSpPr>
        <p:spPr>
          <a:xfrm>
            <a:off x="3747250" y="3143772"/>
            <a:ext cx="3907800" cy="2247900"/>
          </a:xfrm>
          <a:prstGeom prst="rect">
            <a:avLst/>
          </a:prstGeom>
          <a:noFill/>
          <a:ln>
            <a:noFill/>
          </a:ln>
        </p:spPr>
        <p:txBody>
          <a:bodyPr anchorCtr="0" anchor="t" bIns="0" lIns="0" spcFirstLastPara="1" rIns="0" wrap="square" tIns="12700">
            <a:spAutoFit/>
          </a:bodyPr>
          <a:lstStyle/>
          <a:p>
            <a:pPr indent="444500" lvl="0" marL="12700" rtl="0" algn="l">
              <a:lnSpc>
                <a:spcPct val="100000"/>
              </a:lnSpc>
              <a:spcBef>
                <a:spcPts val="0"/>
              </a:spcBef>
              <a:spcAft>
                <a:spcPts val="0"/>
              </a:spcAft>
              <a:buNone/>
            </a:pPr>
            <a:r>
              <a:rPr lang="en" sz="1800">
                <a:solidFill>
                  <a:srgbClr val="022FAE"/>
                </a:solidFill>
                <a:latin typeface="Arial"/>
                <a:ea typeface="Arial"/>
                <a:cs typeface="Arial"/>
                <a:sym typeface="Arial"/>
              </a:rPr>
              <a:t>#10;</a:t>
            </a:r>
            <a:endParaRPr sz="1800">
              <a:latin typeface="Arial"/>
              <a:ea typeface="Arial"/>
              <a:cs typeface="Arial"/>
              <a:sym typeface="Arial"/>
            </a:endParaRPr>
          </a:p>
          <a:p>
            <a:pPr indent="444500" lvl="0" marL="12700" rtl="0" algn="l">
              <a:lnSpc>
                <a:spcPct val="100000"/>
              </a:lnSpc>
              <a:spcBef>
                <a:spcPts val="25"/>
              </a:spcBef>
              <a:spcAft>
                <a:spcPts val="0"/>
              </a:spcAft>
              <a:buNone/>
            </a:pPr>
            <a:r>
              <a:rPr lang="en" sz="1800">
                <a:solidFill>
                  <a:srgbClr val="022FAE"/>
                </a:solidFill>
                <a:latin typeface="Arial"/>
                <a:ea typeface="Arial"/>
                <a:cs typeface="Arial"/>
                <a:sym typeface="Arial"/>
              </a:rPr>
              <a:t>a &lt;= 1;</a:t>
            </a:r>
            <a:endParaRPr sz="1800">
              <a:solidFill>
                <a:srgbClr val="022FAE"/>
              </a:solidFill>
              <a:latin typeface="Arial"/>
              <a:ea typeface="Arial"/>
              <a:cs typeface="Arial"/>
              <a:sym typeface="Arial"/>
            </a:endParaRPr>
          </a:p>
          <a:p>
            <a:pPr indent="444500" lvl="0" marL="12700" rtl="0" algn="l">
              <a:spcBef>
                <a:spcPts val="0"/>
              </a:spcBef>
              <a:spcAft>
                <a:spcPts val="0"/>
              </a:spcAft>
              <a:buClr>
                <a:schemeClr val="dk1"/>
              </a:buClr>
              <a:buFont typeface="Arial"/>
              <a:buNone/>
            </a:pPr>
            <a:r>
              <a:rPr lang="en" sz="1800">
                <a:solidFill>
                  <a:srgbClr val="022FAE"/>
                </a:solidFill>
              </a:rPr>
              <a:t>b &lt;= 0; //correct output o=0</a:t>
            </a:r>
            <a:endParaRPr sz="1800">
              <a:solidFill>
                <a:schemeClr val="dk1"/>
              </a:solidFill>
            </a:endParaRPr>
          </a:p>
          <a:p>
            <a:pPr indent="444500" lvl="0" marL="12700" rtl="0" algn="l">
              <a:spcBef>
                <a:spcPts val="25"/>
              </a:spcBef>
              <a:spcAft>
                <a:spcPts val="0"/>
              </a:spcAft>
              <a:buNone/>
            </a:pPr>
            <a:r>
              <a:rPr lang="en" sz="1800">
                <a:solidFill>
                  <a:srgbClr val="022FAE"/>
                </a:solidFill>
              </a:rPr>
              <a:t>c &lt;= 0;</a:t>
            </a:r>
            <a:endParaRPr sz="1800">
              <a:solidFill>
                <a:srgbClr val="022FAE"/>
              </a:solidFill>
            </a:endParaRPr>
          </a:p>
          <a:p>
            <a:pPr indent="444500" lvl="0" marL="12700" rtl="0" algn="l">
              <a:spcBef>
                <a:spcPts val="20"/>
              </a:spcBef>
              <a:spcAft>
                <a:spcPts val="0"/>
              </a:spcAft>
              <a:buNone/>
            </a:pPr>
            <a:r>
              <a:rPr lang="en" sz="1800">
                <a:solidFill>
                  <a:srgbClr val="022FAE"/>
                </a:solidFill>
              </a:rPr>
              <a:t>#10;</a:t>
            </a:r>
            <a:endParaRPr sz="1800">
              <a:solidFill>
                <a:srgbClr val="022FAE"/>
              </a:solidFill>
            </a:endParaRPr>
          </a:p>
          <a:p>
            <a:pPr indent="444500" lvl="0" marL="12700" rtl="0" algn="l">
              <a:spcBef>
                <a:spcPts val="25"/>
              </a:spcBef>
              <a:spcAft>
                <a:spcPts val="0"/>
              </a:spcAft>
              <a:buNone/>
            </a:pPr>
            <a:r>
              <a:rPr lang="en" sz="1800">
                <a:solidFill>
                  <a:srgbClr val="022FAE"/>
                </a:solidFill>
              </a:rPr>
              <a:t>//etc: do all 8 possibilities</a:t>
            </a:r>
            <a:endParaRPr sz="1800">
              <a:solidFill>
                <a:srgbClr val="022FAE"/>
              </a:solidFill>
            </a:endParaRPr>
          </a:p>
          <a:p>
            <a:pPr indent="0" lvl="0" marL="12700" rtl="0" algn="l">
              <a:spcBef>
                <a:spcPts val="25"/>
              </a:spcBef>
              <a:spcAft>
                <a:spcPts val="0"/>
              </a:spcAft>
              <a:buNone/>
            </a:pPr>
            <a:r>
              <a:rPr lang="en" sz="1800">
                <a:solidFill>
                  <a:srgbClr val="022FAE"/>
                </a:solidFill>
              </a:rPr>
              <a:t>end</a:t>
            </a:r>
            <a:endParaRPr sz="1800">
              <a:solidFill>
                <a:srgbClr val="022FAE"/>
              </a:solidFill>
            </a:endParaRPr>
          </a:p>
          <a:p>
            <a:pPr indent="0" lvl="0" marL="12700" rtl="0" algn="l">
              <a:spcBef>
                <a:spcPts val="25"/>
              </a:spcBef>
              <a:spcAft>
                <a:spcPts val="0"/>
              </a:spcAft>
              <a:buNone/>
            </a:pPr>
            <a:r>
              <a:rPr lang="en" sz="1800">
                <a:solidFill>
                  <a:srgbClr val="022FAE"/>
                </a:solidFill>
              </a:rPr>
              <a:t>endmodule</a:t>
            </a:r>
            <a:endParaRPr sz="2000">
              <a:solidFill>
                <a:srgbClr val="022FAE"/>
              </a:solidFill>
            </a:endParaRPr>
          </a:p>
        </p:txBody>
      </p:sp>
      <p:sp>
        <p:nvSpPr>
          <p:cNvPr id="151" name="Google Shape;151;p22"/>
          <p:cNvSpPr txBox="1"/>
          <p:nvPr/>
        </p:nvSpPr>
        <p:spPr>
          <a:xfrm>
            <a:off x="7136710" y="3172370"/>
            <a:ext cx="950100" cy="197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 sz="1200">
                <a:solidFill>
                  <a:srgbClr val="BD0000"/>
                </a:solidFill>
                <a:latin typeface="Arial"/>
                <a:ea typeface="Arial"/>
                <a:cs typeface="Arial"/>
                <a:sym typeface="Arial"/>
              </a:rPr>
              <a:t>10 unit delay</a:t>
            </a:r>
            <a:endParaRPr sz="1200">
              <a:latin typeface="Arial"/>
              <a:ea typeface="Arial"/>
              <a:cs typeface="Arial"/>
              <a:sym typeface="Arial"/>
            </a:endParaRPr>
          </a:p>
        </p:txBody>
      </p:sp>
      <p:sp>
        <p:nvSpPr>
          <p:cNvPr id="152" name="Google Shape;152;p22"/>
          <p:cNvSpPr txBox="1"/>
          <p:nvPr/>
        </p:nvSpPr>
        <p:spPr>
          <a:xfrm>
            <a:off x="7487596" y="1346673"/>
            <a:ext cx="1313100" cy="381600"/>
          </a:xfrm>
          <a:prstGeom prst="rect">
            <a:avLst/>
          </a:prstGeom>
          <a:noFill/>
          <a:ln>
            <a:noFill/>
          </a:ln>
        </p:spPr>
        <p:txBody>
          <a:bodyPr anchorCtr="0" anchor="t" bIns="0" lIns="0" spcFirstLastPara="1" rIns="0" wrap="square" tIns="9525">
            <a:spAutoFit/>
          </a:bodyPr>
          <a:lstStyle/>
          <a:p>
            <a:pPr indent="241300" lvl="0" marL="12700" marR="5080" rtl="0" algn="l">
              <a:lnSpc>
                <a:spcPct val="101400"/>
              </a:lnSpc>
              <a:spcBef>
                <a:spcPts val="0"/>
              </a:spcBef>
              <a:spcAft>
                <a:spcPts val="0"/>
              </a:spcAft>
              <a:buNone/>
            </a:pPr>
            <a:r>
              <a:rPr b="1" lang="en" sz="1200">
                <a:solidFill>
                  <a:srgbClr val="BD0000"/>
                </a:solidFill>
                <a:latin typeface="Arial"/>
                <a:ea typeface="Arial"/>
                <a:cs typeface="Arial"/>
                <a:sym typeface="Arial"/>
              </a:rPr>
              <a:t>Instance of Design under test</a:t>
            </a:r>
            <a:endParaRPr sz="1200">
              <a:latin typeface="Arial"/>
              <a:ea typeface="Arial"/>
              <a:cs typeface="Arial"/>
              <a:sym typeface="Arial"/>
            </a:endParaRPr>
          </a:p>
        </p:txBody>
      </p:sp>
      <p:sp>
        <p:nvSpPr>
          <p:cNvPr id="153" name="Google Shape;153;p22"/>
          <p:cNvSpPr txBox="1"/>
          <p:nvPr/>
        </p:nvSpPr>
        <p:spPr>
          <a:xfrm>
            <a:off x="6841705" y="916028"/>
            <a:ext cx="1153160" cy="15620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 sz="1200">
                <a:solidFill>
                  <a:srgbClr val="BD0000"/>
                </a:solidFill>
                <a:latin typeface="Arial"/>
                <a:ea typeface="Arial"/>
                <a:cs typeface="Arial"/>
                <a:sym typeface="Arial"/>
              </a:rPr>
              <a:t>Test I/O signals</a:t>
            </a:r>
            <a:endParaRPr sz="1200">
              <a:latin typeface="Arial"/>
              <a:ea typeface="Arial"/>
              <a:cs typeface="Arial"/>
              <a:sym typeface="Arial"/>
            </a:endParaRPr>
          </a:p>
        </p:txBody>
      </p:sp>
      <p:sp>
        <p:nvSpPr>
          <p:cNvPr id="154" name="Google Shape;154;p22"/>
          <p:cNvSpPr txBox="1"/>
          <p:nvPr/>
        </p:nvSpPr>
        <p:spPr>
          <a:xfrm>
            <a:off x="7019543" y="2068391"/>
            <a:ext cx="1202690" cy="15620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 sz="1200">
                <a:solidFill>
                  <a:srgbClr val="BD0000"/>
                </a:solidFill>
                <a:latin typeface="Arial"/>
                <a:ea typeface="Arial"/>
                <a:cs typeface="Arial"/>
                <a:sym typeface="Arial"/>
              </a:rPr>
              <a:t>Input test traces</a:t>
            </a:r>
            <a:endParaRPr sz="1200">
              <a:latin typeface="Arial"/>
              <a:ea typeface="Arial"/>
              <a:cs typeface="Arial"/>
              <a:sym typeface="Arial"/>
            </a:endParaRPr>
          </a:p>
        </p:txBody>
      </p:sp>
      <p:grpSp>
        <p:nvGrpSpPr>
          <p:cNvPr id="155" name="Google Shape;155;p22"/>
          <p:cNvGrpSpPr/>
          <p:nvPr/>
        </p:nvGrpSpPr>
        <p:grpSpPr>
          <a:xfrm>
            <a:off x="5204879" y="2214543"/>
            <a:ext cx="1746707" cy="159935"/>
            <a:chOff x="5204879" y="2952724"/>
            <a:chExt cx="1746707" cy="213246"/>
          </a:xfrm>
        </p:grpSpPr>
        <p:sp>
          <p:nvSpPr>
            <p:cNvPr id="156" name="Google Shape;156;p22"/>
            <p:cNvSpPr/>
            <p:nvPr/>
          </p:nvSpPr>
          <p:spPr>
            <a:xfrm>
              <a:off x="5284076" y="2952724"/>
              <a:ext cx="1667510" cy="171450"/>
            </a:xfrm>
            <a:custGeom>
              <a:rect b="b" l="l" r="r" t="t"/>
              <a:pathLst>
                <a:path extrusionOk="0" h="171450" w="1667509">
                  <a:moveTo>
                    <a:pt x="1667167" y="0"/>
                  </a:moveTo>
                  <a:lnTo>
                    <a:pt x="0" y="170992"/>
                  </a:lnTo>
                </a:path>
              </a:pathLst>
            </a:custGeom>
            <a:noFill/>
            <a:ln cap="flat" cmpd="sng" w="28425">
              <a:solidFill>
                <a:srgbClr val="BD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7" name="Google Shape;157;p22"/>
            <p:cNvSpPr/>
            <p:nvPr/>
          </p:nvSpPr>
          <p:spPr>
            <a:xfrm>
              <a:off x="5204879" y="3080880"/>
              <a:ext cx="89535" cy="85090"/>
            </a:xfrm>
            <a:custGeom>
              <a:rect b="b" l="l" r="r" t="t"/>
              <a:pathLst>
                <a:path extrusionOk="0" h="85089" w="89535">
                  <a:moveTo>
                    <a:pt x="80644" y="0"/>
                  </a:moveTo>
                  <a:lnTo>
                    <a:pt x="0" y="51117"/>
                  </a:lnTo>
                  <a:lnTo>
                    <a:pt x="89280" y="84962"/>
                  </a:lnTo>
                  <a:lnTo>
                    <a:pt x="80644" y="0"/>
                  </a:lnTo>
                  <a:close/>
                </a:path>
              </a:pathLst>
            </a:custGeom>
            <a:solidFill>
              <a:srgbClr val="BD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158" name="Google Shape;158;p22"/>
          <p:cNvGrpSpPr/>
          <p:nvPr/>
        </p:nvGrpSpPr>
        <p:grpSpPr>
          <a:xfrm>
            <a:off x="4801679" y="1031129"/>
            <a:ext cx="1746440" cy="92374"/>
            <a:chOff x="4801679" y="1374838"/>
            <a:chExt cx="1746440" cy="123165"/>
          </a:xfrm>
        </p:grpSpPr>
        <p:sp>
          <p:nvSpPr>
            <p:cNvPr id="159" name="Google Shape;159;p22"/>
            <p:cNvSpPr/>
            <p:nvPr/>
          </p:nvSpPr>
          <p:spPr>
            <a:xfrm>
              <a:off x="4881244" y="1374838"/>
              <a:ext cx="1666875" cy="80644"/>
            </a:xfrm>
            <a:custGeom>
              <a:rect b="b" l="l" r="r" t="t"/>
              <a:pathLst>
                <a:path extrusionOk="0" h="80644" w="1666875">
                  <a:moveTo>
                    <a:pt x="1666798" y="0"/>
                  </a:moveTo>
                  <a:lnTo>
                    <a:pt x="0" y="80276"/>
                  </a:lnTo>
                </a:path>
              </a:pathLst>
            </a:custGeom>
            <a:noFill/>
            <a:ln cap="flat" cmpd="sng" w="28425">
              <a:solidFill>
                <a:srgbClr val="BD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0" name="Google Shape;160;p22"/>
            <p:cNvSpPr/>
            <p:nvPr/>
          </p:nvSpPr>
          <p:spPr>
            <a:xfrm>
              <a:off x="4801679" y="1412278"/>
              <a:ext cx="87629" cy="85725"/>
            </a:xfrm>
            <a:custGeom>
              <a:rect b="b" l="l" r="r" t="t"/>
              <a:pathLst>
                <a:path extrusionOk="0" h="85725" w="87629">
                  <a:moveTo>
                    <a:pt x="83159" y="0"/>
                  </a:moveTo>
                  <a:lnTo>
                    <a:pt x="0" y="46799"/>
                  </a:lnTo>
                  <a:lnTo>
                    <a:pt x="87122" y="85318"/>
                  </a:lnTo>
                  <a:lnTo>
                    <a:pt x="83159" y="0"/>
                  </a:lnTo>
                  <a:close/>
                </a:path>
              </a:pathLst>
            </a:custGeom>
            <a:solidFill>
              <a:srgbClr val="BD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pic>
        <p:nvPicPr>
          <p:cNvPr descr="A purple and white sign with white letters" id="161" name="Google Shape;161;p22"/>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3"/>
          <p:cNvSpPr txBox="1"/>
          <p:nvPr>
            <p:ph type="title"/>
          </p:nvPr>
        </p:nvSpPr>
        <p:spPr>
          <a:xfrm>
            <a:off x="234619" y="3705"/>
            <a:ext cx="8667900" cy="505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sz="3200">
                <a:solidFill>
                  <a:srgbClr val="022FAE"/>
                </a:solidFill>
              </a:rPr>
              <a:t>Testbenches for or_and</a:t>
            </a:r>
            <a:endParaRPr sz="3200"/>
          </a:p>
        </p:txBody>
      </p:sp>
      <p:sp>
        <p:nvSpPr>
          <p:cNvPr id="167" name="Google Shape;167;p23"/>
          <p:cNvSpPr txBox="1"/>
          <p:nvPr/>
        </p:nvSpPr>
        <p:spPr>
          <a:xfrm>
            <a:off x="174525" y="537225"/>
            <a:ext cx="4281300" cy="4757400"/>
          </a:xfrm>
          <a:prstGeom prst="rect">
            <a:avLst/>
          </a:prstGeom>
          <a:noFill/>
          <a:ln>
            <a:noFill/>
          </a:ln>
        </p:spPr>
        <p:txBody>
          <a:bodyPr anchorCtr="0" anchor="t" bIns="0" lIns="0" spcFirstLastPara="1" rIns="0" wrap="square" tIns="9525">
            <a:spAutoFit/>
          </a:bodyPr>
          <a:lstStyle/>
          <a:p>
            <a:pPr indent="0" lvl="0" marL="12700" marR="1178560" rtl="0" algn="l">
              <a:lnSpc>
                <a:spcPct val="100000"/>
              </a:lnSpc>
              <a:spcBef>
                <a:spcPts val="0"/>
              </a:spcBef>
              <a:spcAft>
                <a:spcPts val="0"/>
              </a:spcAft>
              <a:buNone/>
            </a:pPr>
            <a:r>
              <a:rPr lang="en" sz="1800">
                <a:solidFill>
                  <a:srgbClr val="022FAE"/>
                </a:solidFill>
                <a:latin typeface="Arial"/>
                <a:ea typeface="Arial"/>
                <a:cs typeface="Arial"/>
                <a:sym typeface="Arial"/>
              </a:rPr>
              <a:t>module test_or_and; reg a,b,c;</a:t>
            </a:r>
            <a:endParaRPr sz="1800">
              <a:latin typeface="Arial"/>
              <a:ea typeface="Arial"/>
              <a:cs typeface="Arial"/>
              <a:sym typeface="Arial"/>
            </a:endParaRPr>
          </a:p>
          <a:p>
            <a:pPr indent="0" lvl="0" marL="12700" rtl="0" algn="l">
              <a:lnSpc>
                <a:spcPct val="100000"/>
              </a:lnSpc>
              <a:spcBef>
                <a:spcPts val="25"/>
              </a:spcBef>
              <a:spcAft>
                <a:spcPts val="0"/>
              </a:spcAft>
              <a:buNone/>
            </a:pPr>
            <a:r>
              <a:rPr lang="en" sz="1800">
                <a:solidFill>
                  <a:srgbClr val="022FAE"/>
                </a:solidFill>
                <a:latin typeface="Arial"/>
                <a:ea typeface="Arial"/>
                <a:cs typeface="Arial"/>
                <a:sym typeface="Arial"/>
              </a:rPr>
              <a:t>wire o;</a:t>
            </a:r>
            <a:endParaRPr sz="1800">
              <a:latin typeface="Arial"/>
              <a:ea typeface="Arial"/>
              <a:cs typeface="Arial"/>
              <a:sym typeface="Arial"/>
            </a:endParaRPr>
          </a:p>
          <a:p>
            <a:pPr indent="0" lvl="0" marL="12700" rtl="0" algn="l">
              <a:lnSpc>
                <a:spcPct val="100000"/>
              </a:lnSpc>
              <a:spcBef>
                <a:spcPts val="0"/>
              </a:spcBef>
              <a:spcAft>
                <a:spcPts val="0"/>
              </a:spcAft>
              <a:buNone/>
            </a:pPr>
            <a:r>
              <a:rPr lang="en" sz="1800">
                <a:solidFill>
                  <a:srgbClr val="022FAE"/>
                </a:solidFill>
                <a:latin typeface="Arial"/>
                <a:ea typeface="Arial"/>
                <a:cs typeface="Arial"/>
                <a:sym typeface="Arial"/>
              </a:rPr>
              <a:t>or_and oa (.a(a), .b(b), .c(c), .o(o)</a:t>
            </a:r>
            <a:endParaRPr sz="1800">
              <a:latin typeface="Arial"/>
              <a:ea typeface="Arial"/>
              <a:cs typeface="Arial"/>
              <a:sym typeface="Arial"/>
            </a:endParaRPr>
          </a:p>
          <a:p>
            <a:pPr indent="0" lvl="0" marL="12700" rtl="0" algn="l">
              <a:lnSpc>
                <a:spcPct val="100000"/>
              </a:lnSpc>
              <a:spcBef>
                <a:spcPts val="20"/>
              </a:spcBef>
              <a:spcAft>
                <a:spcPts val="0"/>
              </a:spcAft>
              <a:buNone/>
            </a:pPr>
            <a:r>
              <a:rPr lang="en" sz="1800">
                <a:solidFill>
                  <a:srgbClr val="022FAE"/>
                </a:solidFill>
                <a:latin typeface="Arial"/>
                <a:ea typeface="Arial"/>
                <a:cs typeface="Arial"/>
                <a:sym typeface="Arial"/>
              </a:rPr>
              <a:t>);</a:t>
            </a:r>
            <a:endParaRPr sz="1800">
              <a:latin typeface="Arial"/>
              <a:ea typeface="Arial"/>
              <a:cs typeface="Arial"/>
              <a:sym typeface="Arial"/>
            </a:endParaRPr>
          </a:p>
          <a:p>
            <a:pPr indent="0" lvl="0" marL="12700" rtl="0" algn="l">
              <a:lnSpc>
                <a:spcPct val="100000"/>
              </a:lnSpc>
              <a:spcBef>
                <a:spcPts val="0"/>
              </a:spcBef>
              <a:spcAft>
                <a:spcPts val="0"/>
              </a:spcAft>
              <a:buNone/>
            </a:pPr>
            <a:r>
              <a:rPr lang="en" sz="1800">
                <a:solidFill>
                  <a:srgbClr val="022FAE"/>
                </a:solidFill>
                <a:latin typeface="Arial"/>
                <a:ea typeface="Arial"/>
                <a:cs typeface="Arial"/>
                <a:sym typeface="Arial"/>
              </a:rPr>
              <a:t>initial begin: TEST_BLOCK</a:t>
            </a:r>
            <a:endParaRPr sz="1800">
              <a:latin typeface="Arial"/>
              <a:ea typeface="Arial"/>
              <a:cs typeface="Arial"/>
              <a:sym typeface="Arial"/>
            </a:endParaRPr>
          </a:p>
          <a:p>
            <a:pPr indent="0" lvl="0" marL="304800" rtl="0" algn="l">
              <a:lnSpc>
                <a:spcPct val="100000"/>
              </a:lnSpc>
              <a:spcBef>
                <a:spcPts val="25"/>
              </a:spcBef>
              <a:spcAft>
                <a:spcPts val="0"/>
              </a:spcAft>
              <a:buNone/>
            </a:pPr>
            <a:r>
              <a:rPr lang="en" sz="1800">
                <a:solidFill>
                  <a:srgbClr val="022FAE"/>
                </a:solidFill>
                <a:latin typeface="Arial"/>
                <a:ea typeface="Arial"/>
                <a:cs typeface="Arial"/>
                <a:sym typeface="Arial"/>
              </a:rPr>
              <a:t>a &lt;= 0;</a:t>
            </a:r>
            <a:endParaRPr sz="1800">
              <a:latin typeface="Arial"/>
              <a:ea typeface="Arial"/>
              <a:cs typeface="Arial"/>
              <a:sym typeface="Arial"/>
            </a:endParaRPr>
          </a:p>
          <a:p>
            <a:pPr indent="0" lvl="0" marL="304800" rtl="0" algn="l">
              <a:lnSpc>
                <a:spcPct val="100000"/>
              </a:lnSpc>
              <a:spcBef>
                <a:spcPts val="20"/>
              </a:spcBef>
              <a:spcAft>
                <a:spcPts val="0"/>
              </a:spcAft>
              <a:buNone/>
            </a:pPr>
            <a:r>
              <a:rPr lang="en" sz="1800">
                <a:solidFill>
                  <a:srgbClr val="022FAE"/>
                </a:solidFill>
                <a:latin typeface="Arial"/>
                <a:ea typeface="Arial"/>
                <a:cs typeface="Arial"/>
                <a:sym typeface="Arial"/>
              </a:rPr>
              <a:t>b &lt;= 0;</a:t>
            </a:r>
            <a:endParaRPr sz="1800">
              <a:latin typeface="Arial"/>
              <a:ea typeface="Arial"/>
              <a:cs typeface="Arial"/>
              <a:sym typeface="Arial"/>
            </a:endParaRPr>
          </a:p>
          <a:p>
            <a:pPr indent="0" lvl="0" marL="304800" rtl="0" algn="l">
              <a:lnSpc>
                <a:spcPct val="100000"/>
              </a:lnSpc>
              <a:spcBef>
                <a:spcPts val="25"/>
              </a:spcBef>
              <a:spcAft>
                <a:spcPts val="0"/>
              </a:spcAft>
              <a:buNone/>
            </a:pPr>
            <a:r>
              <a:rPr lang="en" sz="1800">
                <a:solidFill>
                  <a:srgbClr val="022FAE"/>
                </a:solidFill>
                <a:latin typeface="Arial"/>
                <a:ea typeface="Arial"/>
                <a:cs typeface="Arial"/>
                <a:sym typeface="Arial"/>
              </a:rPr>
              <a:t>c &lt;= 0; //correct output o = 0</a:t>
            </a:r>
            <a:endParaRPr sz="1800">
              <a:latin typeface="Arial"/>
              <a:ea typeface="Arial"/>
              <a:cs typeface="Arial"/>
              <a:sym typeface="Arial"/>
            </a:endParaRPr>
          </a:p>
          <a:p>
            <a:pPr indent="0" lvl="0" marL="304800" rtl="0" algn="l">
              <a:lnSpc>
                <a:spcPct val="100000"/>
              </a:lnSpc>
              <a:spcBef>
                <a:spcPts val="20"/>
              </a:spcBef>
              <a:spcAft>
                <a:spcPts val="0"/>
              </a:spcAft>
              <a:buNone/>
            </a:pPr>
            <a:r>
              <a:rPr lang="en" sz="1800">
                <a:solidFill>
                  <a:srgbClr val="022FAE"/>
                </a:solidFill>
                <a:latin typeface="Arial"/>
                <a:ea typeface="Arial"/>
                <a:cs typeface="Arial"/>
                <a:sym typeface="Arial"/>
              </a:rPr>
              <a:t>#10</a:t>
            </a:r>
            <a:endParaRPr sz="1800">
              <a:latin typeface="Arial"/>
              <a:ea typeface="Arial"/>
              <a:cs typeface="Arial"/>
              <a:sym typeface="Arial"/>
            </a:endParaRPr>
          </a:p>
          <a:p>
            <a:pPr indent="0" lvl="0" marL="304800" rtl="0" algn="l">
              <a:lnSpc>
                <a:spcPct val="100000"/>
              </a:lnSpc>
              <a:spcBef>
                <a:spcPts val="25"/>
              </a:spcBef>
              <a:spcAft>
                <a:spcPts val="0"/>
              </a:spcAft>
              <a:buNone/>
            </a:pPr>
            <a:r>
              <a:rPr lang="en" sz="1800">
                <a:solidFill>
                  <a:srgbClr val="022FAE"/>
                </a:solidFill>
                <a:latin typeface="Arial"/>
                <a:ea typeface="Arial"/>
                <a:cs typeface="Arial"/>
                <a:sym typeface="Arial"/>
              </a:rPr>
              <a:t>a &lt;= 1;</a:t>
            </a:r>
            <a:endParaRPr sz="1800">
              <a:latin typeface="Arial"/>
              <a:ea typeface="Arial"/>
              <a:cs typeface="Arial"/>
              <a:sym typeface="Arial"/>
            </a:endParaRPr>
          </a:p>
          <a:p>
            <a:pPr indent="0" lvl="0" marL="304800" rtl="0" algn="l">
              <a:lnSpc>
                <a:spcPct val="100000"/>
              </a:lnSpc>
              <a:spcBef>
                <a:spcPts val="20"/>
              </a:spcBef>
              <a:spcAft>
                <a:spcPts val="0"/>
              </a:spcAft>
              <a:buNone/>
            </a:pPr>
            <a:r>
              <a:rPr lang="en" sz="1800">
                <a:solidFill>
                  <a:srgbClr val="022FAE"/>
                </a:solidFill>
                <a:latin typeface="Arial"/>
                <a:ea typeface="Arial"/>
                <a:cs typeface="Arial"/>
                <a:sym typeface="Arial"/>
              </a:rPr>
              <a:t>b &lt;= 0;</a:t>
            </a:r>
            <a:endParaRPr sz="1800">
              <a:latin typeface="Arial"/>
              <a:ea typeface="Arial"/>
              <a:cs typeface="Arial"/>
              <a:sym typeface="Arial"/>
            </a:endParaRPr>
          </a:p>
          <a:p>
            <a:pPr indent="0" lvl="0" marL="304800" rtl="0" algn="l">
              <a:lnSpc>
                <a:spcPct val="100000"/>
              </a:lnSpc>
              <a:spcBef>
                <a:spcPts val="25"/>
              </a:spcBef>
              <a:spcAft>
                <a:spcPts val="0"/>
              </a:spcAft>
              <a:buNone/>
            </a:pPr>
            <a:r>
              <a:rPr lang="en" sz="1800">
                <a:solidFill>
                  <a:srgbClr val="022FAE"/>
                </a:solidFill>
                <a:latin typeface="Arial"/>
                <a:ea typeface="Arial"/>
                <a:cs typeface="Arial"/>
                <a:sym typeface="Arial"/>
              </a:rPr>
              <a:t>c &lt;= 0; //correct output o = 0</a:t>
            </a:r>
            <a:endParaRPr sz="1800">
              <a:latin typeface="Arial"/>
              <a:ea typeface="Arial"/>
              <a:cs typeface="Arial"/>
              <a:sym typeface="Arial"/>
            </a:endParaRPr>
          </a:p>
          <a:p>
            <a:pPr indent="0" lvl="0" marL="304800" rtl="0" algn="l">
              <a:lnSpc>
                <a:spcPct val="100000"/>
              </a:lnSpc>
              <a:spcBef>
                <a:spcPts val="20"/>
              </a:spcBef>
              <a:spcAft>
                <a:spcPts val="0"/>
              </a:spcAft>
              <a:buNone/>
            </a:pPr>
            <a:r>
              <a:rPr lang="en" sz="1800">
                <a:solidFill>
                  <a:srgbClr val="022FAE"/>
                </a:solidFill>
                <a:latin typeface="Arial"/>
                <a:ea typeface="Arial"/>
                <a:cs typeface="Arial"/>
                <a:sym typeface="Arial"/>
              </a:rPr>
              <a:t>#10</a:t>
            </a:r>
            <a:endParaRPr sz="1800">
              <a:solidFill>
                <a:srgbClr val="022FAE"/>
              </a:solidFill>
              <a:latin typeface="Arial"/>
              <a:ea typeface="Arial"/>
              <a:cs typeface="Arial"/>
              <a:sym typeface="Arial"/>
            </a:endParaRPr>
          </a:p>
          <a:p>
            <a:pPr indent="0" lvl="0" marL="304800" rtl="0" algn="l">
              <a:lnSpc>
                <a:spcPct val="100000"/>
              </a:lnSpc>
              <a:spcBef>
                <a:spcPts val="20"/>
              </a:spcBef>
              <a:spcAft>
                <a:spcPts val="0"/>
              </a:spcAft>
              <a:buNone/>
            </a:pPr>
            <a:r>
              <a:rPr lang="en" sz="1800">
                <a:solidFill>
                  <a:srgbClr val="022FAE"/>
                </a:solidFill>
                <a:latin typeface="Arial"/>
                <a:ea typeface="Arial"/>
                <a:cs typeface="Arial"/>
                <a:sym typeface="Arial"/>
              </a:rPr>
              <a:t>a &lt;= 0;</a:t>
            </a:r>
            <a:endParaRPr sz="1800">
              <a:latin typeface="Arial"/>
              <a:ea typeface="Arial"/>
              <a:cs typeface="Arial"/>
              <a:sym typeface="Arial"/>
            </a:endParaRPr>
          </a:p>
          <a:p>
            <a:pPr indent="0" lvl="0" marL="304800" rtl="0" algn="l">
              <a:lnSpc>
                <a:spcPct val="100000"/>
              </a:lnSpc>
              <a:spcBef>
                <a:spcPts val="25"/>
              </a:spcBef>
              <a:spcAft>
                <a:spcPts val="0"/>
              </a:spcAft>
              <a:buNone/>
            </a:pPr>
            <a:r>
              <a:rPr lang="en" sz="1800">
                <a:solidFill>
                  <a:srgbClr val="022FAE"/>
                </a:solidFill>
                <a:latin typeface="Arial"/>
                <a:ea typeface="Arial"/>
                <a:cs typeface="Arial"/>
                <a:sym typeface="Arial"/>
              </a:rPr>
              <a:t>b &lt;= 1;</a:t>
            </a:r>
            <a:endParaRPr sz="1800">
              <a:latin typeface="Arial"/>
              <a:ea typeface="Arial"/>
              <a:cs typeface="Arial"/>
              <a:sym typeface="Arial"/>
            </a:endParaRPr>
          </a:p>
          <a:p>
            <a:pPr indent="0" lvl="0" marL="304800" rtl="0" algn="l">
              <a:lnSpc>
                <a:spcPct val="100000"/>
              </a:lnSpc>
              <a:spcBef>
                <a:spcPts val="25"/>
              </a:spcBef>
              <a:spcAft>
                <a:spcPts val="0"/>
              </a:spcAft>
              <a:buNone/>
            </a:pPr>
            <a:r>
              <a:rPr lang="en" sz="1800">
                <a:solidFill>
                  <a:srgbClr val="022FAE"/>
                </a:solidFill>
                <a:latin typeface="Arial"/>
                <a:ea typeface="Arial"/>
                <a:cs typeface="Arial"/>
                <a:sym typeface="Arial"/>
              </a:rPr>
              <a:t>c &lt;= 0; //correct output o = 0</a:t>
            </a:r>
            <a:endParaRPr sz="1800">
              <a:latin typeface="Arial"/>
              <a:ea typeface="Arial"/>
              <a:cs typeface="Arial"/>
              <a:sym typeface="Arial"/>
            </a:endParaRPr>
          </a:p>
        </p:txBody>
      </p:sp>
      <p:sp>
        <p:nvSpPr>
          <p:cNvPr id="168" name="Google Shape;168;p23"/>
          <p:cNvSpPr txBox="1"/>
          <p:nvPr/>
        </p:nvSpPr>
        <p:spPr>
          <a:xfrm>
            <a:off x="4313379" y="397518"/>
            <a:ext cx="4662300" cy="4797900"/>
          </a:xfrm>
          <a:prstGeom prst="rect">
            <a:avLst/>
          </a:prstGeom>
          <a:noFill/>
          <a:ln>
            <a:noFill/>
          </a:ln>
        </p:spPr>
        <p:txBody>
          <a:bodyPr anchorCtr="0" anchor="t" bIns="0" lIns="0" spcFirstLastPara="1" rIns="0" wrap="square" tIns="12700">
            <a:spAutoFit/>
          </a:bodyPr>
          <a:lstStyle/>
          <a:p>
            <a:pPr indent="0" lvl="0" marL="304800" rtl="0" algn="l">
              <a:lnSpc>
                <a:spcPct val="100000"/>
              </a:lnSpc>
              <a:spcBef>
                <a:spcPts val="0"/>
              </a:spcBef>
              <a:spcAft>
                <a:spcPts val="0"/>
              </a:spcAft>
              <a:buNone/>
            </a:pPr>
            <a:r>
              <a:rPr lang="en" sz="1800">
                <a:solidFill>
                  <a:srgbClr val="022FAE"/>
                </a:solidFill>
                <a:latin typeface="Arial"/>
                <a:ea typeface="Arial"/>
                <a:cs typeface="Arial"/>
                <a:sym typeface="Arial"/>
              </a:rPr>
              <a:t>a &lt;= 1;</a:t>
            </a:r>
            <a:endParaRPr sz="1800">
              <a:latin typeface="Arial"/>
              <a:ea typeface="Arial"/>
              <a:cs typeface="Arial"/>
              <a:sym typeface="Arial"/>
            </a:endParaRPr>
          </a:p>
          <a:p>
            <a:pPr indent="0" lvl="0" marL="304800" rtl="0" algn="l">
              <a:lnSpc>
                <a:spcPct val="100000"/>
              </a:lnSpc>
              <a:spcBef>
                <a:spcPts val="20"/>
              </a:spcBef>
              <a:spcAft>
                <a:spcPts val="0"/>
              </a:spcAft>
              <a:buNone/>
            </a:pPr>
            <a:r>
              <a:rPr lang="en" sz="1800">
                <a:solidFill>
                  <a:srgbClr val="022FAE"/>
                </a:solidFill>
                <a:latin typeface="Arial"/>
                <a:ea typeface="Arial"/>
                <a:cs typeface="Arial"/>
                <a:sym typeface="Arial"/>
              </a:rPr>
              <a:t>b &lt;= 1;</a:t>
            </a:r>
            <a:endParaRPr sz="1800">
              <a:latin typeface="Arial"/>
              <a:ea typeface="Arial"/>
              <a:cs typeface="Arial"/>
              <a:sym typeface="Arial"/>
            </a:endParaRPr>
          </a:p>
          <a:p>
            <a:pPr indent="0" lvl="0" marL="304800" marR="5080" rtl="0" algn="l">
              <a:lnSpc>
                <a:spcPct val="100000"/>
              </a:lnSpc>
              <a:spcBef>
                <a:spcPts val="80"/>
              </a:spcBef>
              <a:spcAft>
                <a:spcPts val="0"/>
              </a:spcAft>
              <a:buNone/>
            </a:pPr>
            <a:r>
              <a:rPr lang="en" sz="1800">
                <a:solidFill>
                  <a:srgbClr val="022FAE"/>
                </a:solidFill>
                <a:latin typeface="Arial"/>
                <a:ea typeface="Arial"/>
                <a:cs typeface="Arial"/>
                <a:sym typeface="Arial"/>
              </a:rPr>
              <a:t>c &lt;= 0; //correct output o = 0 #10</a:t>
            </a:r>
            <a:endParaRPr sz="1800">
              <a:latin typeface="Arial"/>
              <a:ea typeface="Arial"/>
              <a:cs typeface="Arial"/>
              <a:sym typeface="Arial"/>
            </a:endParaRPr>
          </a:p>
          <a:p>
            <a:pPr indent="0" lvl="0" marL="304800" rtl="0" algn="l">
              <a:lnSpc>
                <a:spcPct val="100000"/>
              </a:lnSpc>
              <a:spcBef>
                <a:spcPts val="0"/>
              </a:spcBef>
              <a:spcAft>
                <a:spcPts val="0"/>
              </a:spcAft>
              <a:buNone/>
            </a:pPr>
            <a:r>
              <a:rPr lang="en" sz="1800">
                <a:solidFill>
                  <a:srgbClr val="022FAE"/>
                </a:solidFill>
                <a:latin typeface="Arial"/>
                <a:ea typeface="Arial"/>
                <a:cs typeface="Arial"/>
                <a:sym typeface="Arial"/>
              </a:rPr>
              <a:t>a &lt;= 0;</a:t>
            </a:r>
            <a:endParaRPr sz="1800">
              <a:latin typeface="Arial"/>
              <a:ea typeface="Arial"/>
              <a:cs typeface="Arial"/>
              <a:sym typeface="Arial"/>
            </a:endParaRPr>
          </a:p>
          <a:p>
            <a:pPr indent="0" lvl="0" marL="304800" rtl="0" algn="l">
              <a:lnSpc>
                <a:spcPct val="100000"/>
              </a:lnSpc>
              <a:spcBef>
                <a:spcPts val="20"/>
              </a:spcBef>
              <a:spcAft>
                <a:spcPts val="0"/>
              </a:spcAft>
              <a:buNone/>
            </a:pPr>
            <a:r>
              <a:rPr lang="en" sz="1800">
                <a:solidFill>
                  <a:srgbClr val="022FAE"/>
                </a:solidFill>
                <a:latin typeface="Arial"/>
                <a:ea typeface="Arial"/>
                <a:cs typeface="Arial"/>
                <a:sym typeface="Arial"/>
              </a:rPr>
              <a:t>b &lt;= 0;</a:t>
            </a:r>
            <a:endParaRPr sz="1800">
              <a:latin typeface="Arial"/>
              <a:ea typeface="Arial"/>
              <a:cs typeface="Arial"/>
              <a:sym typeface="Arial"/>
            </a:endParaRPr>
          </a:p>
          <a:p>
            <a:pPr indent="0" lvl="0" marL="304800" marR="5080" rtl="0" algn="l">
              <a:lnSpc>
                <a:spcPct val="100000"/>
              </a:lnSpc>
              <a:spcBef>
                <a:spcPts val="80"/>
              </a:spcBef>
              <a:spcAft>
                <a:spcPts val="0"/>
              </a:spcAft>
              <a:buNone/>
            </a:pPr>
            <a:r>
              <a:rPr lang="en" sz="1800">
                <a:solidFill>
                  <a:srgbClr val="022FAE"/>
                </a:solidFill>
                <a:latin typeface="Arial"/>
                <a:ea typeface="Arial"/>
                <a:cs typeface="Arial"/>
                <a:sym typeface="Arial"/>
              </a:rPr>
              <a:t>c &lt;= 1; //correct output o = 0 #10</a:t>
            </a:r>
            <a:endParaRPr sz="1800">
              <a:latin typeface="Arial"/>
              <a:ea typeface="Arial"/>
              <a:cs typeface="Arial"/>
              <a:sym typeface="Arial"/>
            </a:endParaRPr>
          </a:p>
          <a:p>
            <a:pPr indent="0" lvl="0" marL="304800" rtl="0" algn="l">
              <a:lnSpc>
                <a:spcPct val="100000"/>
              </a:lnSpc>
              <a:spcBef>
                <a:spcPts val="0"/>
              </a:spcBef>
              <a:spcAft>
                <a:spcPts val="0"/>
              </a:spcAft>
              <a:buNone/>
            </a:pPr>
            <a:r>
              <a:rPr lang="en" sz="1800">
                <a:solidFill>
                  <a:srgbClr val="022FAE"/>
                </a:solidFill>
                <a:latin typeface="Arial"/>
                <a:ea typeface="Arial"/>
                <a:cs typeface="Arial"/>
                <a:sym typeface="Arial"/>
              </a:rPr>
              <a:t>a &lt;= 1;</a:t>
            </a:r>
            <a:endParaRPr sz="1800">
              <a:latin typeface="Arial"/>
              <a:ea typeface="Arial"/>
              <a:cs typeface="Arial"/>
              <a:sym typeface="Arial"/>
            </a:endParaRPr>
          </a:p>
          <a:p>
            <a:pPr indent="0" lvl="0" marL="304800" rtl="0" algn="l">
              <a:lnSpc>
                <a:spcPct val="100000"/>
              </a:lnSpc>
              <a:spcBef>
                <a:spcPts val="25"/>
              </a:spcBef>
              <a:spcAft>
                <a:spcPts val="0"/>
              </a:spcAft>
              <a:buNone/>
            </a:pPr>
            <a:r>
              <a:rPr lang="en" sz="1800">
                <a:solidFill>
                  <a:srgbClr val="022FAE"/>
                </a:solidFill>
                <a:latin typeface="Arial"/>
                <a:ea typeface="Arial"/>
                <a:cs typeface="Arial"/>
                <a:sym typeface="Arial"/>
              </a:rPr>
              <a:t>b &lt;= 0;</a:t>
            </a:r>
            <a:endParaRPr sz="1800">
              <a:latin typeface="Arial"/>
              <a:ea typeface="Arial"/>
              <a:cs typeface="Arial"/>
              <a:sym typeface="Arial"/>
            </a:endParaRPr>
          </a:p>
          <a:p>
            <a:pPr indent="0" lvl="0" marL="304800" marR="5080" rtl="0" algn="l">
              <a:lnSpc>
                <a:spcPct val="100000"/>
              </a:lnSpc>
              <a:spcBef>
                <a:spcPts val="75"/>
              </a:spcBef>
              <a:spcAft>
                <a:spcPts val="0"/>
              </a:spcAft>
              <a:buNone/>
            </a:pPr>
            <a:r>
              <a:rPr lang="en" sz="1800">
                <a:solidFill>
                  <a:srgbClr val="022FAE"/>
                </a:solidFill>
                <a:latin typeface="Arial"/>
                <a:ea typeface="Arial"/>
                <a:cs typeface="Arial"/>
                <a:sym typeface="Arial"/>
              </a:rPr>
              <a:t>c &lt;= 1; //correct output o = 1 #10</a:t>
            </a:r>
            <a:endParaRPr sz="1800">
              <a:latin typeface="Arial"/>
              <a:ea typeface="Arial"/>
              <a:cs typeface="Arial"/>
              <a:sym typeface="Arial"/>
            </a:endParaRPr>
          </a:p>
          <a:p>
            <a:pPr indent="0" lvl="0" marL="304800" rtl="0" algn="l">
              <a:lnSpc>
                <a:spcPct val="100000"/>
              </a:lnSpc>
              <a:spcBef>
                <a:spcPts val="0"/>
              </a:spcBef>
              <a:spcAft>
                <a:spcPts val="0"/>
              </a:spcAft>
              <a:buNone/>
            </a:pPr>
            <a:r>
              <a:rPr lang="en" sz="1800">
                <a:solidFill>
                  <a:srgbClr val="022FAE"/>
                </a:solidFill>
                <a:latin typeface="Arial"/>
                <a:ea typeface="Arial"/>
                <a:cs typeface="Arial"/>
                <a:sym typeface="Arial"/>
              </a:rPr>
              <a:t>a &lt;= 0;</a:t>
            </a:r>
            <a:endParaRPr sz="1800">
              <a:latin typeface="Arial"/>
              <a:ea typeface="Arial"/>
              <a:cs typeface="Arial"/>
              <a:sym typeface="Arial"/>
            </a:endParaRPr>
          </a:p>
          <a:p>
            <a:pPr indent="0" lvl="0" marL="304800" rtl="0" algn="l">
              <a:lnSpc>
                <a:spcPct val="100000"/>
              </a:lnSpc>
              <a:spcBef>
                <a:spcPts val="25"/>
              </a:spcBef>
              <a:spcAft>
                <a:spcPts val="0"/>
              </a:spcAft>
              <a:buNone/>
            </a:pPr>
            <a:r>
              <a:rPr lang="en" sz="1800">
                <a:solidFill>
                  <a:srgbClr val="022FAE"/>
                </a:solidFill>
                <a:latin typeface="Arial"/>
                <a:ea typeface="Arial"/>
                <a:cs typeface="Arial"/>
                <a:sym typeface="Arial"/>
              </a:rPr>
              <a:t>b &lt;= 1;</a:t>
            </a:r>
            <a:endParaRPr sz="1800">
              <a:latin typeface="Arial"/>
              <a:ea typeface="Arial"/>
              <a:cs typeface="Arial"/>
              <a:sym typeface="Arial"/>
            </a:endParaRPr>
          </a:p>
          <a:p>
            <a:pPr indent="0" lvl="0" marL="304800" marR="5080" rtl="0" algn="l">
              <a:lnSpc>
                <a:spcPct val="100000"/>
              </a:lnSpc>
              <a:spcBef>
                <a:spcPts val="80"/>
              </a:spcBef>
              <a:spcAft>
                <a:spcPts val="0"/>
              </a:spcAft>
              <a:buNone/>
            </a:pPr>
            <a:r>
              <a:rPr lang="en" sz="1800">
                <a:solidFill>
                  <a:srgbClr val="022FAE"/>
                </a:solidFill>
                <a:latin typeface="Arial"/>
                <a:ea typeface="Arial"/>
                <a:cs typeface="Arial"/>
                <a:sym typeface="Arial"/>
              </a:rPr>
              <a:t>c &lt;= 1; //correct output o = 1 #10</a:t>
            </a:r>
            <a:endParaRPr sz="1800">
              <a:latin typeface="Arial"/>
              <a:ea typeface="Arial"/>
              <a:cs typeface="Arial"/>
              <a:sym typeface="Arial"/>
            </a:endParaRPr>
          </a:p>
          <a:p>
            <a:pPr indent="0" lvl="0" marL="304800" rtl="0" algn="l">
              <a:lnSpc>
                <a:spcPct val="100000"/>
              </a:lnSpc>
              <a:spcBef>
                <a:spcPts val="0"/>
              </a:spcBef>
              <a:spcAft>
                <a:spcPts val="0"/>
              </a:spcAft>
              <a:buNone/>
            </a:pPr>
            <a:r>
              <a:rPr lang="en" sz="1800">
                <a:solidFill>
                  <a:srgbClr val="022FAE"/>
                </a:solidFill>
                <a:latin typeface="Arial"/>
                <a:ea typeface="Arial"/>
                <a:cs typeface="Arial"/>
                <a:sym typeface="Arial"/>
              </a:rPr>
              <a:t>a &lt;= 1;</a:t>
            </a:r>
            <a:endParaRPr sz="1800">
              <a:latin typeface="Arial"/>
              <a:ea typeface="Arial"/>
              <a:cs typeface="Arial"/>
              <a:sym typeface="Arial"/>
            </a:endParaRPr>
          </a:p>
          <a:p>
            <a:pPr indent="0" lvl="0" marL="304800" rtl="0" algn="l">
              <a:lnSpc>
                <a:spcPct val="100000"/>
              </a:lnSpc>
              <a:spcBef>
                <a:spcPts val="20"/>
              </a:spcBef>
              <a:spcAft>
                <a:spcPts val="0"/>
              </a:spcAft>
              <a:buNone/>
            </a:pPr>
            <a:r>
              <a:rPr lang="en" sz="1800">
                <a:solidFill>
                  <a:srgbClr val="022FAE"/>
                </a:solidFill>
                <a:latin typeface="Arial"/>
                <a:ea typeface="Arial"/>
                <a:cs typeface="Arial"/>
                <a:sym typeface="Arial"/>
              </a:rPr>
              <a:t>b &lt;= 1;</a:t>
            </a:r>
            <a:endParaRPr sz="1800">
              <a:latin typeface="Arial"/>
              <a:ea typeface="Arial"/>
              <a:cs typeface="Arial"/>
              <a:sym typeface="Arial"/>
            </a:endParaRPr>
          </a:p>
          <a:p>
            <a:pPr indent="292100" lvl="0" marL="12700" marR="5080" rtl="0" algn="l">
              <a:lnSpc>
                <a:spcPct val="100000"/>
              </a:lnSpc>
              <a:spcBef>
                <a:spcPts val="80"/>
              </a:spcBef>
              <a:spcAft>
                <a:spcPts val="0"/>
              </a:spcAft>
              <a:buNone/>
            </a:pPr>
            <a:r>
              <a:rPr lang="en" sz="1800">
                <a:solidFill>
                  <a:srgbClr val="022FAE"/>
                </a:solidFill>
                <a:latin typeface="Arial"/>
                <a:ea typeface="Arial"/>
                <a:cs typeface="Arial"/>
                <a:sym typeface="Arial"/>
              </a:rPr>
              <a:t>c &lt;= 1; //correct output o = 1 </a:t>
            </a:r>
            <a:endParaRPr sz="1800">
              <a:solidFill>
                <a:srgbClr val="022FAE"/>
              </a:solidFill>
              <a:latin typeface="Arial"/>
              <a:ea typeface="Arial"/>
              <a:cs typeface="Arial"/>
              <a:sym typeface="Arial"/>
            </a:endParaRPr>
          </a:p>
          <a:p>
            <a:pPr indent="0" lvl="0" marL="12700" marR="5080" rtl="0" algn="l">
              <a:lnSpc>
                <a:spcPct val="100000"/>
              </a:lnSpc>
              <a:spcBef>
                <a:spcPts val="80"/>
              </a:spcBef>
              <a:spcAft>
                <a:spcPts val="0"/>
              </a:spcAft>
              <a:buNone/>
            </a:pPr>
            <a:r>
              <a:rPr lang="en" sz="1800">
                <a:solidFill>
                  <a:srgbClr val="022FAE"/>
                </a:solidFill>
              </a:rPr>
              <a:t> </a:t>
            </a:r>
            <a:r>
              <a:rPr lang="en" sz="1800">
                <a:solidFill>
                  <a:srgbClr val="022FAE"/>
                </a:solidFill>
                <a:latin typeface="Arial"/>
                <a:ea typeface="Arial"/>
                <a:cs typeface="Arial"/>
                <a:sym typeface="Arial"/>
              </a:rPr>
              <a:t>end</a:t>
            </a:r>
            <a:endParaRPr sz="1800">
              <a:latin typeface="Arial"/>
              <a:ea typeface="Arial"/>
              <a:cs typeface="Arial"/>
              <a:sym typeface="Arial"/>
            </a:endParaRPr>
          </a:p>
          <a:p>
            <a:pPr indent="0" lvl="0" marL="12700" rtl="0" algn="l">
              <a:lnSpc>
                <a:spcPct val="100000"/>
              </a:lnSpc>
              <a:spcBef>
                <a:spcPts val="0"/>
              </a:spcBef>
              <a:spcAft>
                <a:spcPts val="0"/>
              </a:spcAft>
              <a:buNone/>
            </a:pPr>
            <a:r>
              <a:rPr lang="en" sz="1800">
                <a:solidFill>
                  <a:srgbClr val="022FAE"/>
                </a:solidFill>
                <a:latin typeface="Arial"/>
                <a:ea typeface="Arial"/>
                <a:cs typeface="Arial"/>
                <a:sym typeface="Arial"/>
              </a:rPr>
              <a:t>endmodule</a:t>
            </a:r>
            <a:endParaRPr sz="1800">
              <a:latin typeface="Arial"/>
              <a:ea typeface="Arial"/>
              <a:cs typeface="Arial"/>
              <a:sym typeface="Arial"/>
            </a:endParaRPr>
          </a:p>
        </p:txBody>
      </p:sp>
      <p:pic>
        <p:nvPicPr>
          <p:cNvPr descr="A purple and white sign with white letters" id="169" name="Google Shape;169;p23"/>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4"/>
          <p:cNvSpPr txBox="1"/>
          <p:nvPr>
            <p:ph type="title"/>
          </p:nvPr>
        </p:nvSpPr>
        <p:spPr>
          <a:xfrm>
            <a:off x="234625" y="3700"/>
            <a:ext cx="8909400" cy="505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sz="3200">
                <a:solidFill>
                  <a:srgbClr val="022FAE"/>
                </a:solidFill>
              </a:rPr>
              <a:t>Testbench for nandxor example</a:t>
            </a:r>
            <a:endParaRPr sz="3200"/>
          </a:p>
        </p:txBody>
      </p:sp>
      <p:sp>
        <p:nvSpPr>
          <p:cNvPr id="175" name="Google Shape;175;p24"/>
          <p:cNvSpPr txBox="1"/>
          <p:nvPr/>
        </p:nvSpPr>
        <p:spPr>
          <a:xfrm>
            <a:off x="623417" y="537229"/>
            <a:ext cx="2528570" cy="641033"/>
          </a:xfrm>
          <a:prstGeom prst="rect">
            <a:avLst/>
          </a:prstGeom>
          <a:noFill/>
          <a:ln>
            <a:noFill/>
          </a:ln>
        </p:spPr>
        <p:txBody>
          <a:bodyPr anchorCtr="0" anchor="t" bIns="0" lIns="0" spcFirstLastPara="1" rIns="0" wrap="square" tIns="9525">
            <a:spAutoFit/>
          </a:bodyPr>
          <a:lstStyle/>
          <a:p>
            <a:pPr indent="0" lvl="0" marL="12700" marR="5080" rtl="0" algn="l">
              <a:lnSpc>
                <a:spcPct val="101000"/>
              </a:lnSpc>
              <a:spcBef>
                <a:spcPts val="0"/>
              </a:spcBef>
              <a:spcAft>
                <a:spcPts val="0"/>
              </a:spcAft>
              <a:buNone/>
            </a:pPr>
            <a:r>
              <a:rPr lang="en" sz="1800">
                <a:solidFill>
                  <a:srgbClr val="022FAE"/>
                </a:solidFill>
                <a:latin typeface="Arial"/>
                <a:ea typeface="Arial"/>
                <a:cs typeface="Arial"/>
                <a:sym typeface="Arial"/>
              </a:rPr>
              <a:t>module test_nandxor; reg a,b,c;</a:t>
            </a:r>
            <a:endParaRPr sz="1800">
              <a:latin typeface="Arial"/>
              <a:ea typeface="Arial"/>
              <a:cs typeface="Arial"/>
              <a:sym typeface="Arial"/>
            </a:endParaRPr>
          </a:p>
          <a:p>
            <a:pPr indent="0" lvl="0" marL="12700" rtl="0" algn="l">
              <a:lnSpc>
                <a:spcPct val="100000"/>
              </a:lnSpc>
              <a:spcBef>
                <a:spcPts val="25"/>
              </a:spcBef>
              <a:spcAft>
                <a:spcPts val="0"/>
              </a:spcAft>
              <a:buNone/>
            </a:pPr>
            <a:r>
              <a:rPr lang="en" sz="1800">
                <a:solidFill>
                  <a:srgbClr val="022FAE"/>
                </a:solidFill>
                <a:latin typeface="Arial"/>
                <a:ea typeface="Arial"/>
                <a:cs typeface="Arial"/>
                <a:sym typeface="Arial"/>
              </a:rPr>
              <a:t>wire d;</a:t>
            </a:r>
            <a:endParaRPr sz="1800">
              <a:latin typeface="Arial"/>
              <a:ea typeface="Arial"/>
              <a:cs typeface="Arial"/>
              <a:sym typeface="Arial"/>
            </a:endParaRPr>
          </a:p>
        </p:txBody>
      </p:sp>
      <p:sp>
        <p:nvSpPr>
          <p:cNvPr id="176" name="Google Shape;176;p24"/>
          <p:cNvSpPr txBox="1"/>
          <p:nvPr/>
        </p:nvSpPr>
        <p:spPr>
          <a:xfrm>
            <a:off x="623424" y="1440675"/>
            <a:ext cx="3534600" cy="8439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sz="1800">
                <a:solidFill>
                  <a:srgbClr val="022FAE"/>
                </a:solidFill>
                <a:latin typeface="Arial"/>
                <a:ea typeface="Arial"/>
                <a:cs typeface="Arial"/>
                <a:sym typeface="Arial"/>
              </a:rPr>
              <a:t>nandxor n </a:t>
            </a:r>
            <a:endParaRPr sz="1800">
              <a:solidFill>
                <a:srgbClr val="022FAE"/>
              </a:solidFill>
              <a:latin typeface="Arial"/>
              <a:ea typeface="Arial"/>
              <a:cs typeface="Arial"/>
              <a:sym typeface="Arial"/>
            </a:endParaRPr>
          </a:p>
          <a:p>
            <a:pPr indent="0" lvl="0" marL="12700" rtl="0" algn="l">
              <a:lnSpc>
                <a:spcPct val="100000"/>
              </a:lnSpc>
              <a:spcBef>
                <a:spcPts val="0"/>
              </a:spcBef>
              <a:spcAft>
                <a:spcPts val="0"/>
              </a:spcAft>
              <a:buNone/>
            </a:pPr>
            <a:r>
              <a:rPr lang="en" sz="1800">
                <a:solidFill>
                  <a:srgbClr val="022FAE"/>
                </a:solidFill>
                <a:latin typeface="Arial"/>
                <a:ea typeface="Arial"/>
                <a:cs typeface="Arial"/>
                <a:sym typeface="Arial"/>
              </a:rPr>
              <a:t>(.a(a), .b(b), .c(c)</a:t>
            </a:r>
            <a:r>
              <a:rPr lang="en" sz="1800">
                <a:solidFill>
                  <a:srgbClr val="022FAE"/>
                </a:solidFill>
              </a:rPr>
              <a:t>, .d(d)</a:t>
            </a:r>
            <a:endParaRPr sz="1800">
              <a:solidFill>
                <a:srgbClr val="022FAE"/>
              </a:solidFill>
            </a:endParaRPr>
          </a:p>
          <a:p>
            <a:pPr indent="0" lvl="0" marL="12700" rtl="0" algn="l">
              <a:lnSpc>
                <a:spcPct val="100000"/>
              </a:lnSpc>
              <a:spcBef>
                <a:spcPts val="0"/>
              </a:spcBef>
              <a:spcAft>
                <a:spcPts val="0"/>
              </a:spcAft>
              <a:buNone/>
            </a:pPr>
            <a:r>
              <a:rPr lang="en" sz="1800">
                <a:solidFill>
                  <a:srgbClr val="022FAE"/>
                </a:solidFill>
              </a:rPr>
              <a:t>);</a:t>
            </a:r>
            <a:endParaRPr sz="1800">
              <a:solidFill>
                <a:srgbClr val="022FAE"/>
              </a:solidFill>
            </a:endParaRPr>
          </a:p>
        </p:txBody>
      </p:sp>
      <p:sp>
        <p:nvSpPr>
          <p:cNvPr id="177" name="Google Shape;177;p24"/>
          <p:cNvSpPr txBox="1"/>
          <p:nvPr/>
        </p:nvSpPr>
        <p:spPr>
          <a:xfrm>
            <a:off x="472400" y="2444615"/>
            <a:ext cx="3534600" cy="247110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lang="en" sz="1800">
                <a:solidFill>
                  <a:srgbClr val="022FAE"/>
                </a:solidFill>
                <a:latin typeface="Arial"/>
                <a:ea typeface="Arial"/>
                <a:cs typeface="Arial"/>
                <a:sym typeface="Arial"/>
              </a:rPr>
              <a:t>i</a:t>
            </a:r>
            <a:r>
              <a:rPr lang="en">
                <a:solidFill>
                  <a:srgbClr val="022FAE"/>
                </a:solidFill>
                <a:latin typeface="Arial"/>
                <a:ea typeface="Arial"/>
                <a:cs typeface="Arial"/>
                <a:sym typeface="Arial"/>
              </a:rPr>
              <a:t>nitial begin: TEST_BLOCK</a:t>
            </a:r>
            <a:endParaRPr>
              <a:latin typeface="Arial"/>
              <a:ea typeface="Arial"/>
              <a:cs typeface="Arial"/>
              <a:sym typeface="Arial"/>
            </a:endParaRPr>
          </a:p>
          <a:p>
            <a:pPr indent="0" lvl="0" marL="304800" rtl="0" algn="l">
              <a:lnSpc>
                <a:spcPct val="100000"/>
              </a:lnSpc>
              <a:spcBef>
                <a:spcPts val="25"/>
              </a:spcBef>
              <a:spcAft>
                <a:spcPts val="0"/>
              </a:spcAft>
              <a:buNone/>
            </a:pPr>
            <a:r>
              <a:rPr lang="en">
                <a:solidFill>
                  <a:srgbClr val="022FAE"/>
                </a:solidFill>
                <a:latin typeface="Arial"/>
                <a:ea typeface="Arial"/>
                <a:cs typeface="Arial"/>
                <a:sym typeface="Arial"/>
              </a:rPr>
              <a:t>a &lt;= 0;</a:t>
            </a:r>
            <a:endParaRPr>
              <a:latin typeface="Arial"/>
              <a:ea typeface="Arial"/>
              <a:cs typeface="Arial"/>
              <a:sym typeface="Arial"/>
            </a:endParaRPr>
          </a:p>
          <a:p>
            <a:pPr indent="0" lvl="0" marL="304800" rtl="0" algn="l">
              <a:lnSpc>
                <a:spcPct val="100000"/>
              </a:lnSpc>
              <a:spcBef>
                <a:spcPts val="20"/>
              </a:spcBef>
              <a:spcAft>
                <a:spcPts val="0"/>
              </a:spcAft>
              <a:buNone/>
            </a:pPr>
            <a:r>
              <a:rPr lang="en">
                <a:solidFill>
                  <a:srgbClr val="022FAE"/>
                </a:solidFill>
                <a:latin typeface="Arial"/>
                <a:ea typeface="Arial"/>
                <a:cs typeface="Arial"/>
                <a:sym typeface="Arial"/>
              </a:rPr>
              <a:t>b &lt;= 0;</a:t>
            </a:r>
            <a:endParaRPr>
              <a:latin typeface="Arial"/>
              <a:ea typeface="Arial"/>
              <a:cs typeface="Arial"/>
              <a:sym typeface="Arial"/>
            </a:endParaRPr>
          </a:p>
          <a:p>
            <a:pPr indent="0" lvl="0" marL="304800" rtl="0" algn="l">
              <a:lnSpc>
                <a:spcPct val="100000"/>
              </a:lnSpc>
              <a:spcBef>
                <a:spcPts val="25"/>
              </a:spcBef>
              <a:spcAft>
                <a:spcPts val="0"/>
              </a:spcAft>
              <a:buNone/>
            </a:pPr>
            <a:r>
              <a:rPr lang="en">
                <a:solidFill>
                  <a:srgbClr val="022FAE"/>
                </a:solidFill>
                <a:latin typeface="Arial"/>
                <a:ea typeface="Arial"/>
                <a:cs typeface="Arial"/>
                <a:sym typeface="Arial"/>
              </a:rPr>
              <a:t>c &lt;= 0; //correct output d = 1</a:t>
            </a:r>
            <a:endParaRPr>
              <a:latin typeface="Arial"/>
              <a:ea typeface="Arial"/>
              <a:cs typeface="Arial"/>
              <a:sym typeface="Arial"/>
            </a:endParaRPr>
          </a:p>
          <a:p>
            <a:pPr indent="0" lvl="0" marL="304800" rtl="0" algn="l">
              <a:lnSpc>
                <a:spcPct val="100000"/>
              </a:lnSpc>
              <a:spcBef>
                <a:spcPts val="20"/>
              </a:spcBef>
              <a:spcAft>
                <a:spcPts val="0"/>
              </a:spcAft>
              <a:buNone/>
            </a:pPr>
            <a:r>
              <a:rPr lang="en">
                <a:solidFill>
                  <a:srgbClr val="022FAE"/>
                </a:solidFill>
                <a:latin typeface="Arial"/>
                <a:ea typeface="Arial"/>
                <a:cs typeface="Arial"/>
                <a:sym typeface="Arial"/>
              </a:rPr>
              <a:t>#10</a:t>
            </a:r>
            <a:endParaRPr>
              <a:latin typeface="Arial"/>
              <a:ea typeface="Arial"/>
              <a:cs typeface="Arial"/>
              <a:sym typeface="Arial"/>
            </a:endParaRPr>
          </a:p>
          <a:p>
            <a:pPr indent="0" lvl="0" marL="304800" rtl="0" algn="l">
              <a:lnSpc>
                <a:spcPct val="100000"/>
              </a:lnSpc>
              <a:spcBef>
                <a:spcPts val="25"/>
              </a:spcBef>
              <a:spcAft>
                <a:spcPts val="0"/>
              </a:spcAft>
              <a:buNone/>
            </a:pPr>
            <a:r>
              <a:rPr lang="en">
                <a:solidFill>
                  <a:srgbClr val="022FAE"/>
                </a:solidFill>
                <a:latin typeface="Arial"/>
                <a:ea typeface="Arial"/>
                <a:cs typeface="Arial"/>
                <a:sym typeface="Arial"/>
              </a:rPr>
              <a:t>a &lt;= 1;</a:t>
            </a:r>
            <a:endParaRPr>
              <a:latin typeface="Arial"/>
              <a:ea typeface="Arial"/>
              <a:cs typeface="Arial"/>
              <a:sym typeface="Arial"/>
            </a:endParaRPr>
          </a:p>
          <a:p>
            <a:pPr indent="0" lvl="0" marL="304800" rtl="0" algn="l">
              <a:lnSpc>
                <a:spcPct val="100000"/>
              </a:lnSpc>
              <a:spcBef>
                <a:spcPts val="25"/>
              </a:spcBef>
              <a:spcAft>
                <a:spcPts val="0"/>
              </a:spcAft>
              <a:buNone/>
            </a:pPr>
            <a:r>
              <a:rPr lang="en">
                <a:solidFill>
                  <a:srgbClr val="022FAE"/>
                </a:solidFill>
                <a:latin typeface="Arial"/>
                <a:ea typeface="Arial"/>
                <a:cs typeface="Arial"/>
                <a:sym typeface="Arial"/>
              </a:rPr>
              <a:t>b &lt;= 0;</a:t>
            </a:r>
            <a:endParaRPr>
              <a:latin typeface="Arial"/>
              <a:ea typeface="Arial"/>
              <a:cs typeface="Arial"/>
              <a:sym typeface="Arial"/>
            </a:endParaRPr>
          </a:p>
          <a:p>
            <a:pPr indent="0" lvl="0" marL="304800" rtl="0" algn="l">
              <a:lnSpc>
                <a:spcPct val="100000"/>
              </a:lnSpc>
              <a:spcBef>
                <a:spcPts val="20"/>
              </a:spcBef>
              <a:spcAft>
                <a:spcPts val="0"/>
              </a:spcAft>
              <a:buNone/>
            </a:pPr>
            <a:r>
              <a:rPr lang="en">
                <a:solidFill>
                  <a:srgbClr val="022FAE"/>
                </a:solidFill>
                <a:latin typeface="Arial"/>
                <a:ea typeface="Arial"/>
                <a:cs typeface="Arial"/>
                <a:sym typeface="Arial"/>
              </a:rPr>
              <a:t>c &lt;= 0; //correct output d = 1</a:t>
            </a:r>
            <a:endParaRPr>
              <a:latin typeface="Arial"/>
              <a:ea typeface="Arial"/>
              <a:cs typeface="Arial"/>
              <a:sym typeface="Arial"/>
            </a:endParaRPr>
          </a:p>
          <a:p>
            <a:pPr indent="0" lvl="0" marL="12700" rtl="0" algn="l">
              <a:lnSpc>
                <a:spcPct val="100000"/>
              </a:lnSpc>
              <a:spcBef>
                <a:spcPts val="0"/>
              </a:spcBef>
              <a:spcAft>
                <a:spcPts val="0"/>
              </a:spcAft>
              <a:buNone/>
            </a:pPr>
            <a:r>
              <a:rPr lang="en">
                <a:solidFill>
                  <a:srgbClr val="022FAE"/>
                </a:solidFill>
              </a:rPr>
              <a:t>    </a:t>
            </a:r>
            <a:r>
              <a:rPr lang="en">
                <a:solidFill>
                  <a:srgbClr val="022FAE"/>
                </a:solidFill>
                <a:latin typeface="Arial"/>
                <a:ea typeface="Arial"/>
                <a:cs typeface="Arial"/>
                <a:sym typeface="Arial"/>
              </a:rPr>
              <a:t>#10a &lt;= 0;</a:t>
            </a:r>
            <a:endParaRPr>
              <a:latin typeface="Arial"/>
              <a:ea typeface="Arial"/>
              <a:cs typeface="Arial"/>
              <a:sym typeface="Arial"/>
            </a:endParaRPr>
          </a:p>
          <a:p>
            <a:pPr indent="0" lvl="0" marL="304800" rtl="0" algn="l">
              <a:lnSpc>
                <a:spcPct val="100000"/>
              </a:lnSpc>
              <a:spcBef>
                <a:spcPts val="20"/>
              </a:spcBef>
              <a:spcAft>
                <a:spcPts val="0"/>
              </a:spcAft>
              <a:buNone/>
            </a:pPr>
            <a:r>
              <a:rPr lang="en">
                <a:solidFill>
                  <a:srgbClr val="022FAE"/>
                </a:solidFill>
                <a:latin typeface="Arial"/>
                <a:ea typeface="Arial"/>
                <a:cs typeface="Arial"/>
                <a:sym typeface="Arial"/>
              </a:rPr>
              <a:t>b &lt;= 1;</a:t>
            </a:r>
            <a:endParaRPr>
              <a:latin typeface="Arial"/>
              <a:ea typeface="Arial"/>
              <a:cs typeface="Arial"/>
              <a:sym typeface="Arial"/>
            </a:endParaRPr>
          </a:p>
          <a:p>
            <a:pPr indent="0" lvl="0" marL="304800" rtl="0" algn="l">
              <a:lnSpc>
                <a:spcPct val="100000"/>
              </a:lnSpc>
              <a:spcBef>
                <a:spcPts val="25"/>
              </a:spcBef>
              <a:spcAft>
                <a:spcPts val="0"/>
              </a:spcAft>
              <a:buNone/>
            </a:pPr>
            <a:r>
              <a:rPr lang="en">
                <a:solidFill>
                  <a:srgbClr val="022FAE"/>
                </a:solidFill>
                <a:latin typeface="Arial"/>
                <a:ea typeface="Arial"/>
                <a:cs typeface="Arial"/>
                <a:sym typeface="Arial"/>
              </a:rPr>
              <a:t>c &lt;= 0; //correct output d = 1</a:t>
            </a:r>
            <a:endParaRPr>
              <a:latin typeface="Arial"/>
              <a:ea typeface="Arial"/>
              <a:cs typeface="Arial"/>
              <a:sym typeface="Arial"/>
            </a:endParaRPr>
          </a:p>
        </p:txBody>
      </p:sp>
      <p:sp>
        <p:nvSpPr>
          <p:cNvPr id="178" name="Google Shape;178;p24"/>
          <p:cNvSpPr txBox="1"/>
          <p:nvPr/>
        </p:nvSpPr>
        <p:spPr>
          <a:xfrm>
            <a:off x="4867110" y="537224"/>
            <a:ext cx="3759900" cy="4524300"/>
          </a:xfrm>
          <a:prstGeom prst="rect">
            <a:avLst/>
          </a:prstGeom>
          <a:noFill/>
          <a:ln>
            <a:noFill/>
          </a:ln>
        </p:spPr>
        <p:txBody>
          <a:bodyPr anchorCtr="0" anchor="t" bIns="0" lIns="0" spcFirstLastPara="1" rIns="0" wrap="square" tIns="12700">
            <a:spAutoFit/>
          </a:bodyPr>
          <a:lstStyle/>
          <a:p>
            <a:pPr indent="0" lvl="0" marL="304800" rtl="0" algn="l">
              <a:lnSpc>
                <a:spcPct val="100000"/>
              </a:lnSpc>
              <a:spcBef>
                <a:spcPts val="0"/>
              </a:spcBef>
              <a:spcAft>
                <a:spcPts val="0"/>
              </a:spcAft>
              <a:buNone/>
            </a:pPr>
            <a:r>
              <a:rPr lang="en" sz="1200">
                <a:solidFill>
                  <a:srgbClr val="022FAE"/>
                </a:solidFill>
                <a:latin typeface="Arial"/>
                <a:ea typeface="Arial"/>
                <a:cs typeface="Arial"/>
                <a:sym typeface="Arial"/>
              </a:rPr>
              <a:t>a &lt;= 1;</a:t>
            </a:r>
            <a:endParaRPr sz="1200">
              <a:latin typeface="Arial"/>
              <a:ea typeface="Arial"/>
              <a:cs typeface="Arial"/>
              <a:sym typeface="Arial"/>
            </a:endParaRPr>
          </a:p>
          <a:p>
            <a:pPr indent="0" lvl="0" marL="304800" rtl="0" algn="l">
              <a:lnSpc>
                <a:spcPct val="100000"/>
              </a:lnSpc>
              <a:spcBef>
                <a:spcPts val="20"/>
              </a:spcBef>
              <a:spcAft>
                <a:spcPts val="0"/>
              </a:spcAft>
              <a:buNone/>
            </a:pPr>
            <a:r>
              <a:rPr lang="en" sz="1200">
                <a:solidFill>
                  <a:srgbClr val="022FAE"/>
                </a:solidFill>
                <a:latin typeface="Arial"/>
                <a:ea typeface="Arial"/>
                <a:cs typeface="Arial"/>
                <a:sym typeface="Arial"/>
              </a:rPr>
              <a:t>b &lt;= 1;</a:t>
            </a:r>
            <a:endParaRPr sz="1200">
              <a:latin typeface="Arial"/>
              <a:ea typeface="Arial"/>
              <a:cs typeface="Arial"/>
              <a:sym typeface="Arial"/>
            </a:endParaRPr>
          </a:p>
          <a:p>
            <a:pPr indent="0" lvl="0" marL="304800" marR="5080" rtl="0" algn="l">
              <a:lnSpc>
                <a:spcPct val="121111"/>
              </a:lnSpc>
              <a:spcBef>
                <a:spcPts val="80"/>
              </a:spcBef>
              <a:spcAft>
                <a:spcPts val="0"/>
              </a:spcAft>
              <a:buNone/>
            </a:pPr>
            <a:r>
              <a:rPr lang="en" sz="1200">
                <a:solidFill>
                  <a:srgbClr val="022FAE"/>
                </a:solidFill>
                <a:latin typeface="Arial"/>
                <a:ea typeface="Arial"/>
                <a:cs typeface="Arial"/>
                <a:sym typeface="Arial"/>
              </a:rPr>
              <a:t>c &lt;= 0; //correct output d = 0 </a:t>
            </a:r>
            <a:endParaRPr sz="1200">
              <a:solidFill>
                <a:srgbClr val="022FAE"/>
              </a:solidFill>
              <a:latin typeface="Arial"/>
              <a:ea typeface="Arial"/>
              <a:cs typeface="Arial"/>
              <a:sym typeface="Arial"/>
            </a:endParaRPr>
          </a:p>
          <a:p>
            <a:pPr indent="0" lvl="0" marL="304800" marR="5080" rtl="0" algn="l">
              <a:lnSpc>
                <a:spcPct val="121111"/>
              </a:lnSpc>
              <a:spcBef>
                <a:spcPts val="80"/>
              </a:spcBef>
              <a:spcAft>
                <a:spcPts val="0"/>
              </a:spcAft>
              <a:buNone/>
            </a:pPr>
            <a:r>
              <a:rPr lang="en" sz="1200">
                <a:solidFill>
                  <a:srgbClr val="022FAE"/>
                </a:solidFill>
                <a:latin typeface="Arial"/>
                <a:ea typeface="Arial"/>
                <a:cs typeface="Arial"/>
                <a:sym typeface="Arial"/>
              </a:rPr>
              <a:t>#10</a:t>
            </a:r>
            <a:endParaRPr sz="1200">
              <a:latin typeface="Arial"/>
              <a:ea typeface="Arial"/>
              <a:cs typeface="Arial"/>
              <a:sym typeface="Arial"/>
            </a:endParaRPr>
          </a:p>
          <a:p>
            <a:pPr indent="0" lvl="0" marL="304800" rtl="0" algn="l">
              <a:lnSpc>
                <a:spcPct val="117222"/>
              </a:lnSpc>
              <a:spcBef>
                <a:spcPts val="0"/>
              </a:spcBef>
              <a:spcAft>
                <a:spcPts val="0"/>
              </a:spcAft>
              <a:buNone/>
            </a:pPr>
            <a:r>
              <a:rPr lang="en" sz="1200">
                <a:solidFill>
                  <a:srgbClr val="022FAE"/>
                </a:solidFill>
                <a:latin typeface="Arial"/>
                <a:ea typeface="Arial"/>
                <a:cs typeface="Arial"/>
                <a:sym typeface="Arial"/>
              </a:rPr>
              <a:t>a &lt;= 0;</a:t>
            </a:r>
            <a:endParaRPr sz="1200">
              <a:latin typeface="Arial"/>
              <a:ea typeface="Arial"/>
              <a:cs typeface="Arial"/>
              <a:sym typeface="Arial"/>
            </a:endParaRPr>
          </a:p>
          <a:p>
            <a:pPr indent="0" lvl="0" marL="304800" rtl="0" algn="l">
              <a:lnSpc>
                <a:spcPct val="100000"/>
              </a:lnSpc>
              <a:spcBef>
                <a:spcPts val="20"/>
              </a:spcBef>
              <a:spcAft>
                <a:spcPts val="0"/>
              </a:spcAft>
              <a:buNone/>
            </a:pPr>
            <a:r>
              <a:rPr lang="en" sz="1200">
                <a:solidFill>
                  <a:srgbClr val="022FAE"/>
                </a:solidFill>
                <a:latin typeface="Arial"/>
                <a:ea typeface="Arial"/>
                <a:cs typeface="Arial"/>
                <a:sym typeface="Arial"/>
              </a:rPr>
              <a:t>b &lt;= 0;</a:t>
            </a:r>
            <a:endParaRPr sz="1200">
              <a:latin typeface="Arial"/>
              <a:ea typeface="Arial"/>
              <a:cs typeface="Arial"/>
              <a:sym typeface="Arial"/>
            </a:endParaRPr>
          </a:p>
          <a:p>
            <a:pPr indent="0" lvl="0" marL="304800" marR="5080" rtl="0" algn="l">
              <a:lnSpc>
                <a:spcPct val="121111"/>
              </a:lnSpc>
              <a:spcBef>
                <a:spcPts val="80"/>
              </a:spcBef>
              <a:spcAft>
                <a:spcPts val="0"/>
              </a:spcAft>
              <a:buNone/>
            </a:pPr>
            <a:r>
              <a:rPr lang="en" sz="1200">
                <a:solidFill>
                  <a:srgbClr val="022FAE"/>
                </a:solidFill>
                <a:latin typeface="Arial"/>
                <a:ea typeface="Arial"/>
                <a:cs typeface="Arial"/>
                <a:sym typeface="Arial"/>
              </a:rPr>
              <a:t>c &lt;= 1; //correct output d = 0 </a:t>
            </a:r>
            <a:endParaRPr sz="1200">
              <a:solidFill>
                <a:srgbClr val="022FAE"/>
              </a:solidFill>
              <a:latin typeface="Arial"/>
              <a:ea typeface="Arial"/>
              <a:cs typeface="Arial"/>
              <a:sym typeface="Arial"/>
            </a:endParaRPr>
          </a:p>
          <a:p>
            <a:pPr indent="0" lvl="0" marL="304800" marR="5080" rtl="0" algn="l">
              <a:lnSpc>
                <a:spcPct val="121111"/>
              </a:lnSpc>
              <a:spcBef>
                <a:spcPts val="80"/>
              </a:spcBef>
              <a:spcAft>
                <a:spcPts val="0"/>
              </a:spcAft>
              <a:buNone/>
            </a:pPr>
            <a:r>
              <a:rPr lang="en" sz="1200">
                <a:solidFill>
                  <a:srgbClr val="022FAE"/>
                </a:solidFill>
                <a:latin typeface="Arial"/>
                <a:ea typeface="Arial"/>
                <a:cs typeface="Arial"/>
                <a:sym typeface="Arial"/>
              </a:rPr>
              <a:t>#10</a:t>
            </a:r>
            <a:endParaRPr sz="1200">
              <a:latin typeface="Arial"/>
              <a:ea typeface="Arial"/>
              <a:cs typeface="Arial"/>
              <a:sym typeface="Arial"/>
            </a:endParaRPr>
          </a:p>
          <a:p>
            <a:pPr indent="0" lvl="0" marL="304800" rtl="0" algn="l">
              <a:lnSpc>
                <a:spcPct val="117222"/>
              </a:lnSpc>
              <a:spcBef>
                <a:spcPts val="0"/>
              </a:spcBef>
              <a:spcAft>
                <a:spcPts val="0"/>
              </a:spcAft>
              <a:buNone/>
            </a:pPr>
            <a:r>
              <a:rPr lang="en" sz="1200">
                <a:solidFill>
                  <a:srgbClr val="022FAE"/>
                </a:solidFill>
                <a:latin typeface="Arial"/>
                <a:ea typeface="Arial"/>
                <a:cs typeface="Arial"/>
                <a:sym typeface="Arial"/>
              </a:rPr>
              <a:t>a &lt;= 1;</a:t>
            </a:r>
            <a:endParaRPr sz="1200">
              <a:latin typeface="Arial"/>
              <a:ea typeface="Arial"/>
              <a:cs typeface="Arial"/>
              <a:sym typeface="Arial"/>
            </a:endParaRPr>
          </a:p>
          <a:p>
            <a:pPr indent="0" lvl="0" marL="304800" rtl="0" algn="l">
              <a:lnSpc>
                <a:spcPct val="100000"/>
              </a:lnSpc>
              <a:spcBef>
                <a:spcPts val="25"/>
              </a:spcBef>
              <a:spcAft>
                <a:spcPts val="0"/>
              </a:spcAft>
              <a:buNone/>
            </a:pPr>
            <a:r>
              <a:rPr lang="en" sz="1200">
                <a:solidFill>
                  <a:srgbClr val="022FAE"/>
                </a:solidFill>
                <a:latin typeface="Arial"/>
                <a:ea typeface="Arial"/>
                <a:cs typeface="Arial"/>
                <a:sym typeface="Arial"/>
              </a:rPr>
              <a:t>b &lt;= 0;</a:t>
            </a:r>
            <a:endParaRPr sz="1200">
              <a:latin typeface="Arial"/>
              <a:ea typeface="Arial"/>
              <a:cs typeface="Arial"/>
              <a:sym typeface="Arial"/>
            </a:endParaRPr>
          </a:p>
          <a:p>
            <a:pPr indent="0" lvl="0" marL="304800" marR="5080" rtl="0" algn="l">
              <a:lnSpc>
                <a:spcPct val="121111"/>
              </a:lnSpc>
              <a:spcBef>
                <a:spcPts val="75"/>
              </a:spcBef>
              <a:spcAft>
                <a:spcPts val="0"/>
              </a:spcAft>
              <a:buNone/>
            </a:pPr>
            <a:r>
              <a:rPr lang="en" sz="1200">
                <a:solidFill>
                  <a:srgbClr val="022FAE"/>
                </a:solidFill>
                <a:latin typeface="Arial"/>
                <a:ea typeface="Arial"/>
                <a:cs typeface="Arial"/>
                <a:sym typeface="Arial"/>
              </a:rPr>
              <a:t>c &lt;= 1; //correct output d = 0 </a:t>
            </a:r>
            <a:endParaRPr sz="1200">
              <a:solidFill>
                <a:srgbClr val="022FAE"/>
              </a:solidFill>
              <a:latin typeface="Arial"/>
              <a:ea typeface="Arial"/>
              <a:cs typeface="Arial"/>
              <a:sym typeface="Arial"/>
            </a:endParaRPr>
          </a:p>
          <a:p>
            <a:pPr indent="0" lvl="0" marL="304800" marR="5080" rtl="0" algn="l">
              <a:lnSpc>
                <a:spcPct val="121111"/>
              </a:lnSpc>
              <a:spcBef>
                <a:spcPts val="75"/>
              </a:spcBef>
              <a:spcAft>
                <a:spcPts val="0"/>
              </a:spcAft>
              <a:buNone/>
            </a:pPr>
            <a:r>
              <a:rPr lang="en" sz="1200">
                <a:solidFill>
                  <a:srgbClr val="022FAE"/>
                </a:solidFill>
                <a:latin typeface="Arial"/>
                <a:ea typeface="Arial"/>
                <a:cs typeface="Arial"/>
                <a:sym typeface="Arial"/>
              </a:rPr>
              <a:t>#10</a:t>
            </a:r>
            <a:endParaRPr sz="1200">
              <a:latin typeface="Arial"/>
              <a:ea typeface="Arial"/>
              <a:cs typeface="Arial"/>
              <a:sym typeface="Arial"/>
            </a:endParaRPr>
          </a:p>
          <a:p>
            <a:pPr indent="0" lvl="0" marL="304800" rtl="0" algn="l">
              <a:lnSpc>
                <a:spcPct val="117222"/>
              </a:lnSpc>
              <a:spcBef>
                <a:spcPts val="0"/>
              </a:spcBef>
              <a:spcAft>
                <a:spcPts val="0"/>
              </a:spcAft>
              <a:buNone/>
            </a:pPr>
            <a:r>
              <a:rPr lang="en" sz="1200">
                <a:solidFill>
                  <a:srgbClr val="022FAE"/>
                </a:solidFill>
                <a:latin typeface="Arial"/>
                <a:ea typeface="Arial"/>
                <a:cs typeface="Arial"/>
                <a:sym typeface="Arial"/>
              </a:rPr>
              <a:t>a &lt;= 0;</a:t>
            </a:r>
            <a:endParaRPr sz="1200">
              <a:latin typeface="Arial"/>
              <a:ea typeface="Arial"/>
              <a:cs typeface="Arial"/>
              <a:sym typeface="Arial"/>
            </a:endParaRPr>
          </a:p>
          <a:p>
            <a:pPr indent="0" lvl="0" marL="304800" rtl="0" algn="l">
              <a:lnSpc>
                <a:spcPct val="100000"/>
              </a:lnSpc>
              <a:spcBef>
                <a:spcPts val="25"/>
              </a:spcBef>
              <a:spcAft>
                <a:spcPts val="0"/>
              </a:spcAft>
              <a:buNone/>
            </a:pPr>
            <a:r>
              <a:rPr lang="en" sz="1200">
                <a:solidFill>
                  <a:srgbClr val="022FAE"/>
                </a:solidFill>
                <a:latin typeface="Arial"/>
                <a:ea typeface="Arial"/>
                <a:cs typeface="Arial"/>
                <a:sym typeface="Arial"/>
              </a:rPr>
              <a:t>b &lt;= 1;</a:t>
            </a:r>
            <a:endParaRPr sz="1200">
              <a:latin typeface="Arial"/>
              <a:ea typeface="Arial"/>
              <a:cs typeface="Arial"/>
              <a:sym typeface="Arial"/>
            </a:endParaRPr>
          </a:p>
          <a:p>
            <a:pPr indent="0" lvl="0" marL="304800" marR="5080" rtl="0" algn="l">
              <a:lnSpc>
                <a:spcPct val="121111"/>
              </a:lnSpc>
              <a:spcBef>
                <a:spcPts val="80"/>
              </a:spcBef>
              <a:spcAft>
                <a:spcPts val="0"/>
              </a:spcAft>
              <a:buNone/>
            </a:pPr>
            <a:r>
              <a:rPr lang="en" sz="1200">
                <a:solidFill>
                  <a:srgbClr val="022FAE"/>
                </a:solidFill>
                <a:latin typeface="Arial"/>
                <a:ea typeface="Arial"/>
                <a:cs typeface="Arial"/>
                <a:sym typeface="Arial"/>
              </a:rPr>
              <a:t>c &lt;= 1; //correct output d = 0 </a:t>
            </a:r>
            <a:endParaRPr sz="1200">
              <a:solidFill>
                <a:srgbClr val="022FAE"/>
              </a:solidFill>
              <a:latin typeface="Arial"/>
              <a:ea typeface="Arial"/>
              <a:cs typeface="Arial"/>
              <a:sym typeface="Arial"/>
            </a:endParaRPr>
          </a:p>
          <a:p>
            <a:pPr indent="0" lvl="0" marL="304800" marR="5080" rtl="0" algn="l">
              <a:lnSpc>
                <a:spcPct val="121111"/>
              </a:lnSpc>
              <a:spcBef>
                <a:spcPts val="80"/>
              </a:spcBef>
              <a:spcAft>
                <a:spcPts val="0"/>
              </a:spcAft>
              <a:buNone/>
            </a:pPr>
            <a:r>
              <a:rPr lang="en" sz="1200">
                <a:solidFill>
                  <a:srgbClr val="022FAE"/>
                </a:solidFill>
                <a:latin typeface="Arial"/>
                <a:ea typeface="Arial"/>
                <a:cs typeface="Arial"/>
                <a:sym typeface="Arial"/>
              </a:rPr>
              <a:t>#10</a:t>
            </a:r>
            <a:endParaRPr sz="1200">
              <a:latin typeface="Arial"/>
              <a:ea typeface="Arial"/>
              <a:cs typeface="Arial"/>
              <a:sym typeface="Arial"/>
            </a:endParaRPr>
          </a:p>
          <a:p>
            <a:pPr indent="0" lvl="0" marL="304800" rtl="0" algn="l">
              <a:lnSpc>
                <a:spcPct val="117222"/>
              </a:lnSpc>
              <a:spcBef>
                <a:spcPts val="0"/>
              </a:spcBef>
              <a:spcAft>
                <a:spcPts val="0"/>
              </a:spcAft>
              <a:buNone/>
            </a:pPr>
            <a:r>
              <a:rPr lang="en" sz="1200">
                <a:solidFill>
                  <a:srgbClr val="022FAE"/>
                </a:solidFill>
                <a:latin typeface="Arial"/>
                <a:ea typeface="Arial"/>
                <a:cs typeface="Arial"/>
                <a:sym typeface="Arial"/>
              </a:rPr>
              <a:t>a &lt;= 1;</a:t>
            </a:r>
            <a:endParaRPr sz="1200">
              <a:latin typeface="Arial"/>
              <a:ea typeface="Arial"/>
              <a:cs typeface="Arial"/>
              <a:sym typeface="Arial"/>
            </a:endParaRPr>
          </a:p>
          <a:p>
            <a:pPr indent="0" lvl="0" marL="304800" rtl="0" algn="l">
              <a:lnSpc>
                <a:spcPct val="100000"/>
              </a:lnSpc>
              <a:spcBef>
                <a:spcPts val="20"/>
              </a:spcBef>
              <a:spcAft>
                <a:spcPts val="0"/>
              </a:spcAft>
              <a:buNone/>
            </a:pPr>
            <a:r>
              <a:rPr lang="en" sz="1200">
                <a:solidFill>
                  <a:srgbClr val="022FAE"/>
                </a:solidFill>
                <a:latin typeface="Arial"/>
                <a:ea typeface="Arial"/>
                <a:cs typeface="Arial"/>
                <a:sym typeface="Arial"/>
              </a:rPr>
              <a:t>b &lt;= 1;</a:t>
            </a:r>
            <a:endParaRPr sz="1200">
              <a:latin typeface="Arial"/>
              <a:ea typeface="Arial"/>
              <a:cs typeface="Arial"/>
              <a:sym typeface="Arial"/>
            </a:endParaRPr>
          </a:p>
          <a:p>
            <a:pPr indent="292100" lvl="0" marL="12700" marR="5080" rtl="0" algn="l">
              <a:lnSpc>
                <a:spcPct val="121111"/>
              </a:lnSpc>
              <a:spcBef>
                <a:spcPts val="80"/>
              </a:spcBef>
              <a:spcAft>
                <a:spcPts val="0"/>
              </a:spcAft>
              <a:buNone/>
            </a:pPr>
            <a:r>
              <a:rPr lang="en" sz="1200">
                <a:solidFill>
                  <a:srgbClr val="022FAE"/>
                </a:solidFill>
                <a:latin typeface="Arial"/>
                <a:ea typeface="Arial"/>
                <a:cs typeface="Arial"/>
                <a:sym typeface="Arial"/>
              </a:rPr>
              <a:t>c &lt;= 1; //correct output d = 1 </a:t>
            </a:r>
            <a:endParaRPr sz="1200">
              <a:solidFill>
                <a:srgbClr val="022FAE"/>
              </a:solidFill>
            </a:endParaRPr>
          </a:p>
          <a:p>
            <a:pPr indent="292100" lvl="0" marL="12700" marR="5080" rtl="0" algn="l">
              <a:lnSpc>
                <a:spcPct val="121111"/>
              </a:lnSpc>
              <a:spcBef>
                <a:spcPts val="80"/>
              </a:spcBef>
              <a:spcAft>
                <a:spcPts val="0"/>
              </a:spcAft>
              <a:buNone/>
            </a:pPr>
            <a:r>
              <a:rPr lang="en" sz="1200">
                <a:solidFill>
                  <a:srgbClr val="022FAE"/>
                </a:solidFill>
                <a:latin typeface="Arial"/>
                <a:ea typeface="Arial"/>
                <a:cs typeface="Arial"/>
                <a:sym typeface="Arial"/>
              </a:rPr>
              <a:t>end</a:t>
            </a:r>
            <a:endParaRPr sz="1200">
              <a:latin typeface="Arial"/>
              <a:ea typeface="Arial"/>
              <a:cs typeface="Arial"/>
              <a:sym typeface="Arial"/>
            </a:endParaRPr>
          </a:p>
          <a:p>
            <a:pPr indent="0" lvl="0" marL="12700" rtl="0" algn="l">
              <a:lnSpc>
                <a:spcPct val="117222"/>
              </a:lnSpc>
              <a:spcBef>
                <a:spcPts val="0"/>
              </a:spcBef>
              <a:spcAft>
                <a:spcPts val="0"/>
              </a:spcAft>
              <a:buNone/>
            </a:pPr>
            <a:r>
              <a:rPr lang="en" sz="1200">
                <a:solidFill>
                  <a:srgbClr val="022FAE"/>
                </a:solidFill>
                <a:latin typeface="Arial"/>
                <a:ea typeface="Arial"/>
                <a:cs typeface="Arial"/>
                <a:sym typeface="Arial"/>
              </a:rPr>
              <a:t>endmodule</a:t>
            </a:r>
            <a:endParaRPr sz="1200">
              <a:latin typeface="Arial"/>
              <a:ea typeface="Arial"/>
              <a:cs typeface="Arial"/>
              <a:sym typeface="Arial"/>
            </a:endParaRPr>
          </a:p>
        </p:txBody>
      </p:sp>
      <p:pic>
        <p:nvPicPr>
          <p:cNvPr descr="A purple and white sign with white letters" id="179" name="Google Shape;179;p24"/>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3" name="Shape 183"/>
        <p:cNvGrpSpPr/>
        <p:nvPr/>
      </p:nvGrpSpPr>
      <p:grpSpPr>
        <a:xfrm>
          <a:off x="0" y="0"/>
          <a:ext cx="0" cy="0"/>
          <a:chOff x="0" y="0"/>
          <a:chExt cx="0" cy="0"/>
        </a:xfrm>
      </p:grpSpPr>
      <p:grpSp>
        <p:nvGrpSpPr>
          <p:cNvPr id="184" name="Google Shape;184;p25"/>
          <p:cNvGrpSpPr/>
          <p:nvPr/>
        </p:nvGrpSpPr>
        <p:grpSpPr>
          <a:xfrm>
            <a:off x="63004" y="52111"/>
            <a:ext cx="0" cy="19165"/>
            <a:chOff x="63004" y="69481"/>
            <a:chExt cx="0" cy="25553"/>
          </a:xfrm>
        </p:grpSpPr>
        <p:sp>
          <p:nvSpPr>
            <p:cNvPr id="185" name="Google Shape;185;p25"/>
            <p:cNvSpPr/>
            <p:nvPr/>
          </p:nvSpPr>
          <p:spPr>
            <a:xfrm>
              <a:off x="63004" y="95034"/>
              <a:ext cx="0" cy="0"/>
            </a:xfrm>
            <a:custGeom>
              <a:rect b="b" l="l" r="r" t="t"/>
              <a:pathLst>
                <a:path extrusionOk="0" h="120000" w="120000">
                  <a:moveTo>
                    <a:pt x="0" y="0"/>
                  </a:moveTo>
                  <a:lnTo>
                    <a:pt x="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6" name="Google Shape;186;p25"/>
            <p:cNvSpPr/>
            <p:nvPr/>
          </p:nvSpPr>
          <p:spPr>
            <a:xfrm>
              <a:off x="63004" y="69481"/>
              <a:ext cx="0" cy="0"/>
            </a:xfrm>
            <a:custGeom>
              <a:rect b="b" l="l" r="r" t="t"/>
              <a:pathLst>
                <a:path extrusionOk="0" h="120000" w="120000">
                  <a:moveTo>
                    <a:pt x="0" y="0"/>
                  </a:moveTo>
                  <a:lnTo>
                    <a:pt x="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87" name="Google Shape;187;p25"/>
          <p:cNvSpPr txBox="1"/>
          <p:nvPr>
            <p:ph type="title"/>
          </p:nvPr>
        </p:nvSpPr>
        <p:spPr>
          <a:xfrm>
            <a:off x="8" y="5"/>
            <a:ext cx="7381800" cy="505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sz="3200">
                <a:solidFill>
                  <a:srgbClr val="022FAE"/>
                </a:solidFill>
              </a:rPr>
              <a:t>Auto Testbench for Verilog</a:t>
            </a:r>
            <a:endParaRPr sz="3200"/>
          </a:p>
        </p:txBody>
      </p:sp>
      <p:sp>
        <p:nvSpPr>
          <p:cNvPr id="188" name="Google Shape;188;p25"/>
          <p:cNvSpPr txBox="1"/>
          <p:nvPr/>
        </p:nvSpPr>
        <p:spPr>
          <a:xfrm>
            <a:off x="266924" y="537225"/>
            <a:ext cx="4038600" cy="3947100"/>
          </a:xfrm>
          <a:prstGeom prst="rect">
            <a:avLst/>
          </a:prstGeom>
          <a:noFill/>
          <a:ln>
            <a:noFill/>
          </a:ln>
        </p:spPr>
        <p:txBody>
          <a:bodyPr anchorCtr="0" anchor="t" bIns="0" lIns="0" spcFirstLastPara="1" rIns="0" wrap="square" tIns="12700">
            <a:spAutoFit/>
          </a:bodyPr>
          <a:lstStyle/>
          <a:p>
            <a:pPr indent="0" lvl="0" marL="51435" rtl="0" algn="l">
              <a:lnSpc>
                <a:spcPct val="100000"/>
              </a:lnSpc>
              <a:spcBef>
                <a:spcPts val="0"/>
              </a:spcBef>
              <a:spcAft>
                <a:spcPts val="0"/>
              </a:spcAft>
              <a:buNone/>
            </a:pPr>
            <a:r>
              <a:rPr lang="en" sz="1800">
                <a:solidFill>
                  <a:srgbClr val="022FAE"/>
                </a:solidFill>
                <a:latin typeface="Arial"/>
                <a:ea typeface="Arial"/>
                <a:cs typeface="Arial"/>
                <a:sym typeface="Arial"/>
              </a:rPr>
              <a:t>module auto_test_nandxor;</a:t>
            </a:r>
            <a:endParaRPr sz="1800">
              <a:latin typeface="Arial"/>
              <a:ea typeface="Arial"/>
              <a:cs typeface="Arial"/>
              <a:sym typeface="Arial"/>
            </a:endParaRPr>
          </a:p>
          <a:p>
            <a:pPr indent="0" lvl="0" marL="0" rtl="0" algn="l">
              <a:lnSpc>
                <a:spcPct val="100000"/>
              </a:lnSpc>
              <a:spcBef>
                <a:spcPts val="110"/>
              </a:spcBef>
              <a:spcAft>
                <a:spcPts val="0"/>
              </a:spcAft>
              <a:buNone/>
            </a:pPr>
            <a:r>
              <a:t/>
            </a:r>
            <a:endParaRPr sz="1800">
              <a:latin typeface="Arial"/>
              <a:ea typeface="Arial"/>
              <a:cs typeface="Arial"/>
              <a:sym typeface="Arial"/>
            </a:endParaRPr>
          </a:p>
          <a:p>
            <a:pPr indent="0" lvl="0" marL="51435" marR="2576195" rtl="0" algn="l">
              <a:lnSpc>
                <a:spcPct val="101099"/>
              </a:lnSpc>
              <a:spcBef>
                <a:spcPts val="0"/>
              </a:spcBef>
              <a:spcAft>
                <a:spcPts val="0"/>
              </a:spcAft>
              <a:buNone/>
            </a:pPr>
            <a:r>
              <a:rPr lang="en" sz="1800">
                <a:solidFill>
                  <a:srgbClr val="022FAE"/>
                </a:solidFill>
                <a:latin typeface="Arial"/>
                <a:ea typeface="Arial"/>
                <a:cs typeface="Arial"/>
                <a:sym typeface="Arial"/>
              </a:rPr>
              <a:t>reg a,b,c; wire d;</a:t>
            </a:r>
            <a:endParaRPr sz="1800">
              <a:latin typeface="Arial"/>
              <a:ea typeface="Arial"/>
              <a:cs typeface="Arial"/>
              <a:sym typeface="Arial"/>
            </a:endParaRPr>
          </a:p>
          <a:p>
            <a:pPr indent="0" lvl="0" marL="51435" rtl="0" algn="l">
              <a:lnSpc>
                <a:spcPct val="100000"/>
              </a:lnSpc>
              <a:spcBef>
                <a:spcPts val="0"/>
              </a:spcBef>
              <a:spcAft>
                <a:spcPts val="0"/>
              </a:spcAft>
              <a:buNone/>
            </a:pPr>
            <a:r>
              <a:rPr lang="en" sz="1800">
                <a:solidFill>
                  <a:srgbClr val="022FAE"/>
                </a:solidFill>
                <a:latin typeface="Arial"/>
                <a:ea typeface="Arial"/>
                <a:cs typeface="Arial"/>
                <a:sym typeface="Arial"/>
              </a:rPr>
              <a:t>nandxor n (</a:t>
            </a:r>
            <a:endParaRPr sz="1800">
              <a:latin typeface="Arial"/>
              <a:ea typeface="Arial"/>
              <a:cs typeface="Arial"/>
              <a:sym typeface="Arial"/>
            </a:endParaRPr>
          </a:p>
          <a:p>
            <a:pPr indent="0" lvl="0" marL="344170" rtl="0" algn="l">
              <a:lnSpc>
                <a:spcPct val="100000"/>
              </a:lnSpc>
              <a:spcBef>
                <a:spcPts val="25"/>
              </a:spcBef>
              <a:spcAft>
                <a:spcPts val="0"/>
              </a:spcAft>
              <a:buNone/>
            </a:pPr>
            <a:r>
              <a:rPr lang="en" sz="1800">
                <a:solidFill>
                  <a:srgbClr val="022FAE"/>
                </a:solidFill>
                <a:latin typeface="Arial"/>
                <a:ea typeface="Arial"/>
                <a:cs typeface="Arial"/>
                <a:sym typeface="Arial"/>
              </a:rPr>
              <a:t>.a(a),</a:t>
            </a:r>
            <a:r>
              <a:rPr lang="en" sz="1800"/>
              <a:t> </a:t>
            </a:r>
            <a:r>
              <a:rPr lang="en" sz="1800">
                <a:solidFill>
                  <a:srgbClr val="022FAE"/>
                </a:solidFill>
                <a:latin typeface="Arial"/>
                <a:ea typeface="Arial"/>
                <a:cs typeface="Arial"/>
                <a:sym typeface="Arial"/>
              </a:rPr>
              <a:t>.b(b),</a:t>
            </a:r>
            <a:r>
              <a:rPr lang="en" sz="1800"/>
              <a:t> </a:t>
            </a:r>
            <a:r>
              <a:rPr lang="en" sz="1800">
                <a:solidFill>
                  <a:srgbClr val="022FAE"/>
                </a:solidFill>
                <a:latin typeface="Arial"/>
                <a:ea typeface="Arial"/>
                <a:cs typeface="Arial"/>
                <a:sym typeface="Arial"/>
              </a:rPr>
              <a:t>.c(c),</a:t>
            </a:r>
            <a:r>
              <a:rPr lang="en" sz="1800"/>
              <a:t> </a:t>
            </a:r>
            <a:r>
              <a:rPr lang="en" sz="1800">
                <a:solidFill>
                  <a:srgbClr val="022FAE"/>
                </a:solidFill>
                <a:latin typeface="Arial"/>
                <a:ea typeface="Arial"/>
                <a:cs typeface="Arial"/>
                <a:sym typeface="Arial"/>
              </a:rPr>
              <a:t>.d(d)</a:t>
            </a:r>
            <a:endParaRPr sz="1800">
              <a:latin typeface="Arial"/>
              <a:ea typeface="Arial"/>
              <a:cs typeface="Arial"/>
              <a:sym typeface="Arial"/>
            </a:endParaRPr>
          </a:p>
          <a:p>
            <a:pPr indent="0" lvl="0" marL="51435" rtl="0" algn="l">
              <a:lnSpc>
                <a:spcPct val="100000"/>
              </a:lnSpc>
              <a:spcBef>
                <a:spcPts val="25"/>
              </a:spcBef>
              <a:spcAft>
                <a:spcPts val="0"/>
              </a:spcAft>
              <a:buNone/>
            </a:pPr>
            <a:r>
              <a:rPr lang="en" sz="1800">
                <a:solidFill>
                  <a:srgbClr val="022FAE"/>
                </a:solidFill>
                <a:latin typeface="Arial"/>
                <a:ea typeface="Arial"/>
                <a:cs typeface="Arial"/>
                <a:sym typeface="Arial"/>
              </a:rPr>
              <a:t>);</a:t>
            </a:r>
            <a:endParaRPr sz="1800">
              <a:latin typeface="Arial"/>
              <a:ea typeface="Arial"/>
              <a:cs typeface="Arial"/>
              <a:sym typeface="Arial"/>
            </a:endParaRPr>
          </a:p>
          <a:p>
            <a:pPr indent="0" lvl="0" marL="0" rtl="0" algn="l">
              <a:lnSpc>
                <a:spcPct val="100000"/>
              </a:lnSpc>
              <a:spcBef>
                <a:spcPts val="135"/>
              </a:spcBef>
              <a:spcAft>
                <a:spcPts val="0"/>
              </a:spcAft>
              <a:buNone/>
            </a:pPr>
            <a:r>
              <a:t/>
            </a:r>
            <a:endParaRPr sz="1800">
              <a:latin typeface="Arial"/>
              <a:ea typeface="Arial"/>
              <a:cs typeface="Arial"/>
              <a:sym typeface="Arial"/>
            </a:endParaRPr>
          </a:p>
          <a:p>
            <a:pPr indent="0" lvl="0" marL="51435" rtl="0" algn="l">
              <a:lnSpc>
                <a:spcPct val="100000"/>
              </a:lnSpc>
              <a:spcBef>
                <a:spcPts val="0"/>
              </a:spcBef>
              <a:spcAft>
                <a:spcPts val="0"/>
              </a:spcAft>
              <a:buNone/>
            </a:pPr>
            <a:r>
              <a:rPr lang="en" sz="1800">
                <a:solidFill>
                  <a:srgbClr val="022FAE"/>
                </a:solidFill>
                <a:latin typeface="Arial"/>
                <a:ea typeface="Arial"/>
                <a:cs typeface="Arial"/>
                <a:sym typeface="Arial"/>
              </a:rPr>
              <a:t>initial begin: TEST_BLOCK</a:t>
            </a:r>
            <a:endParaRPr sz="1800">
              <a:latin typeface="Arial"/>
              <a:ea typeface="Arial"/>
              <a:cs typeface="Arial"/>
              <a:sym typeface="Arial"/>
            </a:endParaRPr>
          </a:p>
          <a:p>
            <a:pPr indent="0" lvl="0" marL="344170" rtl="0" algn="l">
              <a:lnSpc>
                <a:spcPct val="100000"/>
              </a:lnSpc>
              <a:spcBef>
                <a:spcPts val="20"/>
              </a:spcBef>
              <a:spcAft>
                <a:spcPts val="0"/>
              </a:spcAft>
              <a:buNone/>
            </a:pPr>
            <a:r>
              <a:rPr lang="en" sz="1800">
                <a:solidFill>
                  <a:srgbClr val="022FAE"/>
                </a:solidFill>
                <a:latin typeface="Arial"/>
                <a:ea typeface="Arial"/>
                <a:cs typeface="Arial"/>
                <a:sym typeface="Arial"/>
              </a:rPr>
              <a:t>a &lt;= 0;</a:t>
            </a:r>
            <a:endParaRPr sz="1800">
              <a:latin typeface="Arial"/>
              <a:ea typeface="Arial"/>
              <a:cs typeface="Arial"/>
              <a:sym typeface="Arial"/>
            </a:endParaRPr>
          </a:p>
          <a:p>
            <a:pPr indent="0" lvl="0" marL="344170" rtl="0" algn="l">
              <a:lnSpc>
                <a:spcPct val="100000"/>
              </a:lnSpc>
              <a:spcBef>
                <a:spcPts val="25"/>
              </a:spcBef>
              <a:spcAft>
                <a:spcPts val="0"/>
              </a:spcAft>
              <a:buNone/>
            </a:pPr>
            <a:r>
              <a:rPr lang="en" sz="1800">
                <a:solidFill>
                  <a:srgbClr val="022FAE"/>
                </a:solidFill>
                <a:latin typeface="Arial"/>
                <a:ea typeface="Arial"/>
                <a:cs typeface="Arial"/>
                <a:sym typeface="Arial"/>
              </a:rPr>
              <a:t>b &lt;= 0;</a:t>
            </a:r>
            <a:endParaRPr sz="1800">
              <a:latin typeface="Arial"/>
              <a:ea typeface="Arial"/>
              <a:cs typeface="Arial"/>
              <a:sym typeface="Arial"/>
            </a:endParaRPr>
          </a:p>
          <a:p>
            <a:pPr indent="0" lvl="0" marL="344170" rtl="0" algn="l">
              <a:lnSpc>
                <a:spcPct val="100000"/>
              </a:lnSpc>
              <a:spcBef>
                <a:spcPts val="25"/>
              </a:spcBef>
              <a:spcAft>
                <a:spcPts val="0"/>
              </a:spcAft>
              <a:buNone/>
            </a:pPr>
            <a:r>
              <a:rPr lang="en" sz="1800">
                <a:solidFill>
                  <a:srgbClr val="022FAE"/>
                </a:solidFill>
                <a:latin typeface="Arial"/>
                <a:ea typeface="Arial"/>
                <a:cs typeface="Arial"/>
                <a:sym typeface="Arial"/>
              </a:rPr>
              <a:t>c &lt;=  0;</a:t>
            </a:r>
            <a:endParaRPr sz="1800">
              <a:latin typeface="Arial"/>
              <a:ea typeface="Arial"/>
              <a:cs typeface="Arial"/>
              <a:sym typeface="Arial"/>
            </a:endParaRPr>
          </a:p>
          <a:p>
            <a:pPr indent="0" lvl="0" marL="344170" rtl="0" algn="l">
              <a:lnSpc>
                <a:spcPct val="100000"/>
              </a:lnSpc>
              <a:spcBef>
                <a:spcPts val="20"/>
              </a:spcBef>
              <a:spcAft>
                <a:spcPts val="0"/>
              </a:spcAft>
              <a:buNone/>
            </a:pPr>
            <a:r>
              <a:rPr lang="en" sz="1800">
                <a:solidFill>
                  <a:srgbClr val="022FAE"/>
                </a:solidFill>
                <a:latin typeface="Arial"/>
                <a:ea typeface="Arial"/>
                <a:cs typeface="Arial"/>
                <a:sym typeface="Arial"/>
              </a:rPr>
              <a:t>#10</a:t>
            </a:r>
            <a:endParaRPr sz="1800">
              <a:latin typeface="Arial"/>
              <a:ea typeface="Arial"/>
              <a:cs typeface="Arial"/>
              <a:sym typeface="Arial"/>
            </a:endParaRPr>
          </a:p>
          <a:p>
            <a:pPr indent="0" lvl="0" marL="344170" marR="1073785" rtl="0" algn="l">
              <a:lnSpc>
                <a:spcPct val="101000"/>
              </a:lnSpc>
              <a:spcBef>
                <a:spcPts val="0"/>
              </a:spcBef>
              <a:spcAft>
                <a:spcPts val="0"/>
              </a:spcAft>
              <a:buNone/>
            </a:pPr>
            <a:r>
              <a:rPr lang="en" sz="1800">
                <a:solidFill>
                  <a:srgbClr val="022FAE"/>
                </a:solidFill>
                <a:latin typeface="Arial"/>
                <a:ea typeface="Arial"/>
                <a:cs typeface="Arial"/>
                <a:sym typeface="Arial"/>
              </a:rPr>
              <a:t>if (d !== 1) $fatal(); #10</a:t>
            </a:r>
            <a:endParaRPr sz="1800">
              <a:latin typeface="Arial"/>
              <a:ea typeface="Arial"/>
              <a:cs typeface="Arial"/>
              <a:sym typeface="Arial"/>
            </a:endParaRPr>
          </a:p>
        </p:txBody>
      </p:sp>
      <p:sp>
        <p:nvSpPr>
          <p:cNvPr id="189" name="Google Shape;189;p25"/>
          <p:cNvSpPr txBox="1"/>
          <p:nvPr/>
        </p:nvSpPr>
        <p:spPr>
          <a:xfrm>
            <a:off x="4548850" y="564500"/>
            <a:ext cx="3536400" cy="4372200"/>
          </a:xfrm>
          <a:prstGeom prst="rect">
            <a:avLst/>
          </a:prstGeom>
          <a:noFill/>
          <a:ln>
            <a:noFill/>
          </a:ln>
        </p:spPr>
        <p:txBody>
          <a:bodyPr anchorCtr="0" anchor="t" bIns="0" lIns="0" spcFirstLastPara="1" rIns="0" wrap="square" tIns="12700">
            <a:spAutoFit/>
          </a:bodyPr>
          <a:lstStyle/>
          <a:p>
            <a:pPr indent="0" lvl="0" marL="304800" rtl="0" algn="l">
              <a:lnSpc>
                <a:spcPct val="100000"/>
              </a:lnSpc>
              <a:spcBef>
                <a:spcPts val="0"/>
              </a:spcBef>
              <a:spcAft>
                <a:spcPts val="0"/>
              </a:spcAft>
              <a:buNone/>
            </a:pPr>
            <a:r>
              <a:rPr lang="en" sz="1800">
                <a:solidFill>
                  <a:srgbClr val="022FAE"/>
                </a:solidFill>
                <a:latin typeface="Arial"/>
                <a:ea typeface="Arial"/>
                <a:cs typeface="Arial"/>
                <a:sym typeface="Arial"/>
              </a:rPr>
              <a:t>#10</a:t>
            </a:r>
            <a:endParaRPr sz="1800">
              <a:latin typeface="Arial"/>
              <a:ea typeface="Arial"/>
              <a:cs typeface="Arial"/>
              <a:sym typeface="Arial"/>
            </a:endParaRPr>
          </a:p>
          <a:p>
            <a:pPr indent="0" lvl="0" marL="304800" rtl="0" algn="l">
              <a:lnSpc>
                <a:spcPct val="100000"/>
              </a:lnSpc>
              <a:spcBef>
                <a:spcPts val="20"/>
              </a:spcBef>
              <a:spcAft>
                <a:spcPts val="0"/>
              </a:spcAft>
              <a:buNone/>
            </a:pPr>
            <a:r>
              <a:rPr lang="en" sz="1800">
                <a:solidFill>
                  <a:srgbClr val="022FAE"/>
                </a:solidFill>
                <a:latin typeface="Arial"/>
                <a:ea typeface="Arial"/>
                <a:cs typeface="Arial"/>
                <a:sym typeface="Arial"/>
              </a:rPr>
              <a:t>a &lt;= 0;</a:t>
            </a:r>
            <a:endParaRPr sz="1800">
              <a:latin typeface="Arial"/>
              <a:ea typeface="Arial"/>
              <a:cs typeface="Arial"/>
              <a:sym typeface="Arial"/>
            </a:endParaRPr>
          </a:p>
          <a:p>
            <a:pPr indent="0" lvl="0" marL="304800" rtl="0" algn="l">
              <a:lnSpc>
                <a:spcPct val="100000"/>
              </a:lnSpc>
              <a:spcBef>
                <a:spcPts val="25"/>
              </a:spcBef>
              <a:spcAft>
                <a:spcPts val="0"/>
              </a:spcAft>
              <a:buNone/>
            </a:pPr>
            <a:r>
              <a:rPr lang="en" sz="1800">
                <a:solidFill>
                  <a:srgbClr val="022FAE"/>
                </a:solidFill>
                <a:latin typeface="Arial"/>
                <a:ea typeface="Arial"/>
                <a:cs typeface="Arial"/>
                <a:sym typeface="Arial"/>
              </a:rPr>
              <a:t>b &lt;= 1;</a:t>
            </a:r>
            <a:endParaRPr sz="1800">
              <a:latin typeface="Arial"/>
              <a:ea typeface="Arial"/>
              <a:cs typeface="Arial"/>
              <a:sym typeface="Arial"/>
            </a:endParaRPr>
          </a:p>
          <a:p>
            <a:pPr indent="0" lvl="0" marL="304800" rtl="0" algn="l">
              <a:lnSpc>
                <a:spcPct val="100000"/>
              </a:lnSpc>
              <a:spcBef>
                <a:spcPts val="20"/>
              </a:spcBef>
              <a:spcAft>
                <a:spcPts val="0"/>
              </a:spcAft>
              <a:buNone/>
            </a:pPr>
            <a:r>
              <a:rPr lang="en" sz="1800">
                <a:solidFill>
                  <a:srgbClr val="022FAE"/>
                </a:solidFill>
                <a:latin typeface="Arial"/>
                <a:ea typeface="Arial"/>
                <a:cs typeface="Arial"/>
                <a:sym typeface="Arial"/>
              </a:rPr>
              <a:t>c &lt;= 0;</a:t>
            </a:r>
            <a:endParaRPr sz="1800">
              <a:latin typeface="Arial"/>
              <a:ea typeface="Arial"/>
              <a:cs typeface="Arial"/>
              <a:sym typeface="Arial"/>
            </a:endParaRPr>
          </a:p>
          <a:p>
            <a:pPr indent="0" lvl="0" marL="304800" rtl="0" algn="l">
              <a:lnSpc>
                <a:spcPct val="100000"/>
              </a:lnSpc>
              <a:spcBef>
                <a:spcPts val="25"/>
              </a:spcBef>
              <a:spcAft>
                <a:spcPts val="0"/>
              </a:spcAft>
              <a:buNone/>
            </a:pPr>
            <a:r>
              <a:rPr lang="en" sz="1800">
                <a:solidFill>
                  <a:srgbClr val="022FAE"/>
                </a:solidFill>
                <a:latin typeface="Arial"/>
                <a:ea typeface="Arial"/>
                <a:cs typeface="Arial"/>
                <a:sym typeface="Arial"/>
              </a:rPr>
              <a:t>#10</a:t>
            </a:r>
            <a:endParaRPr sz="1800">
              <a:latin typeface="Arial"/>
              <a:ea typeface="Arial"/>
              <a:cs typeface="Arial"/>
              <a:sym typeface="Arial"/>
            </a:endParaRPr>
          </a:p>
          <a:p>
            <a:pPr indent="0" lvl="0" marL="304800" marR="927735" rtl="0" algn="l">
              <a:lnSpc>
                <a:spcPct val="121111"/>
              </a:lnSpc>
              <a:spcBef>
                <a:spcPts val="80"/>
              </a:spcBef>
              <a:spcAft>
                <a:spcPts val="0"/>
              </a:spcAft>
              <a:buNone/>
            </a:pPr>
            <a:r>
              <a:rPr lang="en" sz="1800">
                <a:solidFill>
                  <a:srgbClr val="022FAE"/>
                </a:solidFill>
                <a:latin typeface="Arial"/>
                <a:ea typeface="Arial"/>
                <a:cs typeface="Arial"/>
                <a:sym typeface="Arial"/>
              </a:rPr>
              <a:t>if (d !== 1) $fatal(); #10</a:t>
            </a:r>
            <a:endParaRPr sz="1800">
              <a:latin typeface="Arial"/>
              <a:ea typeface="Arial"/>
              <a:cs typeface="Arial"/>
              <a:sym typeface="Arial"/>
            </a:endParaRPr>
          </a:p>
          <a:p>
            <a:pPr indent="0" lvl="0" marL="12700" rtl="0" algn="l">
              <a:lnSpc>
                <a:spcPct val="117222"/>
              </a:lnSpc>
              <a:spcBef>
                <a:spcPts val="0"/>
              </a:spcBef>
              <a:spcAft>
                <a:spcPts val="0"/>
              </a:spcAft>
              <a:buNone/>
            </a:pPr>
            <a:r>
              <a:rPr lang="en" sz="1800">
                <a:solidFill>
                  <a:srgbClr val="022FAE"/>
                </a:solidFill>
                <a:latin typeface="Arial"/>
                <a:ea typeface="Arial"/>
                <a:cs typeface="Arial"/>
                <a:sym typeface="Arial"/>
              </a:rPr>
              <a:t>//etc …..</a:t>
            </a:r>
            <a:endParaRPr sz="1800">
              <a:latin typeface="Arial"/>
              <a:ea typeface="Arial"/>
              <a:cs typeface="Arial"/>
              <a:sym typeface="Arial"/>
            </a:endParaRPr>
          </a:p>
          <a:p>
            <a:pPr indent="0" lvl="0" marL="304800" rtl="0" algn="l">
              <a:lnSpc>
                <a:spcPct val="100000"/>
              </a:lnSpc>
              <a:spcBef>
                <a:spcPts val="20"/>
              </a:spcBef>
              <a:spcAft>
                <a:spcPts val="0"/>
              </a:spcAft>
              <a:buNone/>
            </a:pPr>
            <a:r>
              <a:rPr lang="en" sz="1800">
                <a:solidFill>
                  <a:srgbClr val="022FAE"/>
                </a:solidFill>
                <a:latin typeface="Arial"/>
                <a:ea typeface="Arial"/>
                <a:cs typeface="Arial"/>
                <a:sym typeface="Arial"/>
              </a:rPr>
              <a:t>a &lt;= 1;</a:t>
            </a:r>
            <a:endParaRPr sz="1800">
              <a:latin typeface="Arial"/>
              <a:ea typeface="Arial"/>
              <a:cs typeface="Arial"/>
              <a:sym typeface="Arial"/>
            </a:endParaRPr>
          </a:p>
          <a:p>
            <a:pPr indent="0" lvl="0" marL="304800" rtl="0" algn="l">
              <a:lnSpc>
                <a:spcPct val="100000"/>
              </a:lnSpc>
              <a:spcBef>
                <a:spcPts val="25"/>
              </a:spcBef>
              <a:spcAft>
                <a:spcPts val="0"/>
              </a:spcAft>
              <a:buNone/>
            </a:pPr>
            <a:r>
              <a:rPr lang="en" sz="1800">
                <a:solidFill>
                  <a:srgbClr val="022FAE"/>
                </a:solidFill>
                <a:latin typeface="Arial"/>
                <a:ea typeface="Arial"/>
                <a:cs typeface="Arial"/>
                <a:sym typeface="Arial"/>
              </a:rPr>
              <a:t>b &lt;= 1;</a:t>
            </a:r>
            <a:endParaRPr sz="1800">
              <a:latin typeface="Arial"/>
              <a:ea typeface="Arial"/>
              <a:cs typeface="Arial"/>
              <a:sym typeface="Arial"/>
            </a:endParaRPr>
          </a:p>
          <a:p>
            <a:pPr indent="0" lvl="0" marL="304800" rtl="0" algn="l">
              <a:lnSpc>
                <a:spcPct val="100000"/>
              </a:lnSpc>
              <a:spcBef>
                <a:spcPts val="20"/>
              </a:spcBef>
              <a:spcAft>
                <a:spcPts val="0"/>
              </a:spcAft>
              <a:buNone/>
            </a:pPr>
            <a:r>
              <a:rPr lang="en" sz="1800">
                <a:solidFill>
                  <a:srgbClr val="022FAE"/>
                </a:solidFill>
                <a:latin typeface="Arial"/>
                <a:ea typeface="Arial"/>
                <a:cs typeface="Arial"/>
                <a:sym typeface="Arial"/>
              </a:rPr>
              <a:t>c &lt;= 1;</a:t>
            </a:r>
            <a:endParaRPr sz="1800">
              <a:latin typeface="Arial"/>
              <a:ea typeface="Arial"/>
              <a:cs typeface="Arial"/>
              <a:sym typeface="Arial"/>
            </a:endParaRPr>
          </a:p>
          <a:p>
            <a:pPr indent="0" lvl="0" marL="304800" rtl="0" algn="l">
              <a:lnSpc>
                <a:spcPct val="100000"/>
              </a:lnSpc>
              <a:spcBef>
                <a:spcPts val="25"/>
              </a:spcBef>
              <a:spcAft>
                <a:spcPts val="0"/>
              </a:spcAft>
              <a:buNone/>
            </a:pPr>
            <a:r>
              <a:rPr lang="en" sz="1800">
                <a:solidFill>
                  <a:srgbClr val="022FAE"/>
                </a:solidFill>
                <a:latin typeface="Arial"/>
                <a:ea typeface="Arial"/>
                <a:cs typeface="Arial"/>
                <a:sym typeface="Arial"/>
              </a:rPr>
              <a:t>#10</a:t>
            </a:r>
            <a:endParaRPr sz="1800">
              <a:latin typeface="Arial"/>
              <a:ea typeface="Arial"/>
              <a:cs typeface="Arial"/>
              <a:sym typeface="Arial"/>
            </a:endParaRPr>
          </a:p>
          <a:p>
            <a:pPr indent="0" lvl="0" marL="304800" rtl="0" algn="l">
              <a:lnSpc>
                <a:spcPct val="100000"/>
              </a:lnSpc>
              <a:spcBef>
                <a:spcPts val="20"/>
              </a:spcBef>
              <a:spcAft>
                <a:spcPts val="0"/>
              </a:spcAft>
              <a:buNone/>
            </a:pPr>
            <a:r>
              <a:rPr lang="en" sz="1800">
                <a:solidFill>
                  <a:srgbClr val="022FAE"/>
                </a:solidFill>
                <a:latin typeface="Arial"/>
                <a:ea typeface="Arial"/>
                <a:cs typeface="Arial"/>
                <a:sym typeface="Arial"/>
              </a:rPr>
              <a:t>if (d !== 1) $fatal();</a:t>
            </a:r>
            <a:endParaRPr sz="1800">
              <a:latin typeface="Arial"/>
              <a:ea typeface="Arial"/>
              <a:cs typeface="Arial"/>
              <a:sym typeface="Arial"/>
            </a:endParaRPr>
          </a:p>
          <a:p>
            <a:pPr indent="292100" lvl="0" marL="12700" marR="5080" rtl="0" algn="l">
              <a:lnSpc>
                <a:spcPct val="101000"/>
              </a:lnSpc>
              <a:spcBef>
                <a:spcPts val="0"/>
              </a:spcBef>
              <a:spcAft>
                <a:spcPts val="0"/>
              </a:spcAft>
              <a:buNone/>
            </a:pPr>
            <a:r>
              <a:rPr lang="en" sz="1800">
                <a:solidFill>
                  <a:srgbClr val="022FAE"/>
                </a:solidFill>
                <a:latin typeface="Arial"/>
                <a:ea typeface="Arial"/>
                <a:cs typeface="Arial"/>
                <a:sym typeface="Arial"/>
              </a:rPr>
              <a:t>$display("All tests passed"); end</a:t>
            </a:r>
            <a:endParaRPr sz="1800">
              <a:latin typeface="Arial"/>
              <a:ea typeface="Arial"/>
              <a:cs typeface="Arial"/>
              <a:sym typeface="Arial"/>
            </a:endParaRPr>
          </a:p>
        </p:txBody>
      </p:sp>
      <p:sp>
        <p:nvSpPr>
          <p:cNvPr id="190" name="Google Shape;190;p25"/>
          <p:cNvSpPr txBox="1"/>
          <p:nvPr/>
        </p:nvSpPr>
        <p:spPr>
          <a:xfrm>
            <a:off x="4548860" y="4804611"/>
            <a:ext cx="1311900" cy="289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sz="1800">
                <a:solidFill>
                  <a:srgbClr val="022FAE"/>
                </a:solidFill>
                <a:latin typeface="Arial"/>
                <a:ea typeface="Arial"/>
                <a:cs typeface="Arial"/>
                <a:sym typeface="Arial"/>
              </a:rPr>
              <a:t>endmodule</a:t>
            </a:r>
            <a:endParaRPr sz="1800">
              <a:latin typeface="Arial"/>
              <a:ea typeface="Arial"/>
              <a:cs typeface="Arial"/>
              <a:sym typeface="Arial"/>
            </a:endParaRPr>
          </a:p>
        </p:txBody>
      </p:sp>
      <p:sp>
        <p:nvSpPr>
          <p:cNvPr id="191" name="Google Shape;191;p25"/>
          <p:cNvSpPr txBox="1"/>
          <p:nvPr/>
        </p:nvSpPr>
        <p:spPr>
          <a:xfrm>
            <a:off x="1423544" y="4775400"/>
            <a:ext cx="2516400" cy="384300"/>
          </a:xfrm>
          <a:prstGeom prst="rect">
            <a:avLst/>
          </a:prstGeom>
          <a:noFill/>
          <a:ln>
            <a:noFill/>
          </a:ln>
        </p:spPr>
        <p:txBody>
          <a:bodyPr anchorCtr="0" anchor="t" bIns="0" lIns="0" spcFirstLastPara="1" rIns="0" wrap="square" tIns="12700">
            <a:spAutoFit/>
          </a:bodyPr>
          <a:lstStyle/>
          <a:p>
            <a:pPr indent="0" lvl="0" marL="0" marR="33655" rtl="0" algn="ctr">
              <a:lnSpc>
                <a:spcPct val="100000"/>
              </a:lnSpc>
              <a:spcBef>
                <a:spcPts val="0"/>
              </a:spcBef>
              <a:spcAft>
                <a:spcPts val="0"/>
              </a:spcAft>
              <a:buNone/>
            </a:pPr>
            <a:r>
              <a:rPr b="1" lang="en" sz="1200">
                <a:solidFill>
                  <a:srgbClr val="BD0000"/>
                </a:solidFill>
                <a:latin typeface="Arial"/>
                <a:ea typeface="Arial"/>
                <a:cs typeface="Arial"/>
                <a:sym typeface="Arial"/>
              </a:rPr>
              <a:t>Automatically check output,</a:t>
            </a:r>
            <a:endParaRPr sz="1200">
              <a:latin typeface="Arial"/>
              <a:ea typeface="Arial"/>
              <a:cs typeface="Arial"/>
              <a:sym typeface="Arial"/>
            </a:endParaRPr>
          </a:p>
          <a:p>
            <a:pPr indent="0" lvl="0" marL="0" rtl="0" algn="ctr">
              <a:lnSpc>
                <a:spcPct val="100000"/>
              </a:lnSpc>
              <a:spcBef>
                <a:spcPts val="15"/>
              </a:spcBef>
              <a:spcAft>
                <a:spcPts val="0"/>
              </a:spcAft>
              <a:buNone/>
            </a:pPr>
            <a:r>
              <a:rPr b="1" lang="en" sz="1200">
                <a:solidFill>
                  <a:srgbClr val="BD0000"/>
                </a:solidFill>
                <a:latin typeface="Arial"/>
                <a:ea typeface="Arial"/>
                <a:cs typeface="Arial"/>
                <a:sym typeface="Arial"/>
              </a:rPr>
              <a:t>$fatal() will terminate sim. on error</a:t>
            </a:r>
            <a:endParaRPr sz="1200">
              <a:latin typeface="Arial"/>
              <a:ea typeface="Arial"/>
              <a:cs typeface="Arial"/>
              <a:sym typeface="Arial"/>
            </a:endParaRPr>
          </a:p>
        </p:txBody>
      </p:sp>
      <p:grpSp>
        <p:nvGrpSpPr>
          <p:cNvPr id="192" name="Google Shape;192;p25"/>
          <p:cNvGrpSpPr/>
          <p:nvPr/>
        </p:nvGrpSpPr>
        <p:grpSpPr>
          <a:xfrm>
            <a:off x="1851482" y="4248988"/>
            <a:ext cx="268934" cy="496633"/>
            <a:chOff x="1851482" y="5665317"/>
            <a:chExt cx="268934" cy="662178"/>
          </a:xfrm>
        </p:grpSpPr>
        <p:sp>
          <p:nvSpPr>
            <p:cNvPr id="193" name="Google Shape;193;p25"/>
            <p:cNvSpPr/>
            <p:nvPr/>
          </p:nvSpPr>
          <p:spPr>
            <a:xfrm>
              <a:off x="1889277" y="5739485"/>
              <a:ext cx="231139" cy="588010"/>
            </a:xfrm>
            <a:custGeom>
              <a:rect b="b" l="l" r="r" t="t"/>
              <a:pathLst>
                <a:path extrusionOk="0" h="588010" w="231139">
                  <a:moveTo>
                    <a:pt x="231127" y="587870"/>
                  </a:moveTo>
                  <a:lnTo>
                    <a:pt x="0" y="0"/>
                  </a:lnTo>
                </a:path>
              </a:pathLst>
            </a:custGeom>
            <a:noFill/>
            <a:ln cap="flat" cmpd="sng" w="28425">
              <a:solidFill>
                <a:srgbClr val="BD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4" name="Google Shape;194;p25"/>
            <p:cNvSpPr/>
            <p:nvPr/>
          </p:nvSpPr>
          <p:spPr>
            <a:xfrm>
              <a:off x="1851482" y="5665317"/>
              <a:ext cx="80010" cy="95250"/>
            </a:xfrm>
            <a:custGeom>
              <a:rect b="b" l="l" r="r" t="t"/>
              <a:pathLst>
                <a:path extrusionOk="0" h="95250" w="80010">
                  <a:moveTo>
                    <a:pt x="8636" y="0"/>
                  </a:moveTo>
                  <a:lnTo>
                    <a:pt x="0" y="95046"/>
                  </a:lnTo>
                  <a:lnTo>
                    <a:pt x="79552" y="63728"/>
                  </a:lnTo>
                  <a:lnTo>
                    <a:pt x="8636" y="0"/>
                  </a:lnTo>
                  <a:close/>
                </a:path>
              </a:pathLst>
            </a:custGeom>
            <a:solidFill>
              <a:srgbClr val="BD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95" name="Google Shape;195;p25"/>
          <p:cNvSpPr txBox="1"/>
          <p:nvPr/>
        </p:nvSpPr>
        <p:spPr>
          <a:xfrm>
            <a:off x="2608198" y="3663629"/>
            <a:ext cx="1267500" cy="229500"/>
          </a:xfrm>
          <a:prstGeom prst="rect">
            <a:avLst/>
          </a:prstGeom>
          <a:noFill/>
          <a:ln cap="flat" cmpd="sng" w="38150">
            <a:solidFill>
              <a:srgbClr val="BD0000"/>
            </a:solidFill>
            <a:prstDash val="solid"/>
            <a:round/>
            <a:headEnd len="sm" w="sm" type="none"/>
            <a:tailEnd len="sm" w="sm" type="none"/>
          </a:ln>
        </p:spPr>
        <p:txBody>
          <a:bodyPr anchorCtr="0" anchor="t" bIns="0" lIns="0" spcFirstLastPara="1" rIns="0" wrap="square" tIns="44450">
            <a:spAutoFit/>
          </a:bodyPr>
          <a:lstStyle/>
          <a:p>
            <a:pPr indent="0" lvl="0" marL="90170" rtl="0" algn="l">
              <a:lnSpc>
                <a:spcPct val="100000"/>
              </a:lnSpc>
              <a:spcBef>
                <a:spcPts val="0"/>
              </a:spcBef>
              <a:spcAft>
                <a:spcPts val="0"/>
              </a:spcAft>
              <a:buNone/>
            </a:pPr>
            <a:r>
              <a:rPr b="1" lang="en" sz="1200">
                <a:solidFill>
                  <a:srgbClr val="BD0000"/>
                </a:solidFill>
                <a:latin typeface="Arial"/>
                <a:ea typeface="Arial"/>
                <a:cs typeface="Arial"/>
                <a:sym typeface="Arial"/>
              </a:rPr>
              <a:t>Execution time</a:t>
            </a:r>
            <a:endParaRPr sz="1200">
              <a:latin typeface="Arial"/>
              <a:ea typeface="Arial"/>
              <a:cs typeface="Arial"/>
              <a:sym typeface="Arial"/>
            </a:endParaRPr>
          </a:p>
        </p:txBody>
      </p:sp>
      <p:grpSp>
        <p:nvGrpSpPr>
          <p:cNvPr id="196" name="Google Shape;196;p25"/>
          <p:cNvGrpSpPr/>
          <p:nvPr/>
        </p:nvGrpSpPr>
        <p:grpSpPr>
          <a:xfrm>
            <a:off x="1388884" y="3811324"/>
            <a:ext cx="1214487" cy="167020"/>
            <a:chOff x="1388884" y="5081765"/>
            <a:chExt cx="1214487" cy="222693"/>
          </a:xfrm>
        </p:grpSpPr>
        <p:sp>
          <p:nvSpPr>
            <p:cNvPr id="197" name="Google Shape;197;p25"/>
            <p:cNvSpPr/>
            <p:nvPr/>
          </p:nvSpPr>
          <p:spPr>
            <a:xfrm>
              <a:off x="1467357" y="5081765"/>
              <a:ext cx="1136014" cy="181610"/>
            </a:xfrm>
            <a:custGeom>
              <a:rect b="b" l="l" r="r" t="t"/>
              <a:pathLst>
                <a:path extrusionOk="0" h="181610" w="1136014">
                  <a:moveTo>
                    <a:pt x="1135799" y="0"/>
                  </a:moveTo>
                  <a:lnTo>
                    <a:pt x="0" y="181076"/>
                  </a:lnTo>
                </a:path>
              </a:pathLst>
            </a:custGeom>
            <a:noFill/>
            <a:ln cap="flat" cmpd="sng" w="28425">
              <a:solidFill>
                <a:srgbClr val="BD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8" name="Google Shape;198;p25"/>
            <p:cNvSpPr/>
            <p:nvPr/>
          </p:nvSpPr>
          <p:spPr>
            <a:xfrm>
              <a:off x="1388884" y="5220004"/>
              <a:ext cx="91440" cy="84454"/>
            </a:xfrm>
            <a:custGeom>
              <a:rect b="b" l="l" r="r" t="t"/>
              <a:pathLst>
                <a:path extrusionOk="0" h="84454" w="91440">
                  <a:moveTo>
                    <a:pt x="77393" y="0"/>
                  </a:moveTo>
                  <a:lnTo>
                    <a:pt x="0" y="55435"/>
                  </a:lnTo>
                  <a:lnTo>
                    <a:pt x="91071" y="84239"/>
                  </a:lnTo>
                  <a:lnTo>
                    <a:pt x="77393" y="0"/>
                  </a:lnTo>
                  <a:close/>
                </a:path>
              </a:pathLst>
            </a:custGeom>
            <a:solidFill>
              <a:srgbClr val="BD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99" name="Google Shape;199;p25"/>
          <p:cNvSpPr txBox="1"/>
          <p:nvPr/>
        </p:nvSpPr>
        <p:spPr>
          <a:xfrm>
            <a:off x="7227716" y="4625060"/>
            <a:ext cx="1613400" cy="229500"/>
          </a:xfrm>
          <a:prstGeom prst="rect">
            <a:avLst/>
          </a:prstGeom>
          <a:noFill/>
          <a:ln cap="flat" cmpd="sng" w="38150">
            <a:solidFill>
              <a:srgbClr val="BD0000"/>
            </a:solidFill>
            <a:prstDash val="solid"/>
            <a:round/>
            <a:headEnd len="sm" w="sm" type="none"/>
            <a:tailEnd len="sm" w="sm" type="none"/>
          </a:ln>
        </p:spPr>
        <p:txBody>
          <a:bodyPr anchorCtr="0" anchor="t" bIns="0" lIns="0" spcFirstLastPara="1" rIns="0" wrap="square" tIns="44450">
            <a:spAutoFit/>
          </a:bodyPr>
          <a:lstStyle/>
          <a:p>
            <a:pPr indent="0" lvl="0" marL="90170" rtl="0" algn="l">
              <a:lnSpc>
                <a:spcPct val="100000"/>
              </a:lnSpc>
              <a:spcBef>
                <a:spcPts val="0"/>
              </a:spcBef>
              <a:spcAft>
                <a:spcPts val="0"/>
              </a:spcAft>
              <a:buNone/>
            </a:pPr>
            <a:r>
              <a:rPr b="1" lang="en" sz="1200">
                <a:solidFill>
                  <a:srgbClr val="BD0000"/>
                </a:solidFill>
                <a:latin typeface="Arial"/>
                <a:ea typeface="Arial"/>
                <a:cs typeface="Arial"/>
                <a:sym typeface="Arial"/>
              </a:rPr>
              <a:t>Print on completion</a:t>
            </a:r>
            <a:endParaRPr sz="1200">
              <a:latin typeface="Arial"/>
              <a:ea typeface="Arial"/>
              <a:cs typeface="Arial"/>
              <a:sym typeface="Arial"/>
            </a:endParaRPr>
          </a:p>
        </p:txBody>
      </p:sp>
      <p:pic>
        <p:nvPicPr>
          <p:cNvPr descr="A purple and white sign with white letters" id="200" name="Google Shape;200;p25"/>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6"/>
          <p:cNvSpPr txBox="1"/>
          <p:nvPr/>
        </p:nvSpPr>
        <p:spPr>
          <a:xfrm>
            <a:off x="992763" y="1070475"/>
            <a:ext cx="5013000" cy="289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t/>
            </a:r>
            <a:endParaRPr sz="1800">
              <a:latin typeface="Times New Roman"/>
              <a:ea typeface="Times New Roman"/>
              <a:cs typeface="Times New Roman"/>
              <a:sym typeface="Times New Roman"/>
            </a:endParaRPr>
          </a:p>
        </p:txBody>
      </p:sp>
      <p:sp>
        <p:nvSpPr>
          <p:cNvPr id="206" name="Google Shape;206;p26"/>
          <p:cNvSpPr txBox="1"/>
          <p:nvPr>
            <p:ph type="title"/>
          </p:nvPr>
        </p:nvSpPr>
        <p:spPr>
          <a:xfrm>
            <a:off x="52033" y="47649"/>
            <a:ext cx="64941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t>Real World – High Level Design Flow (1)</a:t>
            </a:r>
            <a:endParaRPr/>
          </a:p>
        </p:txBody>
      </p:sp>
      <p:pic>
        <p:nvPicPr>
          <p:cNvPr descr="A purple and white sign with white letters" id="207" name="Google Shape;207;p26"/>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
        <p:nvSpPr>
          <p:cNvPr id="208" name="Google Shape;208;p26"/>
          <p:cNvSpPr txBox="1"/>
          <p:nvPr/>
        </p:nvSpPr>
        <p:spPr>
          <a:xfrm>
            <a:off x="-38950" y="761350"/>
            <a:ext cx="9144000" cy="4249500"/>
          </a:xfrm>
          <a:prstGeom prst="rect">
            <a:avLst/>
          </a:prstGeom>
          <a:noFill/>
          <a:ln>
            <a:noFill/>
          </a:ln>
        </p:spPr>
        <p:txBody>
          <a:bodyPr anchorCtr="0" anchor="t" bIns="0" lIns="0" spcFirstLastPara="1" rIns="0" wrap="square" tIns="12700">
            <a:spAutoFit/>
          </a:bodyPr>
          <a:lstStyle/>
          <a:p>
            <a:pPr indent="-336550" lvl="0" marL="457200" rtl="0" algn="l">
              <a:lnSpc>
                <a:spcPct val="100000"/>
              </a:lnSpc>
              <a:spcBef>
                <a:spcPts val="0"/>
              </a:spcBef>
              <a:spcAft>
                <a:spcPts val="0"/>
              </a:spcAft>
              <a:buClr>
                <a:schemeClr val="dk1"/>
              </a:buClr>
              <a:buSzPts val="1700"/>
              <a:buChar char="●"/>
            </a:pPr>
            <a:r>
              <a:rPr lang="en" sz="1700">
                <a:solidFill>
                  <a:schemeClr val="dk1"/>
                </a:solidFill>
              </a:rPr>
              <a:t>Design Specification – Specifying the behavior expected of the final design</a:t>
            </a:r>
            <a:endParaRPr sz="1700">
              <a:solidFill>
                <a:schemeClr val="dk1"/>
              </a:solidFill>
            </a:endParaRPr>
          </a:p>
          <a:p>
            <a:pPr indent="-336550" lvl="1" marL="914400" rtl="0" algn="l">
              <a:lnSpc>
                <a:spcPct val="100000"/>
              </a:lnSpc>
              <a:spcBef>
                <a:spcPts val="0"/>
              </a:spcBef>
              <a:spcAft>
                <a:spcPts val="0"/>
              </a:spcAft>
              <a:buSzPts val="1700"/>
              <a:buChar char="○"/>
            </a:pPr>
            <a:r>
              <a:rPr lang="en" sz="1700"/>
              <a:t>Designer puts enough detail into the specification so that the design can be built.</a:t>
            </a:r>
            <a:endParaRPr sz="1700"/>
          </a:p>
          <a:p>
            <a:pPr indent="-336550" lvl="1" marL="914400" marR="374015" rtl="0" algn="l">
              <a:lnSpc>
                <a:spcPct val="79900"/>
              </a:lnSpc>
              <a:spcBef>
                <a:spcPts val="0"/>
              </a:spcBef>
              <a:spcAft>
                <a:spcPts val="0"/>
              </a:spcAft>
              <a:buSzPts val="1700"/>
              <a:buChar char="○"/>
            </a:pPr>
            <a:r>
              <a:rPr lang="en" sz="1700"/>
              <a:t>Coordinated with software and other devices that communicate with  chip.</a:t>
            </a:r>
            <a:endParaRPr sz="1700"/>
          </a:p>
          <a:p>
            <a:pPr indent="-336550" lvl="0" marL="457200" rtl="0" algn="l">
              <a:lnSpc>
                <a:spcPct val="100000"/>
              </a:lnSpc>
              <a:spcBef>
                <a:spcPts val="0"/>
              </a:spcBef>
              <a:spcAft>
                <a:spcPts val="0"/>
              </a:spcAft>
              <a:buSzPts val="1700"/>
              <a:buChar char="●"/>
            </a:pPr>
            <a:r>
              <a:rPr lang="en" sz="1700"/>
              <a:t>HDL Capture</a:t>
            </a:r>
            <a:endParaRPr sz="1700"/>
          </a:p>
          <a:p>
            <a:pPr indent="-336550" lvl="1" marL="914400" rtl="0" algn="l">
              <a:lnSpc>
                <a:spcPct val="100000"/>
              </a:lnSpc>
              <a:spcBef>
                <a:spcPts val="0"/>
              </a:spcBef>
              <a:spcAft>
                <a:spcPts val="0"/>
              </a:spcAft>
              <a:buSzPts val="1700"/>
              <a:buChar char="○"/>
            </a:pPr>
            <a:r>
              <a:rPr lang="en" sz="1700"/>
              <a:t>Designer enters verilog code for entities of the design and checks them for correct syntax.</a:t>
            </a:r>
            <a:endParaRPr sz="1700"/>
          </a:p>
          <a:p>
            <a:pPr indent="-336550" lvl="0" marL="457200" rtl="0" algn="l">
              <a:spcBef>
                <a:spcPts val="0"/>
              </a:spcBef>
              <a:spcAft>
                <a:spcPts val="0"/>
              </a:spcAft>
              <a:buClr>
                <a:srgbClr val="FF6600"/>
              </a:buClr>
              <a:buSzPts val="1700"/>
              <a:buChar char="●"/>
            </a:pPr>
            <a:r>
              <a:rPr lang="en" sz="1700">
                <a:solidFill>
                  <a:srgbClr val="FF6600"/>
                </a:solidFill>
              </a:rPr>
              <a:t>Designer loads verilog into an automatic testbench that thoroughly applies stimulus and checks the results.</a:t>
            </a:r>
            <a:endParaRPr sz="1700">
              <a:solidFill>
                <a:schemeClr val="dk1"/>
              </a:solidFill>
            </a:endParaRPr>
          </a:p>
          <a:p>
            <a:pPr indent="-336550" lvl="1" marL="914400" marR="5080" rtl="0" algn="l">
              <a:lnSpc>
                <a:spcPct val="79900"/>
              </a:lnSpc>
              <a:spcBef>
                <a:spcPts val="0"/>
              </a:spcBef>
              <a:spcAft>
                <a:spcPts val="0"/>
              </a:spcAft>
              <a:buClr>
                <a:srgbClr val="FF6600"/>
              </a:buClr>
              <a:buSzPts val="1700"/>
              <a:buChar char="○"/>
            </a:pPr>
            <a:r>
              <a:rPr lang="en" sz="1700">
                <a:solidFill>
                  <a:srgbClr val="FF6600"/>
                </a:solidFill>
              </a:rPr>
              <a:t>Designer runs simulation for as long as needed to generate enough output data to determine if the design is correct. At the beginning of the design process, this may be only a few vectors to make sure the design resets properly. But later, more and more of the vectors are run as the design starts to function properly.</a:t>
            </a:r>
            <a:endParaRPr sz="1700"/>
          </a:p>
          <a:p>
            <a:pPr indent="-336550" lvl="0" marL="457200" rtl="0" algn="l">
              <a:lnSpc>
                <a:spcPct val="100000"/>
              </a:lnSpc>
              <a:spcBef>
                <a:spcPts val="0"/>
              </a:spcBef>
              <a:spcAft>
                <a:spcPts val="0"/>
              </a:spcAft>
              <a:buSzPts val="1700"/>
              <a:buChar char="●"/>
            </a:pPr>
            <a:r>
              <a:rPr lang="en" sz="1700"/>
              <a:t>RTL Simulation:</a:t>
            </a:r>
            <a:endParaRPr sz="1700"/>
          </a:p>
          <a:p>
            <a:pPr indent="-336550" lvl="1" marL="914400" rtl="0" algn="l">
              <a:lnSpc>
                <a:spcPct val="100000"/>
              </a:lnSpc>
              <a:spcBef>
                <a:spcPts val="0"/>
              </a:spcBef>
              <a:spcAft>
                <a:spcPts val="0"/>
              </a:spcAft>
              <a:buSzPts val="1700"/>
              <a:buChar char="○"/>
            </a:pPr>
            <a:r>
              <a:rPr lang="en" sz="1700"/>
              <a:t>Verify correctness of the RTL verilog description</a:t>
            </a:r>
            <a:endParaRPr sz="1700"/>
          </a:p>
          <a:p>
            <a:pPr indent="-336550" lvl="1" marL="914400" marR="93345" rtl="0" algn="l">
              <a:lnSpc>
                <a:spcPct val="79900"/>
              </a:lnSpc>
              <a:spcBef>
                <a:spcPts val="0"/>
              </a:spcBef>
              <a:spcAft>
                <a:spcPts val="0"/>
              </a:spcAft>
              <a:buSzPts val="1700"/>
              <a:buChar char="○"/>
            </a:pPr>
            <a:r>
              <a:rPr lang="en" sz="1700"/>
              <a:t>verilog simulator reads the verilog description, compiles it into an internal format, and executes the compiled format using test vectors.</a:t>
            </a:r>
            <a:endParaRPr sz="1700"/>
          </a:p>
          <a:p>
            <a:pPr indent="-336550" lvl="1" marL="914400" marR="20955" rtl="0" algn="l">
              <a:lnSpc>
                <a:spcPct val="79900"/>
              </a:lnSpc>
              <a:spcBef>
                <a:spcPts val="0"/>
              </a:spcBef>
              <a:spcAft>
                <a:spcPts val="0"/>
              </a:spcAft>
              <a:buSzPts val="1700"/>
              <a:buChar char="○"/>
            </a:pPr>
            <a:r>
              <a:rPr lang="en" sz="1700"/>
              <a:t>Designer can look at the output of the simulation and determine whether or not the design is initially working properly.</a:t>
            </a:r>
            <a:endParaRPr sz="1700">
              <a:solidFill>
                <a:srgbClr val="FF66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nvSpPr>
        <p:spPr>
          <a:xfrm>
            <a:off x="61600" y="759874"/>
            <a:ext cx="9082500" cy="3921300"/>
          </a:xfrm>
          <a:prstGeom prst="rect">
            <a:avLst/>
          </a:prstGeom>
          <a:noFill/>
          <a:ln>
            <a:noFill/>
          </a:ln>
        </p:spPr>
        <p:txBody>
          <a:bodyPr anchorCtr="0" anchor="t" bIns="0" lIns="0" spcFirstLastPara="1" rIns="0" wrap="square" tIns="72375">
            <a:spAutoFit/>
          </a:bodyPr>
          <a:lstStyle/>
          <a:p>
            <a:pPr indent="-355600" lvl="0" marL="457200" rtl="0" algn="l">
              <a:lnSpc>
                <a:spcPct val="115000"/>
              </a:lnSpc>
              <a:spcBef>
                <a:spcPts val="0"/>
              </a:spcBef>
              <a:spcAft>
                <a:spcPts val="0"/>
              </a:spcAft>
              <a:buClr>
                <a:schemeClr val="dk1"/>
              </a:buClr>
              <a:buSzPts val="2000"/>
              <a:buChar char="●"/>
            </a:pPr>
            <a:r>
              <a:rPr lang="en" sz="2000">
                <a:solidFill>
                  <a:schemeClr val="dk1"/>
                </a:solidFill>
              </a:rPr>
              <a:t>RTL Synthesis – The synthesis tools convert the verilog description into a netlist in the target FPGA or ASIC technology.</a:t>
            </a:r>
            <a:endParaRPr sz="2000">
              <a:solidFill>
                <a:schemeClr val="dk1"/>
              </a:solidFill>
            </a:endParaRPr>
          </a:p>
          <a:p>
            <a:pPr indent="-355600" lvl="0" marL="457200" marR="15240" rtl="0" algn="l">
              <a:lnSpc>
                <a:spcPct val="115000"/>
              </a:lnSpc>
              <a:spcBef>
                <a:spcPts val="0"/>
              </a:spcBef>
              <a:spcAft>
                <a:spcPts val="0"/>
              </a:spcAft>
              <a:buClr>
                <a:schemeClr val="dk1"/>
              </a:buClr>
              <a:buSzPts val="2000"/>
              <a:buChar char="●"/>
            </a:pPr>
            <a:r>
              <a:rPr lang="en" sz="2000">
                <a:solidFill>
                  <a:schemeClr val="dk1"/>
                </a:solidFill>
              </a:rPr>
              <a:t>The synthesis step creates a design that implements the functionality and matches the designer’s constraints in speed, area, or power.</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 sz="2000">
                <a:solidFill>
                  <a:schemeClr val="dk1"/>
                </a:solidFill>
              </a:rPr>
              <a:t>The synthesis tools generate a timing report and area report</a:t>
            </a:r>
            <a:endParaRPr sz="2000">
              <a:solidFill>
                <a:schemeClr val="dk1"/>
              </a:solidFill>
            </a:endParaRPr>
          </a:p>
          <a:p>
            <a:pPr indent="-355600" lvl="1" marL="914400" marR="137160" rtl="0" algn="l">
              <a:lnSpc>
                <a:spcPct val="115000"/>
              </a:lnSpc>
              <a:spcBef>
                <a:spcPts val="0"/>
              </a:spcBef>
              <a:spcAft>
                <a:spcPts val="0"/>
              </a:spcAft>
              <a:buClr>
                <a:schemeClr val="dk1"/>
              </a:buClr>
              <a:buSzPts val="2000"/>
              <a:buChar char="○"/>
            </a:pPr>
            <a:r>
              <a:rPr lang="en" sz="2000">
                <a:solidFill>
                  <a:schemeClr val="dk1"/>
                </a:solidFill>
              </a:rPr>
              <a:t>Timing report – shows the timing of the critical paths of the design. The designer examines the timing of the critical paths closely because these paths ultimately determine how fast the design can run.</a:t>
            </a:r>
            <a:endParaRPr sz="2000">
              <a:solidFill>
                <a:schemeClr val="dk1"/>
              </a:solidFill>
            </a:endParaRPr>
          </a:p>
          <a:p>
            <a:pPr indent="-355600" lvl="1" marL="914400" marR="137160" rtl="0" algn="l">
              <a:lnSpc>
                <a:spcPct val="115000"/>
              </a:lnSpc>
              <a:spcBef>
                <a:spcPts val="0"/>
              </a:spcBef>
              <a:spcAft>
                <a:spcPts val="0"/>
              </a:spcAft>
              <a:buClr>
                <a:schemeClr val="dk1"/>
              </a:buClr>
              <a:buSzPts val="2000"/>
              <a:buChar char="○"/>
            </a:pPr>
            <a:r>
              <a:rPr lang="en" sz="2000">
                <a:solidFill>
                  <a:schemeClr val="dk1"/>
                </a:solidFill>
              </a:rPr>
              <a:t>Area report – Shows the designer how much of the resources of the chip the design has consumed. The designer can tell if the design is too big for a particular chip; the designer needs to target a larger chip.</a:t>
            </a:r>
            <a:endParaRPr sz="2000">
              <a:solidFill>
                <a:schemeClr val="dk1"/>
              </a:solidFill>
            </a:endParaRPr>
          </a:p>
        </p:txBody>
      </p:sp>
      <p:sp>
        <p:nvSpPr>
          <p:cNvPr id="214" name="Google Shape;214;p27"/>
          <p:cNvSpPr txBox="1"/>
          <p:nvPr/>
        </p:nvSpPr>
        <p:spPr>
          <a:xfrm>
            <a:off x="3287373" y="4724836"/>
            <a:ext cx="6759600" cy="2898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470"/>
              </a:spcBef>
              <a:spcAft>
                <a:spcPts val="0"/>
              </a:spcAft>
              <a:buNone/>
            </a:pPr>
            <a:r>
              <a:t/>
            </a:r>
            <a:endParaRPr sz="1800">
              <a:latin typeface="Times New Roman"/>
              <a:ea typeface="Times New Roman"/>
              <a:cs typeface="Times New Roman"/>
              <a:sym typeface="Times New Roman"/>
            </a:endParaRPr>
          </a:p>
        </p:txBody>
      </p:sp>
      <p:sp>
        <p:nvSpPr>
          <p:cNvPr id="215" name="Google Shape;215;p27"/>
          <p:cNvSpPr txBox="1"/>
          <p:nvPr/>
        </p:nvSpPr>
        <p:spPr>
          <a:xfrm>
            <a:off x="0" y="0"/>
            <a:ext cx="7628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rgbClr val="333399"/>
                </a:solidFill>
              </a:rPr>
              <a:t>Real World – High Level Design Flow (2)</a:t>
            </a:r>
            <a:endParaRPr/>
          </a:p>
        </p:txBody>
      </p:sp>
      <p:pic>
        <p:nvPicPr>
          <p:cNvPr descr="A purple and white sign with white letters" id="216" name="Google Shape;216;p27"/>
          <p:cNvPicPr preferRelativeResize="0"/>
          <p:nvPr/>
        </p:nvPicPr>
        <p:blipFill rotWithShape="1">
          <a:blip r:embed="rId3">
            <a:alphaModFix/>
          </a:blip>
          <a:srcRect b="0" l="0" r="0" t="0"/>
          <a:stretch/>
        </p:blipFill>
        <p:spPr>
          <a:xfrm>
            <a:off x="7027076" y="36325"/>
            <a:ext cx="2077847" cy="35029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8"/>
          <p:cNvSpPr txBox="1"/>
          <p:nvPr/>
        </p:nvSpPr>
        <p:spPr>
          <a:xfrm>
            <a:off x="51325" y="777300"/>
            <a:ext cx="8952600" cy="3588900"/>
          </a:xfrm>
          <a:prstGeom prst="rect">
            <a:avLst/>
          </a:prstGeom>
          <a:noFill/>
          <a:ln>
            <a:noFill/>
          </a:ln>
        </p:spPr>
        <p:txBody>
          <a:bodyPr anchorCtr="0" anchor="t" bIns="0" lIns="0" spcFirstLastPara="1" rIns="0" wrap="square" tIns="79375">
            <a:spAutoFit/>
          </a:bodyPr>
          <a:lstStyle/>
          <a:p>
            <a:pPr indent="0" lvl="0" marL="12700" rtl="0" algn="l">
              <a:lnSpc>
                <a:spcPct val="100000"/>
              </a:lnSpc>
              <a:spcBef>
                <a:spcPts val="0"/>
              </a:spcBef>
              <a:spcAft>
                <a:spcPts val="0"/>
              </a:spcAft>
              <a:buNone/>
            </a:pPr>
            <a:r>
              <a:rPr lang="en" sz="2000"/>
              <a:t>Functional Gate Simulation</a:t>
            </a:r>
            <a:endParaRPr sz="2000"/>
          </a:p>
          <a:p>
            <a:pPr indent="-355600" lvl="0" marL="457200" marR="85725" rtl="0" algn="l">
              <a:lnSpc>
                <a:spcPct val="115000"/>
              </a:lnSpc>
              <a:spcBef>
                <a:spcPts val="475"/>
              </a:spcBef>
              <a:spcAft>
                <a:spcPts val="0"/>
              </a:spcAft>
              <a:buSzPts val="2000"/>
              <a:buChar char="●"/>
            </a:pPr>
            <a:r>
              <a:rPr lang="en" sz="2000"/>
              <a:t>Designer quickly checks the output of the synthesis tool to make sure that the synthesis tool produced a design that is functionally correct.</a:t>
            </a:r>
            <a:endParaRPr sz="2000"/>
          </a:p>
          <a:p>
            <a:pPr indent="-355600" lvl="0" marL="457200" marR="5080" rtl="0" algn="l">
              <a:lnSpc>
                <a:spcPct val="115000"/>
              </a:lnSpc>
              <a:spcBef>
                <a:spcPts val="0"/>
              </a:spcBef>
              <a:spcAft>
                <a:spcPts val="0"/>
              </a:spcAft>
              <a:buSzPts val="2000"/>
              <a:buChar char="●"/>
            </a:pPr>
            <a:r>
              <a:rPr lang="en" sz="2000"/>
              <a:t>If proper design rules are followed for the input verilog description, the synthesis tool should never generate an output that is functionally different from the RTL verilog input, unless the tool has a bug.</a:t>
            </a:r>
            <a:endParaRPr sz="2000"/>
          </a:p>
          <a:p>
            <a:pPr indent="-355600" lvl="0" marL="457200" marR="43815" rtl="0" algn="l">
              <a:lnSpc>
                <a:spcPct val="115000"/>
              </a:lnSpc>
              <a:spcBef>
                <a:spcPts val="0"/>
              </a:spcBef>
              <a:spcAft>
                <a:spcPts val="0"/>
              </a:spcAft>
              <a:buSzPts val="2000"/>
              <a:buChar char="●"/>
            </a:pPr>
            <a:r>
              <a:rPr lang="en" sz="2000"/>
              <a:t>To do this, the designer reads the output verilog netlist from the synthesis tool, plus a library of the synthesis primitives into the verilog simulator and runs the simulation using the RTL verification vectors.</a:t>
            </a:r>
            <a:endParaRPr sz="2000"/>
          </a:p>
          <a:p>
            <a:pPr indent="-355600" lvl="0" marL="457200" rtl="0" algn="l">
              <a:lnSpc>
                <a:spcPct val="115000"/>
              </a:lnSpc>
              <a:spcBef>
                <a:spcPts val="0"/>
              </a:spcBef>
              <a:spcAft>
                <a:spcPts val="0"/>
              </a:spcAft>
              <a:buSzPts val="2000"/>
              <a:buChar char="●"/>
            </a:pPr>
            <a:r>
              <a:rPr lang="en" sz="2000"/>
              <a:t>For a completely functional simulation no timing is back annotated.</a:t>
            </a:r>
            <a:endParaRPr sz="2000"/>
          </a:p>
        </p:txBody>
      </p:sp>
      <p:sp>
        <p:nvSpPr>
          <p:cNvPr id="222" name="Google Shape;222;p28"/>
          <p:cNvSpPr txBox="1"/>
          <p:nvPr/>
        </p:nvSpPr>
        <p:spPr>
          <a:xfrm>
            <a:off x="0" y="0"/>
            <a:ext cx="7196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rgbClr val="333399"/>
                </a:solidFill>
              </a:rPr>
              <a:t>Real World – High Level Design Flow (3)</a:t>
            </a:r>
            <a:endParaRPr/>
          </a:p>
        </p:txBody>
      </p:sp>
      <p:pic>
        <p:nvPicPr>
          <p:cNvPr descr="A purple and white sign with white letters" id="223" name="Google Shape;223;p28"/>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nvSpPr>
        <p:spPr>
          <a:xfrm>
            <a:off x="0" y="595442"/>
            <a:ext cx="9185100" cy="4558500"/>
          </a:xfrm>
          <a:prstGeom prst="rect">
            <a:avLst/>
          </a:prstGeom>
          <a:noFill/>
          <a:ln>
            <a:noFill/>
          </a:ln>
        </p:spPr>
        <p:txBody>
          <a:bodyPr anchorCtr="0" anchor="t" bIns="0" lIns="0" spcFirstLastPara="1" rIns="0" wrap="square" tIns="12050">
            <a:spAutoFit/>
          </a:bodyPr>
          <a:lstStyle/>
          <a:p>
            <a:pPr indent="0" lvl="0" marL="0" marR="141605" rtl="0" algn="l">
              <a:lnSpc>
                <a:spcPct val="90000"/>
              </a:lnSpc>
              <a:spcBef>
                <a:spcPts val="0"/>
              </a:spcBef>
              <a:spcAft>
                <a:spcPts val="0"/>
              </a:spcAft>
              <a:buNone/>
            </a:pPr>
            <a:r>
              <a:rPr lang="en" sz="1700">
                <a:solidFill>
                  <a:schemeClr val="dk1"/>
                </a:solidFill>
              </a:rPr>
              <a:t>Place and Route (P&amp;R)</a:t>
            </a:r>
            <a:endParaRPr sz="1700">
              <a:solidFill>
                <a:schemeClr val="dk1"/>
              </a:solidFill>
            </a:endParaRPr>
          </a:p>
          <a:p>
            <a:pPr indent="-336550" lvl="0" marL="457200" marR="141605" rtl="0" algn="l">
              <a:lnSpc>
                <a:spcPct val="90000"/>
              </a:lnSpc>
              <a:spcBef>
                <a:spcPts val="80"/>
              </a:spcBef>
              <a:spcAft>
                <a:spcPts val="0"/>
              </a:spcAft>
              <a:buClr>
                <a:schemeClr val="dk1"/>
              </a:buClr>
              <a:buSzPts val="1700"/>
              <a:buChar char="●"/>
            </a:pPr>
            <a:r>
              <a:rPr lang="en" sz="1700">
                <a:solidFill>
                  <a:schemeClr val="dk1"/>
                </a:solidFill>
              </a:rPr>
              <a:t>P&amp;R tools take the design netlist and implement the design in the target tech device.</a:t>
            </a:r>
            <a:endParaRPr sz="1700">
              <a:solidFill>
                <a:schemeClr val="dk1"/>
              </a:solidFill>
            </a:endParaRPr>
          </a:p>
          <a:p>
            <a:pPr indent="-336550" lvl="0" marL="457200" marR="21590" rtl="0" algn="l">
              <a:lnSpc>
                <a:spcPct val="90000"/>
              </a:lnSpc>
              <a:spcBef>
                <a:spcPts val="80"/>
              </a:spcBef>
              <a:spcAft>
                <a:spcPts val="0"/>
              </a:spcAft>
              <a:buClr>
                <a:schemeClr val="dk1"/>
              </a:buClr>
              <a:buSzPts val="1700"/>
              <a:buChar char="●"/>
            </a:pPr>
            <a:r>
              <a:rPr lang="en" sz="1700">
                <a:solidFill>
                  <a:schemeClr val="dk1"/>
                </a:solidFill>
              </a:rPr>
              <a:t>P&amp;R tools place each primitive (gate, LUT, etc.) from the netlist into appropriates location on the target device and route signals between primitives to connect the devices according to netlist.</a:t>
            </a:r>
            <a:endParaRPr sz="1700">
              <a:solidFill>
                <a:schemeClr val="dk1"/>
              </a:solidFill>
            </a:endParaRPr>
          </a:p>
          <a:p>
            <a:pPr indent="-336550" lvl="0" marL="457200" marR="5080" rtl="0" algn="l">
              <a:lnSpc>
                <a:spcPct val="90000"/>
              </a:lnSpc>
              <a:spcBef>
                <a:spcPts val="80"/>
              </a:spcBef>
              <a:spcAft>
                <a:spcPts val="0"/>
              </a:spcAft>
              <a:buClr>
                <a:schemeClr val="dk1"/>
              </a:buClr>
              <a:buSzPts val="1700"/>
              <a:buChar char="●"/>
            </a:pPr>
            <a:r>
              <a:rPr lang="en" sz="1700">
                <a:solidFill>
                  <a:schemeClr val="dk1"/>
                </a:solidFill>
              </a:rPr>
              <a:t>P&amp;R tools are typically very architecture and device dependant. FPGA vendors provide these tools because the differences in architectures are large enough that writing a common tool for all architectures would be very difficult.</a:t>
            </a:r>
            <a:endParaRPr sz="1700">
              <a:solidFill>
                <a:schemeClr val="dk1"/>
              </a:solidFill>
            </a:endParaRPr>
          </a:p>
          <a:p>
            <a:pPr indent="-336550" lvl="0" marL="457200" marR="796290" rtl="0" algn="l">
              <a:lnSpc>
                <a:spcPct val="90000"/>
              </a:lnSpc>
              <a:spcBef>
                <a:spcPts val="80"/>
              </a:spcBef>
              <a:spcAft>
                <a:spcPts val="0"/>
              </a:spcAft>
              <a:buClr>
                <a:schemeClr val="dk1"/>
              </a:buClr>
              <a:buSzPts val="1700"/>
              <a:buChar char="●"/>
            </a:pPr>
            <a:r>
              <a:rPr lang="en" sz="1700">
                <a:solidFill>
                  <a:schemeClr val="dk1"/>
                </a:solidFill>
              </a:rPr>
              <a:t>Inputs to the P&amp;R tools are the netlist (EDIF), timing/placement constraints.</a:t>
            </a:r>
            <a:endParaRPr sz="1700">
              <a:solidFill>
                <a:schemeClr val="dk1"/>
              </a:solidFill>
            </a:endParaRPr>
          </a:p>
          <a:p>
            <a:pPr indent="-336550" lvl="1" marL="914400" marR="136525" rtl="0" algn="just">
              <a:lnSpc>
                <a:spcPct val="90000"/>
              </a:lnSpc>
              <a:spcBef>
                <a:spcPts val="80"/>
              </a:spcBef>
              <a:spcAft>
                <a:spcPts val="0"/>
              </a:spcAft>
              <a:buClr>
                <a:schemeClr val="dk1"/>
              </a:buClr>
              <a:buSzPts val="1700"/>
              <a:buChar char="○"/>
            </a:pPr>
            <a:r>
              <a:rPr lang="en" sz="1700">
                <a:solidFill>
                  <a:schemeClr val="dk1"/>
                </a:solidFill>
              </a:rPr>
              <a:t>Timing constraints–Gives the P&amp;R tools an indication of which signals have critical timing associated with them and to route these nets in the most timing efficient manner.</a:t>
            </a:r>
            <a:endParaRPr sz="1700">
              <a:solidFill>
                <a:schemeClr val="dk1"/>
              </a:solidFill>
            </a:endParaRPr>
          </a:p>
          <a:p>
            <a:pPr indent="-336550" lvl="1" marL="914400" marR="136525" rtl="0" algn="just">
              <a:lnSpc>
                <a:spcPct val="90000"/>
              </a:lnSpc>
              <a:spcBef>
                <a:spcPts val="80"/>
              </a:spcBef>
              <a:spcAft>
                <a:spcPts val="0"/>
              </a:spcAft>
              <a:buClr>
                <a:schemeClr val="dk1"/>
              </a:buClr>
              <a:buSzPts val="1700"/>
              <a:buChar char="○"/>
            </a:pPr>
            <a:r>
              <a:rPr lang="en" sz="1700">
                <a:solidFill>
                  <a:schemeClr val="dk1"/>
                </a:solidFill>
              </a:rPr>
              <a:t>Placement constraints –P&amp;R tools allow the designer to specify the placement of large parts of the design. This is known as floorplanning. Floorplanning allows the designer to pick locations on the chip for large blocks so that routing wires are as short as possible.</a:t>
            </a:r>
            <a:endParaRPr sz="1700">
              <a:solidFill>
                <a:schemeClr val="dk1"/>
              </a:solidFill>
            </a:endParaRPr>
          </a:p>
          <a:p>
            <a:pPr indent="-336550" lvl="0" marL="457200" marR="5080" rtl="0" algn="just">
              <a:lnSpc>
                <a:spcPct val="90000"/>
              </a:lnSpc>
              <a:spcBef>
                <a:spcPts val="80"/>
              </a:spcBef>
              <a:spcAft>
                <a:spcPts val="80"/>
              </a:spcAft>
              <a:buClr>
                <a:schemeClr val="dk1"/>
              </a:buClr>
              <a:buSzPts val="1700"/>
              <a:buChar char="●"/>
            </a:pPr>
            <a:r>
              <a:rPr lang="en" sz="1700">
                <a:solidFill>
                  <a:schemeClr val="dk1"/>
                </a:solidFill>
              </a:rPr>
              <a:t>The other output from the P&amp;R tools is a file used to generate the timing file. This file describes the actual timing of the programmed FPGA device of the final ASIC device. The most common format is standard delay format (SDF).</a:t>
            </a:r>
            <a:endParaRPr sz="1700">
              <a:solidFill>
                <a:schemeClr val="dk1"/>
              </a:solidFill>
            </a:endParaRPr>
          </a:p>
        </p:txBody>
      </p:sp>
      <p:sp>
        <p:nvSpPr>
          <p:cNvPr id="229" name="Google Shape;229;p29"/>
          <p:cNvSpPr txBox="1"/>
          <p:nvPr/>
        </p:nvSpPr>
        <p:spPr>
          <a:xfrm>
            <a:off x="0" y="0"/>
            <a:ext cx="7011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rgbClr val="333399"/>
                </a:solidFill>
              </a:rPr>
              <a:t>Real World – High Level Design Flow (4)</a:t>
            </a:r>
            <a:endParaRPr/>
          </a:p>
        </p:txBody>
      </p:sp>
      <p:pic>
        <p:nvPicPr>
          <p:cNvPr descr="A purple and white sign with white letters" id="230" name="Google Shape;230;p29"/>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0"/>
          <p:cNvSpPr txBox="1"/>
          <p:nvPr/>
        </p:nvSpPr>
        <p:spPr>
          <a:xfrm>
            <a:off x="51325" y="566335"/>
            <a:ext cx="9144000" cy="4458300"/>
          </a:xfrm>
          <a:prstGeom prst="rect">
            <a:avLst/>
          </a:prstGeom>
          <a:noFill/>
          <a:ln>
            <a:noFill/>
          </a:ln>
        </p:spPr>
        <p:txBody>
          <a:bodyPr anchorCtr="0" anchor="t" bIns="0" lIns="0" spcFirstLastPara="1" rIns="0" wrap="square" tIns="45075">
            <a:spAutoFit/>
          </a:bodyPr>
          <a:lstStyle/>
          <a:p>
            <a:pPr indent="-342900" lvl="0" marL="457200" rtl="0" algn="l">
              <a:lnSpc>
                <a:spcPct val="100000"/>
              </a:lnSpc>
              <a:spcBef>
                <a:spcPts val="0"/>
              </a:spcBef>
              <a:spcAft>
                <a:spcPts val="0"/>
              </a:spcAft>
              <a:buSzPts val="1800"/>
              <a:buChar char="●"/>
            </a:pPr>
            <a:r>
              <a:rPr lang="en" sz="1800"/>
              <a:t>Post Layout Timing Simulation</a:t>
            </a:r>
            <a:endParaRPr sz="1800"/>
          </a:p>
          <a:p>
            <a:pPr indent="-342900" lvl="1" marL="914400" marR="525145" rtl="0" algn="l">
              <a:lnSpc>
                <a:spcPct val="107722"/>
              </a:lnSpc>
              <a:spcBef>
                <a:spcPts val="0"/>
              </a:spcBef>
              <a:spcAft>
                <a:spcPts val="0"/>
              </a:spcAft>
              <a:buSzPts val="1800"/>
              <a:buChar char="○"/>
            </a:pPr>
            <a:r>
              <a:rPr lang="en" sz="1800"/>
              <a:t>After place and route process has completed, the designer will want to verify the results of the place and route process.</a:t>
            </a:r>
            <a:endParaRPr sz="1800"/>
          </a:p>
          <a:p>
            <a:pPr indent="-342900" lvl="1" marL="914400" marR="181610" rtl="0" algn="l">
              <a:lnSpc>
                <a:spcPct val="107722"/>
              </a:lnSpc>
              <a:spcBef>
                <a:spcPts val="0"/>
              </a:spcBef>
              <a:spcAft>
                <a:spcPts val="0"/>
              </a:spcAft>
              <a:buSzPts val="1800"/>
              <a:buChar char="○"/>
            </a:pPr>
            <a:r>
              <a:rPr lang="en" sz="1800"/>
              <a:t>This simulation combines the netlist used for place and route with the timing file (SDF) from the place and route process into a simulation that checks both the functionality and timing of the design.</a:t>
            </a:r>
            <a:endParaRPr sz="1800"/>
          </a:p>
          <a:p>
            <a:pPr indent="-342900" lvl="1" marL="914400" marR="5080" rtl="0" algn="l">
              <a:lnSpc>
                <a:spcPct val="107722"/>
              </a:lnSpc>
              <a:spcBef>
                <a:spcPts val="0"/>
              </a:spcBef>
              <a:spcAft>
                <a:spcPts val="0"/>
              </a:spcAft>
              <a:buSzPts val="1800"/>
              <a:buChar char="○"/>
            </a:pPr>
            <a:r>
              <a:rPr lang="en" sz="1800"/>
              <a:t>Post route gate-level simulation, if done properly, also uses the same simulator as the RTL simulation. (Same testbench)</a:t>
            </a:r>
            <a:endParaRPr sz="1800"/>
          </a:p>
          <a:p>
            <a:pPr indent="-342900" lvl="0" marL="457200" rtl="0" algn="l">
              <a:lnSpc>
                <a:spcPct val="100000"/>
              </a:lnSpc>
              <a:spcBef>
                <a:spcPts val="0"/>
              </a:spcBef>
              <a:spcAft>
                <a:spcPts val="0"/>
              </a:spcAft>
              <a:buSzPts val="1800"/>
              <a:buChar char="●"/>
            </a:pPr>
            <a:r>
              <a:rPr lang="en" sz="1800"/>
              <a:t>Static Timing</a:t>
            </a:r>
            <a:endParaRPr sz="1800"/>
          </a:p>
          <a:p>
            <a:pPr indent="-342900" lvl="1" marL="914400" marR="113664" rtl="0" algn="l">
              <a:lnSpc>
                <a:spcPct val="107722"/>
              </a:lnSpc>
              <a:spcBef>
                <a:spcPts val="0"/>
              </a:spcBef>
              <a:spcAft>
                <a:spcPts val="0"/>
              </a:spcAft>
              <a:buSzPts val="1800"/>
              <a:buChar char="○"/>
            </a:pPr>
            <a:r>
              <a:rPr lang="en" sz="1800"/>
              <a:t>For designs of 10k-100k gates, post route timing simulation is a good method of verifying design functionality and timing. However, as designs gets larger, or if the designer does not have test vectors, the designer can use static timing analysis to make sure design meets timing requirements.</a:t>
            </a:r>
            <a:endParaRPr sz="1800"/>
          </a:p>
          <a:p>
            <a:pPr indent="-342900" lvl="1" marL="914400" marR="287655" rtl="0" algn="l">
              <a:lnSpc>
                <a:spcPct val="107722"/>
              </a:lnSpc>
              <a:spcBef>
                <a:spcPts val="0"/>
              </a:spcBef>
              <a:spcAft>
                <a:spcPts val="0"/>
              </a:spcAft>
              <a:buSzPts val="1800"/>
              <a:buChar char="○"/>
            </a:pPr>
            <a:r>
              <a:rPr lang="en" sz="1800"/>
              <a:t>A static timing analyzer traces each path in the design and keeps track of the timing from a clock edge or an input. A timing report is then generated.</a:t>
            </a:r>
            <a:endParaRPr sz="1800"/>
          </a:p>
        </p:txBody>
      </p:sp>
      <p:sp>
        <p:nvSpPr>
          <p:cNvPr id="236" name="Google Shape;236;p30"/>
          <p:cNvSpPr txBox="1"/>
          <p:nvPr/>
        </p:nvSpPr>
        <p:spPr>
          <a:xfrm>
            <a:off x="0" y="0"/>
            <a:ext cx="7053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rgbClr val="333399"/>
                </a:solidFill>
              </a:rPr>
              <a:t>Real World – High Level Design Flow (5)</a:t>
            </a:r>
            <a:endParaRPr/>
          </a:p>
        </p:txBody>
      </p:sp>
      <p:pic>
        <p:nvPicPr>
          <p:cNvPr descr="A purple and white sign with white letters" id="237" name="Google Shape;237;p30"/>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1"/>
          <p:cNvSpPr txBox="1"/>
          <p:nvPr/>
        </p:nvSpPr>
        <p:spPr>
          <a:xfrm>
            <a:off x="2" y="612073"/>
            <a:ext cx="9291000" cy="4393500"/>
          </a:xfrm>
          <a:prstGeom prst="rect">
            <a:avLst/>
          </a:prstGeom>
          <a:noFill/>
          <a:ln>
            <a:noFill/>
          </a:ln>
        </p:spPr>
        <p:txBody>
          <a:bodyPr anchorCtr="0" anchor="t" bIns="0" lIns="0" spcFirstLastPara="1" rIns="0" wrap="square" tIns="48875">
            <a:spAutoFit/>
          </a:bodyPr>
          <a:lstStyle/>
          <a:p>
            <a:pPr indent="0" lvl="0" marL="12700" rtl="0" algn="l">
              <a:lnSpc>
                <a:spcPct val="100000"/>
              </a:lnSpc>
              <a:spcBef>
                <a:spcPts val="0"/>
              </a:spcBef>
              <a:spcAft>
                <a:spcPts val="0"/>
              </a:spcAft>
              <a:buNone/>
            </a:pPr>
            <a:r>
              <a:rPr lang="en" sz="2000"/>
              <a:t>On chip Debug –</a:t>
            </a:r>
            <a:endParaRPr sz="2000"/>
          </a:p>
          <a:p>
            <a:pPr indent="-355600" lvl="0" marL="457200" marR="411480" rtl="0" algn="l">
              <a:lnSpc>
                <a:spcPct val="108000"/>
              </a:lnSpc>
              <a:spcBef>
                <a:spcPts val="555"/>
              </a:spcBef>
              <a:spcAft>
                <a:spcPts val="0"/>
              </a:spcAft>
              <a:buSzPts val="2000"/>
              <a:buChar char="●"/>
            </a:pPr>
            <a:r>
              <a:rPr lang="en" sz="2000"/>
              <a:t>This technique provides the designers with the ability to debug their design in the target system, at target speed, at the RTL level.</a:t>
            </a:r>
            <a:endParaRPr sz="2000"/>
          </a:p>
          <a:p>
            <a:pPr indent="-355600" lvl="0" marL="457200" marR="222250" rtl="0" algn="l">
              <a:lnSpc>
                <a:spcPct val="108000"/>
              </a:lnSpc>
              <a:spcBef>
                <a:spcPts val="0"/>
              </a:spcBef>
              <a:spcAft>
                <a:spcPts val="0"/>
              </a:spcAft>
              <a:buSzPts val="2000"/>
              <a:buChar char="●"/>
            </a:pPr>
            <a:r>
              <a:rPr lang="en" sz="2000"/>
              <a:t>The veriolog for the device is read into a tool that automatically creates and inserts a small debug core into the device that probes internal signals.</a:t>
            </a:r>
            <a:endParaRPr sz="2000"/>
          </a:p>
          <a:p>
            <a:pPr indent="-355600" lvl="0" marL="457200" marR="5080" rtl="0" algn="l">
              <a:lnSpc>
                <a:spcPct val="108000"/>
              </a:lnSpc>
              <a:spcBef>
                <a:spcPts val="0"/>
              </a:spcBef>
              <a:spcAft>
                <a:spcPts val="0"/>
              </a:spcAft>
              <a:buSzPts val="2000"/>
              <a:buChar char="●"/>
            </a:pPr>
            <a:r>
              <a:rPr lang="en" sz="2000"/>
              <a:t>The debug core is created based on information from the designer about what signals are to be probed.</a:t>
            </a:r>
            <a:endParaRPr sz="2000"/>
          </a:p>
          <a:p>
            <a:pPr indent="-355600" lvl="0" marL="457200" marR="147320" rtl="0" algn="l">
              <a:lnSpc>
                <a:spcPct val="108000"/>
              </a:lnSpc>
              <a:spcBef>
                <a:spcPts val="0"/>
              </a:spcBef>
              <a:spcAft>
                <a:spcPts val="0"/>
              </a:spcAft>
              <a:buSzPts val="2000"/>
              <a:buChar char="●"/>
            </a:pPr>
            <a:r>
              <a:rPr lang="en" sz="2000"/>
              <a:t>The debug core communicates through the JTAG port on the device to an HDL debugger executing on a host platform.</a:t>
            </a:r>
            <a:endParaRPr sz="2000"/>
          </a:p>
          <a:p>
            <a:pPr indent="-355600" lvl="0" marL="457200" marR="342900" rtl="0" algn="l">
              <a:lnSpc>
                <a:spcPct val="108000"/>
              </a:lnSpc>
              <a:spcBef>
                <a:spcPts val="0"/>
              </a:spcBef>
              <a:spcAft>
                <a:spcPts val="0"/>
              </a:spcAft>
              <a:buSzPts val="2000"/>
              <a:buChar char="●"/>
            </a:pPr>
            <a:r>
              <a:rPr lang="en" sz="2000"/>
              <a:t>The HDL debugger sends and receives data from the debug core and displays this data in context with an HDL for the design.</a:t>
            </a:r>
            <a:endParaRPr sz="2000"/>
          </a:p>
          <a:p>
            <a:pPr indent="-355600" lvl="0" marL="457200" marR="206375" rtl="0" algn="l">
              <a:lnSpc>
                <a:spcPct val="108000"/>
              </a:lnSpc>
              <a:spcBef>
                <a:spcPts val="0"/>
              </a:spcBef>
              <a:spcAft>
                <a:spcPts val="0"/>
              </a:spcAft>
              <a:buSzPts val="2000"/>
              <a:buChar char="●"/>
            </a:pPr>
            <a:r>
              <a:rPr lang="en" sz="2000"/>
              <a:t>Waveforms of the internal device can also be displayed, providing the ability to trace down problems in the design.</a:t>
            </a:r>
            <a:endParaRPr sz="2000"/>
          </a:p>
        </p:txBody>
      </p:sp>
      <p:sp>
        <p:nvSpPr>
          <p:cNvPr id="243" name="Google Shape;243;p31"/>
          <p:cNvSpPr txBox="1"/>
          <p:nvPr/>
        </p:nvSpPr>
        <p:spPr>
          <a:xfrm>
            <a:off x="0" y="0"/>
            <a:ext cx="7104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rgbClr val="333399"/>
                </a:solidFill>
              </a:rPr>
              <a:t>Real World – High Level Design Flow (6)</a:t>
            </a:r>
            <a:endParaRPr/>
          </a:p>
        </p:txBody>
      </p:sp>
      <p:pic>
        <p:nvPicPr>
          <p:cNvPr descr="A purple and white sign with white letters" id="244" name="Google Shape;244;p31"/>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2"/>
          <p:cNvSpPr txBox="1"/>
          <p:nvPr>
            <p:ph type="title"/>
          </p:nvPr>
        </p:nvSpPr>
        <p:spPr>
          <a:xfrm>
            <a:off x="0" y="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solidFill>
                  <a:srgbClr val="0000FF"/>
                </a:solidFill>
              </a:rPr>
              <a:t>Motivation</a:t>
            </a:r>
            <a:endParaRPr sz="3020">
              <a:solidFill>
                <a:srgbClr val="0000FF"/>
              </a:solidFill>
            </a:endParaRPr>
          </a:p>
        </p:txBody>
      </p:sp>
      <p:sp>
        <p:nvSpPr>
          <p:cNvPr id="250" name="Google Shape;250;p32"/>
          <p:cNvSpPr txBox="1"/>
          <p:nvPr>
            <p:ph idx="1" type="body"/>
          </p:nvPr>
        </p:nvSpPr>
        <p:spPr>
          <a:xfrm>
            <a:off x="183911" y="1237675"/>
            <a:ext cx="8832300" cy="28089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Clr>
                <a:schemeClr val="dk1"/>
              </a:buClr>
              <a:buSzPts val="2400"/>
              <a:buChar char="●"/>
            </a:pPr>
            <a:r>
              <a:rPr lang="en" sz="2400">
                <a:solidFill>
                  <a:schemeClr val="dk1"/>
                </a:solidFill>
              </a:rPr>
              <a:t>Testing</a:t>
            </a:r>
            <a:r>
              <a:rPr lang="en" sz="2400">
                <a:solidFill>
                  <a:schemeClr val="dk1"/>
                </a:solidFill>
              </a:rPr>
              <a:t> RTL → Testbench Generation</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 sz="2400">
                <a:solidFill>
                  <a:schemeClr val="dk1"/>
                </a:solidFill>
              </a:rPr>
              <a:t>Design Verification is time consuming task</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 sz="2400">
                <a:solidFill>
                  <a:schemeClr val="dk1"/>
                </a:solidFill>
              </a:rPr>
              <a:t>Coming up with relevant test patterns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 sz="2400">
                <a:solidFill>
                  <a:schemeClr val="dk1"/>
                </a:solidFill>
              </a:rPr>
              <a:t>Validating result against Design Specification</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 sz="2400">
                <a:solidFill>
                  <a:schemeClr val="dk1"/>
                </a:solidFill>
              </a:rPr>
              <a:t>Improve Coverage using relevant test cases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 sz="2400">
                <a:solidFill>
                  <a:schemeClr val="dk1"/>
                </a:solidFill>
              </a:rPr>
              <a:t>Catch functional RTL bugs</a:t>
            </a:r>
            <a:endParaRPr sz="2400">
              <a:solidFill>
                <a:schemeClr val="dk1"/>
              </a:solidFill>
            </a:endParaRPr>
          </a:p>
        </p:txBody>
      </p:sp>
      <p:pic>
        <p:nvPicPr>
          <p:cNvPr descr="A purple and white sign with white letters" id="251" name="Google Shape;251;p32"/>
          <p:cNvPicPr preferRelativeResize="0"/>
          <p:nvPr/>
        </p:nvPicPr>
        <p:blipFill rotWithShape="1">
          <a:blip r:embed="rId3">
            <a:alphaModFix/>
          </a:blip>
          <a:srcRect b="0" l="0" r="0" t="0"/>
          <a:stretch/>
        </p:blipFill>
        <p:spPr>
          <a:xfrm>
            <a:off x="7027076" y="36707"/>
            <a:ext cx="2077847" cy="35029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3"/>
          <p:cNvSpPr txBox="1"/>
          <p:nvPr>
            <p:ph type="title"/>
          </p:nvPr>
        </p:nvSpPr>
        <p:spPr>
          <a:xfrm>
            <a:off x="10650" y="0"/>
            <a:ext cx="5313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solidFill>
                  <a:srgbClr val="0000FF"/>
                </a:solidFill>
              </a:rPr>
              <a:t>Proposed Flow</a:t>
            </a:r>
            <a:endParaRPr sz="3020">
              <a:solidFill>
                <a:srgbClr val="0000FF"/>
              </a:solidFill>
            </a:endParaRPr>
          </a:p>
        </p:txBody>
      </p:sp>
      <p:pic>
        <p:nvPicPr>
          <p:cNvPr id="257" name="Google Shape;257;p33"/>
          <p:cNvPicPr preferRelativeResize="0"/>
          <p:nvPr/>
        </p:nvPicPr>
        <p:blipFill>
          <a:blip r:embed="rId3">
            <a:alphaModFix/>
          </a:blip>
          <a:stretch>
            <a:fillRect/>
          </a:stretch>
        </p:blipFill>
        <p:spPr>
          <a:xfrm>
            <a:off x="10649" y="1309249"/>
            <a:ext cx="9144001" cy="3340249"/>
          </a:xfrm>
          <a:prstGeom prst="rect">
            <a:avLst/>
          </a:prstGeom>
          <a:noFill/>
          <a:ln cap="flat" cmpd="sng" w="9525">
            <a:solidFill>
              <a:schemeClr val="dk1"/>
            </a:solidFill>
            <a:prstDash val="solid"/>
            <a:round/>
            <a:headEnd len="sm" w="sm" type="none"/>
            <a:tailEnd len="sm" w="sm" type="none"/>
          </a:ln>
        </p:spPr>
      </p:pic>
      <p:pic>
        <p:nvPicPr>
          <p:cNvPr descr="A purple and white sign with white letters" id="258" name="Google Shape;258;p33"/>
          <p:cNvPicPr preferRelativeResize="0"/>
          <p:nvPr/>
        </p:nvPicPr>
        <p:blipFill rotWithShape="1">
          <a:blip r:embed="rId4">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4"/>
          <p:cNvSpPr txBox="1"/>
          <p:nvPr>
            <p:ph type="title"/>
          </p:nvPr>
        </p:nvSpPr>
        <p:spPr>
          <a:xfrm>
            <a:off x="0" y="260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solidFill>
                  <a:srgbClr val="0000FF"/>
                </a:solidFill>
              </a:rPr>
              <a:t>Prompts: Testbench Template</a:t>
            </a:r>
            <a:endParaRPr sz="3020">
              <a:solidFill>
                <a:srgbClr val="0000FF"/>
              </a:solidFill>
            </a:endParaRPr>
          </a:p>
        </p:txBody>
      </p:sp>
      <p:pic>
        <p:nvPicPr>
          <p:cNvPr id="264" name="Google Shape;264;p34"/>
          <p:cNvPicPr preferRelativeResize="0"/>
          <p:nvPr/>
        </p:nvPicPr>
        <p:blipFill>
          <a:blip r:embed="rId3">
            <a:alphaModFix/>
          </a:blip>
          <a:stretch>
            <a:fillRect/>
          </a:stretch>
        </p:blipFill>
        <p:spPr>
          <a:xfrm>
            <a:off x="63894" y="609387"/>
            <a:ext cx="8998874" cy="4335478"/>
          </a:xfrm>
          <a:prstGeom prst="rect">
            <a:avLst/>
          </a:prstGeom>
          <a:noFill/>
          <a:ln>
            <a:noFill/>
          </a:ln>
        </p:spPr>
      </p:pic>
      <p:pic>
        <p:nvPicPr>
          <p:cNvPr descr="A purple and white sign with white letters" id="265" name="Google Shape;265;p34"/>
          <p:cNvPicPr preferRelativeResize="0"/>
          <p:nvPr/>
        </p:nvPicPr>
        <p:blipFill rotWithShape="1">
          <a:blip r:embed="rId4">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5"/>
          <p:cNvSpPr txBox="1"/>
          <p:nvPr>
            <p:ph type="title"/>
          </p:nvPr>
        </p:nvSpPr>
        <p:spPr>
          <a:xfrm>
            <a:off x="0" y="260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solidFill>
                  <a:srgbClr val="0000FF"/>
                </a:solidFill>
              </a:rPr>
              <a:t>Prompts: Improve </a:t>
            </a:r>
            <a:r>
              <a:rPr lang="en" sz="3020">
                <a:solidFill>
                  <a:srgbClr val="0000FF"/>
                </a:solidFill>
              </a:rPr>
              <a:t>Test Case</a:t>
            </a:r>
            <a:r>
              <a:rPr lang="en" sz="3020">
                <a:solidFill>
                  <a:srgbClr val="0000FF"/>
                </a:solidFill>
              </a:rPr>
              <a:t> Generation</a:t>
            </a:r>
            <a:endParaRPr sz="3020">
              <a:solidFill>
                <a:srgbClr val="0000FF"/>
              </a:solidFill>
            </a:endParaRPr>
          </a:p>
        </p:txBody>
      </p:sp>
      <p:pic>
        <p:nvPicPr>
          <p:cNvPr id="271" name="Google Shape;271;p35"/>
          <p:cNvPicPr preferRelativeResize="0"/>
          <p:nvPr/>
        </p:nvPicPr>
        <p:blipFill>
          <a:blip r:embed="rId3">
            <a:alphaModFix/>
          </a:blip>
          <a:stretch>
            <a:fillRect/>
          </a:stretch>
        </p:blipFill>
        <p:spPr>
          <a:xfrm>
            <a:off x="1363527" y="702850"/>
            <a:ext cx="7086348" cy="4440650"/>
          </a:xfrm>
          <a:prstGeom prst="rect">
            <a:avLst/>
          </a:prstGeom>
          <a:noFill/>
          <a:ln>
            <a:noFill/>
          </a:ln>
        </p:spPr>
      </p:pic>
      <p:pic>
        <p:nvPicPr>
          <p:cNvPr descr="A purple and white sign with white letters" id="272" name="Google Shape;272;p35"/>
          <p:cNvPicPr preferRelativeResize="0"/>
          <p:nvPr/>
        </p:nvPicPr>
        <p:blipFill rotWithShape="1">
          <a:blip r:embed="rId4">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6"/>
          <p:cNvSpPr txBox="1"/>
          <p:nvPr>
            <p:ph type="title"/>
          </p:nvPr>
        </p:nvSpPr>
        <p:spPr>
          <a:xfrm>
            <a:off x="0" y="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solidFill>
                  <a:srgbClr val="0000FF"/>
                </a:solidFill>
              </a:rPr>
              <a:t>Feedback to Improve FSM Coverage</a:t>
            </a:r>
            <a:endParaRPr sz="3020">
              <a:solidFill>
                <a:srgbClr val="0000FF"/>
              </a:solidFill>
            </a:endParaRPr>
          </a:p>
        </p:txBody>
      </p:sp>
      <p:pic>
        <p:nvPicPr>
          <p:cNvPr id="278" name="Google Shape;278;p36"/>
          <p:cNvPicPr preferRelativeResize="0"/>
          <p:nvPr/>
        </p:nvPicPr>
        <p:blipFill rotWithShape="1">
          <a:blip r:embed="rId3">
            <a:alphaModFix/>
          </a:blip>
          <a:srcRect b="0" l="0" r="-2669" t="0"/>
          <a:stretch/>
        </p:blipFill>
        <p:spPr>
          <a:xfrm>
            <a:off x="1627050" y="604647"/>
            <a:ext cx="6177210" cy="4453650"/>
          </a:xfrm>
          <a:prstGeom prst="rect">
            <a:avLst/>
          </a:prstGeom>
          <a:noFill/>
          <a:ln>
            <a:noFill/>
          </a:ln>
        </p:spPr>
      </p:pic>
      <p:pic>
        <p:nvPicPr>
          <p:cNvPr descr="A purple and white sign with white letters" id="279" name="Google Shape;279;p36"/>
          <p:cNvPicPr preferRelativeResize="0"/>
          <p:nvPr/>
        </p:nvPicPr>
        <p:blipFill rotWithShape="1">
          <a:blip r:embed="rId4">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7"/>
          <p:cNvSpPr txBox="1"/>
          <p:nvPr>
            <p:ph type="title"/>
          </p:nvPr>
        </p:nvSpPr>
        <p:spPr>
          <a:xfrm>
            <a:off x="0" y="-21298"/>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solidFill>
                  <a:srgbClr val="0000FF"/>
                </a:solidFill>
              </a:rPr>
              <a:t>Example of Generated Test Pattern</a:t>
            </a:r>
            <a:endParaRPr sz="3020">
              <a:solidFill>
                <a:srgbClr val="0000FF"/>
              </a:solidFill>
            </a:endParaRPr>
          </a:p>
        </p:txBody>
      </p:sp>
      <p:pic>
        <p:nvPicPr>
          <p:cNvPr id="285" name="Google Shape;285;p37"/>
          <p:cNvPicPr preferRelativeResize="0"/>
          <p:nvPr/>
        </p:nvPicPr>
        <p:blipFill>
          <a:blip r:embed="rId3">
            <a:alphaModFix/>
          </a:blip>
          <a:stretch>
            <a:fillRect/>
          </a:stretch>
        </p:blipFill>
        <p:spPr>
          <a:xfrm>
            <a:off x="4727373" y="479600"/>
            <a:ext cx="4369001" cy="4621300"/>
          </a:xfrm>
          <a:prstGeom prst="rect">
            <a:avLst/>
          </a:prstGeom>
          <a:noFill/>
          <a:ln cap="flat" cmpd="sng" w="9525">
            <a:solidFill>
              <a:schemeClr val="dk1"/>
            </a:solidFill>
            <a:prstDash val="solid"/>
            <a:round/>
            <a:headEnd len="sm" w="sm" type="none"/>
            <a:tailEnd len="sm" w="sm" type="none"/>
          </a:ln>
        </p:spPr>
      </p:pic>
      <p:pic>
        <p:nvPicPr>
          <p:cNvPr id="286" name="Google Shape;286;p37"/>
          <p:cNvPicPr preferRelativeResize="0"/>
          <p:nvPr/>
        </p:nvPicPr>
        <p:blipFill>
          <a:blip r:embed="rId4">
            <a:alphaModFix/>
          </a:blip>
          <a:stretch>
            <a:fillRect/>
          </a:stretch>
        </p:blipFill>
        <p:spPr>
          <a:xfrm>
            <a:off x="50751" y="1533826"/>
            <a:ext cx="4665975" cy="1841350"/>
          </a:xfrm>
          <a:prstGeom prst="rect">
            <a:avLst/>
          </a:prstGeom>
          <a:noFill/>
          <a:ln cap="flat" cmpd="sng" w="9525">
            <a:solidFill>
              <a:schemeClr val="dk1"/>
            </a:solidFill>
            <a:prstDash val="solid"/>
            <a:round/>
            <a:headEnd len="sm" w="sm" type="none"/>
            <a:tailEnd len="sm" w="sm" type="none"/>
          </a:ln>
        </p:spPr>
      </p:pic>
      <p:pic>
        <p:nvPicPr>
          <p:cNvPr descr="A purple and white sign with white letters" id="287" name="Google Shape;287;p37"/>
          <p:cNvPicPr preferRelativeResize="0"/>
          <p:nvPr/>
        </p:nvPicPr>
        <p:blipFill rotWithShape="1">
          <a:blip r:embed="rId5">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8"/>
          <p:cNvSpPr txBox="1"/>
          <p:nvPr>
            <p:ph type="title"/>
          </p:nvPr>
        </p:nvSpPr>
        <p:spPr>
          <a:xfrm>
            <a:off x="0" y="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020">
                <a:solidFill>
                  <a:srgbClr val="0000FF"/>
                </a:solidFill>
              </a:rPr>
              <a:t>Conclusion</a:t>
            </a:r>
            <a:endParaRPr sz="3020">
              <a:solidFill>
                <a:srgbClr val="0000FF"/>
              </a:solidFill>
            </a:endParaRPr>
          </a:p>
        </p:txBody>
      </p:sp>
      <p:sp>
        <p:nvSpPr>
          <p:cNvPr id="293" name="Google Shape;293;p38"/>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lang="en" sz="1500">
                <a:solidFill>
                  <a:schemeClr val="dk1"/>
                </a:solidFill>
              </a:rPr>
              <a:t>Large FSMs with many states/transitions cause LLMs to repeat responses and miss coverage</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No readily available combined RTL–testbench datasets; labeling “good vs. bad” testbenches requires full EDA runs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Use resets (“reset after X transitions”) and EDA tool feedback (“focus on uncovered transitions”) to guide LLMs effectively</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Providing underlying RTL helps LLMs contextualize testbenches, with prompts playing a critical role in quality bug detection</a:t>
            </a:r>
            <a:endParaRPr sz="1500"/>
          </a:p>
        </p:txBody>
      </p:sp>
      <p:pic>
        <p:nvPicPr>
          <p:cNvPr descr="A purple and white sign with white letters" id="294" name="Google Shape;294;p38"/>
          <p:cNvPicPr preferRelativeResize="0"/>
          <p:nvPr/>
        </p:nvPicPr>
        <p:blipFill rotWithShape="1">
          <a:blip r:embed="rId3">
            <a:alphaModFix/>
          </a:blip>
          <a:srcRect b="0" l="0" r="0" t="0"/>
          <a:stretch/>
        </p:blipFill>
        <p:spPr>
          <a:xfrm>
            <a:off x="7027076" y="26058"/>
            <a:ext cx="2077847" cy="35029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9"/>
          <p:cNvSpPr txBox="1"/>
          <p:nvPr>
            <p:ph type="title"/>
          </p:nvPr>
        </p:nvSpPr>
        <p:spPr>
          <a:xfrm>
            <a:off x="175518" y="-104756"/>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 sz="2218">
                <a:solidFill>
                  <a:srgbClr val="0000FF"/>
                </a:solidFill>
              </a:rPr>
              <a:t>Example 1 from ChipChat</a:t>
            </a:r>
            <a:endParaRPr sz="2218">
              <a:solidFill>
                <a:srgbClr val="0000FF"/>
              </a:solidFill>
            </a:endParaRPr>
          </a:p>
          <a:p>
            <a:pPr indent="0" lvl="0" marL="0" rtl="0" algn="l">
              <a:spcBef>
                <a:spcPts val="0"/>
              </a:spcBef>
              <a:spcAft>
                <a:spcPts val="0"/>
              </a:spcAft>
              <a:buSzPts val="990"/>
              <a:buNone/>
            </a:pPr>
            <a:r>
              <a:t/>
            </a:r>
            <a:endParaRPr sz="2020"/>
          </a:p>
        </p:txBody>
      </p:sp>
      <p:pic>
        <p:nvPicPr>
          <p:cNvPr id="300" name="Google Shape;300;p39"/>
          <p:cNvPicPr preferRelativeResize="0"/>
          <p:nvPr/>
        </p:nvPicPr>
        <p:blipFill>
          <a:blip r:embed="rId3">
            <a:alphaModFix/>
          </a:blip>
          <a:stretch>
            <a:fillRect/>
          </a:stretch>
        </p:blipFill>
        <p:spPr>
          <a:xfrm>
            <a:off x="5830150" y="145118"/>
            <a:ext cx="2121774" cy="4515900"/>
          </a:xfrm>
          <a:prstGeom prst="rect">
            <a:avLst/>
          </a:prstGeom>
          <a:noFill/>
          <a:ln>
            <a:noFill/>
          </a:ln>
        </p:spPr>
      </p:pic>
      <p:pic>
        <p:nvPicPr>
          <p:cNvPr id="301" name="Google Shape;301;p39"/>
          <p:cNvPicPr preferRelativeResize="0"/>
          <p:nvPr/>
        </p:nvPicPr>
        <p:blipFill>
          <a:blip r:embed="rId4">
            <a:alphaModFix/>
          </a:blip>
          <a:stretch>
            <a:fillRect/>
          </a:stretch>
        </p:blipFill>
        <p:spPr>
          <a:xfrm>
            <a:off x="666699" y="332175"/>
            <a:ext cx="3640320" cy="4266000"/>
          </a:xfrm>
          <a:prstGeom prst="rect">
            <a:avLst/>
          </a:prstGeom>
          <a:noFill/>
          <a:ln>
            <a:noFill/>
          </a:ln>
        </p:spPr>
      </p:pic>
      <p:sp>
        <p:nvSpPr>
          <p:cNvPr id="302" name="Google Shape;302;p39"/>
          <p:cNvSpPr txBox="1"/>
          <p:nvPr/>
        </p:nvSpPr>
        <p:spPr>
          <a:xfrm>
            <a:off x="6008230" y="4598172"/>
            <a:ext cx="180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LLM Testbench</a:t>
            </a:r>
            <a:endParaRPr b="1">
              <a:solidFill>
                <a:schemeClr val="dk2"/>
              </a:solidFill>
            </a:endParaRPr>
          </a:p>
        </p:txBody>
      </p:sp>
      <p:sp>
        <p:nvSpPr>
          <p:cNvPr id="303" name="Google Shape;303;p39"/>
          <p:cNvSpPr txBox="1"/>
          <p:nvPr/>
        </p:nvSpPr>
        <p:spPr>
          <a:xfrm>
            <a:off x="1760930" y="4598172"/>
            <a:ext cx="180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Golden</a:t>
            </a:r>
            <a:r>
              <a:rPr b="1" lang="en">
                <a:solidFill>
                  <a:schemeClr val="dk2"/>
                </a:solidFill>
              </a:rPr>
              <a:t> Testbench</a:t>
            </a:r>
            <a:endParaRPr b="1">
              <a:solidFill>
                <a:schemeClr val="dk2"/>
              </a:solidFill>
            </a:endParaRPr>
          </a:p>
        </p:txBody>
      </p:sp>
      <p:sp>
        <p:nvSpPr>
          <p:cNvPr id="304" name="Google Shape;304;p39"/>
          <p:cNvSpPr/>
          <p:nvPr/>
        </p:nvSpPr>
        <p:spPr>
          <a:xfrm>
            <a:off x="629525" y="778225"/>
            <a:ext cx="2859900" cy="400200"/>
          </a:xfrm>
          <a:prstGeom prst="roundRect">
            <a:avLst>
              <a:gd fmla="val 16667" name="adj"/>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 name="Google Shape;305;p39"/>
          <p:cNvSpPr/>
          <p:nvPr/>
        </p:nvSpPr>
        <p:spPr>
          <a:xfrm>
            <a:off x="5726378" y="440875"/>
            <a:ext cx="2121900" cy="400200"/>
          </a:xfrm>
          <a:prstGeom prst="roundRect">
            <a:avLst>
              <a:gd fmla="val 16667" name="adj"/>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6" name="Google Shape;306;p39"/>
          <p:cNvSpPr txBox="1"/>
          <p:nvPr/>
        </p:nvSpPr>
        <p:spPr>
          <a:xfrm>
            <a:off x="3635588" y="593425"/>
            <a:ext cx="20484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rgbClr val="0000FF"/>
                </a:solidFill>
              </a:rPr>
              <a:t>Correct Module Instantiation</a:t>
            </a:r>
            <a:endParaRPr b="1" sz="1300">
              <a:solidFill>
                <a:srgbClr val="0000FF"/>
              </a:solidFill>
            </a:endParaRPr>
          </a:p>
        </p:txBody>
      </p:sp>
      <p:sp>
        <p:nvSpPr>
          <p:cNvPr id="307" name="Google Shape;307;p39"/>
          <p:cNvSpPr/>
          <p:nvPr/>
        </p:nvSpPr>
        <p:spPr>
          <a:xfrm>
            <a:off x="666700" y="1590575"/>
            <a:ext cx="3566400" cy="2014200"/>
          </a:xfrm>
          <a:prstGeom prst="roundRect">
            <a:avLst>
              <a:gd fmla="val 16667" name="adj"/>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8" name="Google Shape;308;p39"/>
          <p:cNvSpPr/>
          <p:nvPr/>
        </p:nvSpPr>
        <p:spPr>
          <a:xfrm>
            <a:off x="5910225" y="1135400"/>
            <a:ext cx="1580700" cy="3462900"/>
          </a:xfrm>
          <a:prstGeom prst="roundRect">
            <a:avLst>
              <a:gd fmla="val 16667" name="adj"/>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9" name="Google Shape;309;p39"/>
          <p:cNvSpPr txBox="1"/>
          <p:nvPr/>
        </p:nvSpPr>
        <p:spPr>
          <a:xfrm>
            <a:off x="4281310" y="2110575"/>
            <a:ext cx="15807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rgbClr val="980000"/>
                </a:solidFill>
              </a:rPr>
              <a:t>Test All Input Pattern</a:t>
            </a:r>
            <a:endParaRPr b="1" sz="1300">
              <a:solidFill>
                <a:srgbClr val="98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pic>
        <p:nvPicPr>
          <p:cNvPr id="314" name="Google Shape;314;p40"/>
          <p:cNvPicPr preferRelativeResize="0"/>
          <p:nvPr/>
        </p:nvPicPr>
        <p:blipFill>
          <a:blip r:embed="rId3">
            <a:alphaModFix/>
          </a:blip>
          <a:stretch>
            <a:fillRect/>
          </a:stretch>
        </p:blipFill>
        <p:spPr>
          <a:xfrm>
            <a:off x="6343465" y="100025"/>
            <a:ext cx="2475571" cy="5143500"/>
          </a:xfrm>
          <a:prstGeom prst="rect">
            <a:avLst/>
          </a:prstGeom>
          <a:noFill/>
          <a:ln>
            <a:noFill/>
          </a:ln>
        </p:spPr>
      </p:pic>
      <p:pic>
        <p:nvPicPr>
          <p:cNvPr id="315" name="Google Shape;315;p40"/>
          <p:cNvPicPr preferRelativeResize="0"/>
          <p:nvPr/>
        </p:nvPicPr>
        <p:blipFill>
          <a:blip r:embed="rId4">
            <a:alphaModFix/>
          </a:blip>
          <a:stretch>
            <a:fillRect/>
          </a:stretch>
        </p:blipFill>
        <p:spPr>
          <a:xfrm>
            <a:off x="348647" y="25925"/>
            <a:ext cx="4465956" cy="5143499"/>
          </a:xfrm>
          <a:prstGeom prst="rect">
            <a:avLst/>
          </a:prstGeom>
          <a:noFill/>
          <a:ln>
            <a:noFill/>
          </a:ln>
        </p:spPr>
      </p:pic>
      <p:sp>
        <p:nvSpPr>
          <p:cNvPr id="316" name="Google Shape;316;p40"/>
          <p:cNvSpPr txBox="1"/>
          <p:nvPr>
            <p:ph type="title"/>
          </p:nvPr>
        </p:nvSpPr>
        <p:spPr>
          <a:xfrm>
            <a:off x="2838915" y="0"/>
            <a:ext cx="4338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218">
                <a:solidFill>
                  <a:srgbClr val="0000FF"/>
                </a:solidFill>
              </a:rPr>
              <a:t>Example 2 from ChipChat</a:t>
            </a:r>
            <a:endParaRPr sz="2218">
              <a:solidFill>
                <a:srgbClr val="0000FF"/>
              </a:solidFill>
            </a:endParaRPr>
          </a:p>
          <a:p>
            <a:pPr indent="0" lvl="0" marL="0" rtl="0" algn="l">
              <a:spcBef>
                <a:spcPts val="0"/>
              </a:spcBef>
              <a:spcAft>
                <a:spcPts val="0"/>
              </a:spcAft>
              <a:buSzPts val="990"/>
              <a:buNone/>
            </a:pPr>
            <a:r>
              <a:t/>
            </a:r>
            <a:endParaRPr sz="2020"/>
          </a:p>
        </p:txBody>
      </p:sp>
      <p:sp>
        <p:nvSpPr>
          <p:cNvPr id="317" name="Google Shape;317;p40"/>
          <p:cNvSpPr txBox="1"/>
          <p:nvPr/>
        </p:nvSpPr>
        <p:spPr>
          <a:xfrm>
            <a:off x="7250559" y="4769122"/>
            <a:ext cx="180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LLM Testbench</a:t>
            </a:r>
            <a:endParaRPr b="1">
              <a:solidFill>
                <a:schemeClr val="dk2"/>
              </a:solidFill>
            </a:endParaRPr>
          </a:p>
        </p:txBody>
      </p:sp>
      <p:sp>
        <p:nvSpPr>
          <p:cNvPr id="318" name="Google Shape;318;p40"/>
          <p:cNvSpPr txBox="1"/>
          <p:nvPr/>
        </p:nvSpPr>
        <p:spPr>
          <a:xfrm>
            <a:off x="1828105" y="3739172"/>
            <a:ext cx="180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Golden Testbench</a:t>
            </a:r>
            <a:endParaRPr b="1">
              <a:solidFill>
                <a:schemeClr val="dk2"/>
              </a:solidFill>
            </a:endParaRPr>
          </a:p>
        </p:txBody>
      </p:sp>
      <p:sp>
        <p:nvSpPr>
          <p:cNvPr id="319" name="Google Shape;319;p40"/>
          <p:cNvSpPr/>
          <p:nvPr/>
        </p:nvSpPr>
        <p:spPr>
          <a:xfrm>
            <a:off x="440950" y="25925"/>
            <a:ext cx="2048400" cy="707400"/>
          </a:xfrm>
          <a:prstGeom prst="roundRect">
            <a:avLst>
              <a:gd fmla="val 16667" name="adj"/>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0" name="Google Shape;320;p40"/>
          <p:cNvSpPr/>
          <p:nvPr/>
        </p:nvSpPr>
        <p:spPr>
          <a:xfrm>
            <a:off x="6396825" y="685825"/>
            <a:ext cx="2121900" cy="707400"/>
          </a:xfrm>
          <a:prstGeom prst="roundRect">
            <a:avLst>
              <a:gd fmla="val 16667" name="adj"/>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1" name="Google Shape;321;p40"/>
          <p:cNvSpPr txBox="1"/>
          <p:nvPr/>
        </p:nvSpPr>
        <p:spPr>
          <a:xfrm>
            <a:off x="4104313" y="747025"/>
            <a:ext cx="20484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rgbClr val="0000FF"/>
                </a:solidFill>
              </a:rPr>
              <a:t>Correct Module Instantiation</a:t>
            </a:r>
            <a:endParaRPr b="1" sz="1300">
              <a:solidFill>
                <a:srgbClr val="0000FF"/>
              </a:solidFill>
            </a:endParaRPr>
          </a:p>
        </p:txBody>
      </p:sp>
      <p:sp>
        <p:nvSpPr>
          <p:cNvPr id="322" name="Google Shape;322;p40"/>
          <p:cNvSpPr/>
          <p:nvPr/>
        </p:nvSpPr>
        <p:spPr>
          <a:xfrm>
            <a:off x="348650" y="4253125"/>
            <a:ext cx="2490300" cy="916200"/>
          </a:xfrm>
          <a:prstGeom prst="roundRect">
            <a:avLst>
              <a:gd fmla="val 16667" name="adj"/>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3" name="Google Shape;323;p40"/>
          <p:cNvSpPr/>
          <p:nvPr/>
        </p:nvSpPr>
        <p:spPr>
          <a:xfrm>
            <a:off x="6528275" y="2695575"/>
            <a:ext cx="1580700" cy="1222200"/>
          </a:xfrm>
          <a:prstGeom prst="roundRect">
            <a:avLst>
              <a:gd fmla="val 16667" name="adj"/>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4" name="Google Shape;324;p40"/>
          <p:cNvSpPr txBox="1"/>
          <p:nvPr/>
        </p:nvSpPr>
        <p:spPr>
          <a:xfrm>
            <a:off x="4762785" y="2909425"/>
            <a:ext cx="15807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rgbClr val="980000"/>
                </a:solidFill>
              </a:rPr>
              <a:t>Test All Input Pattern</a:t>
            </a:r>
            <a:endParaRPr b="1" sz="1300">
              <a:solidFill>
                <a:srgbClr val="98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