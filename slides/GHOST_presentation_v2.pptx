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7092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5943600" y="822960"/>
            <a:ext cx="2560320" cy="25603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645920"/>
            <a:ext cx="914400" cy="914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5029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GHOST</a:t>
            </a:r>
            <a:endParaRPr lang="en-US" sz="7200" dirty="0"/>
          </a:p>
        </p:txBody>
      </p:sp>
      <p:sp>
        <p:nvSpPr>
          <p:cNvPr id="7" name="Text 3"/>
          <p:cNvSpPr/>
          <p:nvPr/>
        </p:nvSpPr>
        <p:spPr>
          <a:xfrm>
            <a:off x="365760" y="17373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0F4F8"/>
                </a:solidFill>
              </a:rPr>
              <a:t>Generator for Hardware-Oriented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0F4F8"/>
                </a:solidFill>
              </a:rPr>
              <a:t>Stealthy Trojans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365760" y="27889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A623"/>
                </a:solidFill>
              </a:rPr>
              <a:t>An LLM-Powered Framework for Automated Hardware Trojan Design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65760" y="3474720"/>
            <a:ext cx="457200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65760" y="350631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A0AEC0"/>
                </a:solidFill>
              </a:rPr>
              <a:t>arXiv</a:t>
            </a:r>
            <a:r>
              <a:rPr lang="en-US" sz="1000" dirty="0">
                <a:solidFill>
                  <a:srgbClr val="A0AEC0"/>
                </a:solidFill>
              </a:rPr>
              <a:t> 2412.02816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Background: What Is a Hardware Trojan?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</a:rPr>
              <a:t>A Hardware Trojan (HT) is a malicious, hidden modification embedded directly into a chip's design — not software. Once fabricated, it lives inside the silicon and cannot be patched away.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44752"/>
            <a:ext cx="2011680" cy="2651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444752"/>
            <a:ext cx="201168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60020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54533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it is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2011680"/>
            <a:ext cx="1737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Unauthorized logic inserted into RTL or netlist. Indistinguishable from normal circuit structure.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41448" y="1444752"/>
            <a:ext cx="2011680" cy="2651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441448" y="1444752"/>
            <a:ext cx="20116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160020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35808" y="154533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How it activates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578608" y="2011680"/>
            <a:ext cx="1737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A rare trigger condition — a secret input sequence — wakes it up. Completely dormant otherwise.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608576" y="1444752"/>
            <a:ext cx="2011680" cy="2651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608576" y="1444752"/>
            <a:ext cx="20116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160020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02936" y="154533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Why it's stealthy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745736" y="2011680"/>
            <a:ext cx="1737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Tiny area overhead, preserves normal behavior. Nearly impossible to detect via standard testing.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775704" y="1444752"/>
            <a:ext cx="2011680" cy="2651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775704" y="1444752"/>
            <a:ext cx="20116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296" y="160020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70064" y="154533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it can do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912864" y="2011680"/>
            <a:ext cx="1737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Leak encryption keys, corrupt data, crash the system, degrade performance, or open a backdoor.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274320" y="4224528"/>
            <a:ext cx="859536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274320" y="4224528"/>
            <a:ext cx="6400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</a:rPr>
              <a:t>⚠  Growing threat: Globalized chip supply chains mean IPs pass through many potentially untrusted hands — the perfect window for a malicious integrator to insert a Trojan before fabrication.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Threat Model: The Untrusted SoC Integrator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417320" cy="14173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3PIP RTL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Designer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01952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</a:rPr>
              <a:t>Delivers clean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</a:rPr>
              <a:t>IP core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74520" y="1897380"/>
            <a:ext cx="347472" cy="0"/>
          </a:xfrm>
          <a:prstGeom prst="line">
            <a:avLst/>
          </a:prstGeom>
          <a:noFill/>
          <a:ln w="25400">
            <a:solidFill>
              <a:srgbClr val="A0AE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21992" y="1188720"/>
            <a:ext cx="1417320" cy="14173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21992" y="131673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SoC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Integrator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21992" y="1901952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</a:rPr>
              <a:t>⚠ UNTRUSTED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</a:rPr>
              <a:t>Runs GHOST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39312" y="1897380"/>
            <a:ext cx="347472" cy="0"/>
          </a:xfrm>
          <a:prstGeom prst="line">
            <a:avLst/>
          </a:prstGeom>
          <a:noFill/>
          <a:ln w="25400">
            <a:solidFill>
              <a:srgbClr val="A0AE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986784" y="1188720"/>
            <a:ext cx="1417320" cy="1417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86784" y="131673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86784" y="1901952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</a:rPr>
              <a:t>Synthesis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</a:rPr>
              <a:t>place-and-route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04104" y="1897380"/>
            <a:ext cx="347472" cy="0"/>
          </a:xfrm>
          <a:prstGeom prst="line">
            <a:avLst/>
          </a:prstGeom>
          <a:noFill/>
          <a:ln w="25400">
            <a:solidFill>
              <a:srgbClr val="A0AE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51576" y="1188720"/>
            <a:ext cx="1417320" cy="1417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51576" y="131673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Foundry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51576" y="1901952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</a:rPr>
              <a:t>Trusted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</a:rPr>
              <a:t>fabrication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68896" y="1897380"/>
            <a:ext cx="347472" cy="0"/>
          </a:xfrm>
          <a:prstGeom prst="line">
            <a:avLst/>
          </a:prstGeom>
          <a:noFill/>
          <a:ln w="25400">
            <a:solidFill>
              <a:srgbClr val="A0AE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516368" y="1188720"/>
            <a:ext cx="1417320" cy="1417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16368" y="131673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Deployed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Chip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16368" y="1901952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</a:rPr>
              <a:t>Trojan baked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4F8"/>
                </a:solidFill>
              </a:rPr>
              <a:t>into silicon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02536" y="411480"/>
            <a:ext cx="1508760" cy="411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002536" y="411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GHOST injects here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52344" y="822960"/>
            <a:ext cx="0" cy="36576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2834640"/>
            <a:ext cx="278892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2834640"/>
            <a:ext cx="6400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0352" y="2880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RTL Access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" y="326440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Integrators legally receive full RTL — no barriers to code inspection or modification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2834640"/>
            <a:ext cx="278892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91840" y="2834640"/>
            <a:ext cx="6400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56432" y="2880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Time Pressure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56432" y="326440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Tight deadlines prevent deep manual review of complex third-party IP code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2834640"/>
            <a:ext cx="2788920" cy="10058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217920" y="2834640"/>
            <a:ext cx="6400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82512" y="2880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Trusted Foundry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82512" y="326440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The fab is assumed honest — all attacks occur at the RTL level before synthesis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3977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0AEC0"/>
                </a:solidFill>
              </a:rPr>
              <a:t>GHOST bridges the knowledge gap — an attacker with RTL access but limited design expertise can leverage LLMs to quickly identify vulnerabilities and insert undetectable Trojans.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Motivation: Why Existing HT Insertion Tools Fall Short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8203" y="51675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</a:rPr>
              <a:t>Prior automated HT tools all share fundamental limitations that GHOST is designed to overcome: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1043" y="1037958"/>
            <a:ext cx="8686800" cy="57607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2483" y="1101966"/>
            <a:ext cx="2194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98483" y="1101966"/>
            <a:ext cx="1371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 Type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1523" y="1101966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Limitation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1043" y="1614030"/>
            <a:ext cx="8686800" cy="576072"/>
          </a:xfrm>
          <a:prstGeom prst="rect">
            <a:avLst/>
          </a:prstGeom>
          <a:solidFill>
            <a:srgbClr val="0A2744"/>
          </a:solidFill>
          <a:ln w="12700">
            <a:solidFill>
              <a:srgbClr val="0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2483" y="1678038"/>
            <a:ext cx="2194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</a:rPr>
              <a:t>Trust-Hub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98483" y="1678038"/>
            <a:ext cx="1371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Human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61523" y="1678038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Manual insertion; slow, requires deep expertise, introduces human bias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1043" y="2190102"/>
            <a:ext cx="8686800" cy="5760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2483" y="2254110"/>
            <a:ext cx="2194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</a:rPr>
              <a:t>TAINT / TRIT / FEINT / DTjRTL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98483" y="2254110"/>
            <a:ext cx="1371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Human-Config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61523" y="2254110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Needs manual trigger/payload config; still design-specific, not truly general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1043" y="2766174"/>
            <a:ext cx="8686800" cy="576072"/>
          </a:xfrm>
          <a:prstGeom prst="rect">
            <a:avLst/>
          </a:prstGeom>
          <a:solidFill>
            <a:srgbClr val="0A2744"/>
          </a:solidFill>
          <a:ln w="12700">
            <a:solidFill>
              <a:srgbClr val="0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2483" y="2830182"/>
            <a:ext cx="2194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</a:rPr>
              <a:t>MIMIC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98483" y="2830182"/>
            <a:ext cx="1371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ML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061523" y="2830182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Requires large training datasets and significant compute; poor generalizability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1043" y="3342246"/>
            <a:ext cx="8686800" cy="5760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2483" y="3406254"/>
            <a:ext cx="2194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</a:rPr>
              <a:t>ATTRITION / Trojan Playground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98483" y="3406254"/>
            <a:ext cx="1371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RL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061523" y="3406254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Long training time per design; must retrain from scratch for new targets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1043" y="3918318"/>
            <a:ext cx="8686800" cy="576072"/>
          </a:xfrm>
          <a:prstGeom prst="rect">
            <a:avLst/>
          </a:prstGeom>
          <a:solidFill>
            <a:srgbClr val="0A2744"/>
          </a:solidFill>
          <a:ln w="12700">
            <a:solidFill>
              <a:srgbClr val="0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12483" y="3982326"/>
            <a:ext cx="2194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</a:rPr>
              <a:t>TrojanForge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598483" y="3982326"/>
            <a:ext cx="1371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RL + GAN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061523" y="3982326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High complexity and training cost; difficult to deploy outside its training domain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21043" y="4494390"/>
            <a:ext cx="8686800" cy="576072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12483" y="4558398"/>
            <a:ext cx="2194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</a:rPr>
              <a:t>GHOST (this work)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598483" y="4558398"/>
            <a:ext cx="1371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CC71"/>
                </a:solidFill>
              </a:rPr>
              <a:t>LLM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061523" y="4558398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CC71"/>
                </a:solidFill>
              </a:rPr>
              <a:t>Zero training needed; design-agnostic; fast; platform-agnostic ✓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GHOST at a Glance: What It Does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4F8"/>
                </a:solidFill>
              </a:rPr>
              <a:t>GHOST feeds clean Verilog RTL into a large language model with a structured prompt. The LLM reads the design, finds a suitable insertion point, writes the Trojan code, and integrates it — all automatically. No training, no manual configuration.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28600" y="1572768"/>
            <a:ext cx="2057400" cy="2468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572768"/>
            <a:ext cx="205740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72821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6733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Zero Training Required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2139696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LLMs arrive pre-trained on code. GHOST uses them zero-shot — just supply the RTL and a prompt. No datasets, no fine-tuning.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23160" y="1572768"/>
            <a:ext cx="2057400" cy="2468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423160" y="1572768"/>
            <a:ext cx="20574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1728216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17520" y="16733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Platform &amp; Design Agnostic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560320" y="2139696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Works on ASIC and FPGA flows. Compatible with any synthesizable Verilog design regardless of size or domain.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617720" y="1572768"/>
            <a:ext cx="2057400" cy="2468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617720" y="1572768"/>
            <a:ext cx="20574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172821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12080" y="16733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RTL-Level Insertion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754880" y="2139696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Operates directly on RTL source code — before synthesis — so Trojans survive to silicon and are invisible to gate-level tools.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812280" y="1572768"/>
            <a:ext cx="2057400" cy="2468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812280" y="1572768"/>
            <a:ext cx="20574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6872" y="1728216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16733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Fully Automated End-to-End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949440" y="2139696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Clean RTL in → Trojan-infected RTL out. The LLM handles analysis, attack-point selection, code generation, and integration.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1097280" y="4206240"/>
            <a:ext cx="6949440" cy="6858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1188720" y="420624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GHOST turns an LLM into an autonomous hardware security attacker — no expertise required from the attacker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Four Hardware Trojan Vulnerability Types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</a:rPr>
              <a:t>GHOST supports four functionally distinct Trojan classes. Each targets a different security objective: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8686800" cy="8869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960120" cy="8869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28930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" y="170992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Change Functionality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98448" y="12984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Secretly alters the circuit's computation — wrong encryption output, privilege escalation, faulty arithmetic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98448" y="17099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</a:rPr>
              <a:t>Trigger: Activated by a specific rare input sequence invisible during normal operation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36576" cy="704088"/>
          </a:xfrm>
          <a:prstGeom prst="rect">
            <a:avLst/>
          </a:prstGeom>
          <a:solidFill>
            <a:srgbClr val="2D4A6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91456" y="1289304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0F4F8"/>
                </a:solidFill>
              </a:rPr>
              <a:t>Example: AES core silently outputs wrong ciphertext after a secret 128-bit pattern is presented as input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176272"/>
            <a:ext cx="8686800" cy="8869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" y="2176272"/>
            <a:ext cx="960120" cy="8869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" y="223113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28600" y="26517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Leak Information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98448" y="22402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Creates a covert channel that transmits sensitive internal data (keys, states) to an attacker-observable output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98448" y="2651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</a:rPr>
              <a:t>Trigger: A benign-looking signal going high silently mirrors internal state to an extra output port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267712"/>
            <a:ext cx="36576" cy="704088"/>
          </a:xfrm>
          <a:prstGeom prst="rect">
            <a:avLst/>
          </a:prstGeom>
          <a:solidFill>
            <a:srgbClr val="2D4A6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91456" y="2231136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0F4F8"/>
                </a:solidFill>
              </a:rPr>
              <a:t>Example: AES encryption key k0 is streamed to trojan_out port whenever secret_trigger=1, invisible to normal testbenches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3118104"/>
            <a:ext cx="8686800" cy="8869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28600" y="3118104"/>
            <a:ext cx="960120" cy="8869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8600" y="31729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28600" y="3593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Denial of Service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298448" y="31821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Permanently disables or crashes the module after a rare trigger condition is met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298448" y="35935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</a:rPr>
              <a:t>Trigger: A specific memory address accessed N consecutive times, or an internal counter reaching a threshold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3209544"/>
            <a:ext cx="36576" cy="704088"/>
          </a:xfrm>
          <a:prstGeom prst="rect">
            <a:avLst/>
          </a:prstGeom>
          <a:solidFill>
            <a:srgbClr val="2D4A6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91456" y="317296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0F4F8"/>
                </a:solidFill>
              </a:rPr>
              <a:t>Example: SRAM controller locks up and becomes unresponsive after address 8'hAA is accessed 15 times consecutively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4059936"/>
            <a:ext cx="8686800" cy="8869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28600" y="4059936"/>
            <a:ext cx="960120" cy="8869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8600" y="411480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28600" y="453542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Performance Degradation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298448" y="412394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Deliberately slows down the circuit or increases power consumption without disabling it, evading functional tests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298448" y="453542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</a:rPr>
              <a:t>Trigger: A timing-sensitive condition or counter-based event that switches the design into a degraded operating mode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4151376"/>
            <a:ext cx="36576" cy="704088"/>
          </a:xfrm>
          <a:prstGeom prst="rect">
            <a:avLst/>
          </a:prstGeom>
          <a:solidFill>
            <a:srgbClr val="2D4A6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91456" y="41148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0F4F8"/>
                </a:solidFill>
              </a:rPr>
              <a:t>Example: UART baud-rate divider is silently doubled on trigger, halving throughput — the design still works but runs at half speed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Contextual Trojan Prompts: One Per Vulnerability Type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8"/>
                </a:solidFill>
              </a:rPr>
              <a:t>Each Trojan type is driven by a tailored Contextual Trojan Prompt (CTP) that specifies the objective, mechanism, and stealth requirements: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8686800" cy="804672"/>
          </a:xfrm>
          <a:prstGeom prst="rect">
            <a:avLst/>
          </a:prstGeom>
          <a:solidFill>
            <a:srgbClr val="0A2744"/>
          </a:solidFill>
          <a:ln w="12700">
            <a:solidFill>
              <a:srgbClr val="0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777240" cy="80467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325880"/>
            <a:ext cx="777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78992" y="1399032"/>
            <a:ext cx="772668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70432" y="1399032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0F4F8"/>
                </a:solidFill>
              </a:rPr>
              <a:t>"Insert a subtle logic modification activated by a specific rare input sequence. The Trojan should alter critical data or control flow only when triggered."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2221992"/>
            <a:ext cx="8686800" cy="804672"/>
          </a:xfrm>
          <a:prstGeom prst="rect">
            <a:avLst/>
          </a:prstGeom>
          <a:solidFill>
            <a:srgbClr val="0A2744"/>
          </a:solidFill>
          <a:ln w="12700">
            <a:solidFill>
              <a:srgbClr val="0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2221992"/>
            <a:ext cx="777240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" y="2221992"/>
            <a:ext cx="777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78992" y="2295144"/>
            <a:ext cx="772668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70432" y="2295144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0F4F8"/>
                </a:solidFill>
              </a:rPr>
              <a:t>"Implement a covert channel that leaks sensitive internal data. Use a seemingly benign signal as the trigger, and encode the leaked data in a way that is hard to detect."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3118104"/>
            <a:ext cx="8686800" cy="804672"/>
          </a:xfrm>
          <a:prstGeom prst="rect">
            <a:avLst/>
          </a:prstGeom>
          <a:solidFill>
            <a:srgbClr val="0A2744"/>
          </a:solidFill>
          <a:ln w="12700">
            <a:solidFill>
              <a:srgbClr val="0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8600" y="3118104"/>
            <a:ext cx="777240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8600" y="3118104"/>
            <a:ext cx="777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78992" y="3191256"/>
            <a:ext cx="772668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70432" y="3191256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0F4F8"/>
                </a:solidFill>
              </a:rPr>
              <a:t>"Implement a mechanism that disables the module after detecting a rare sequence of inputs, ensuring it is extremely rare to trigger during normal operation."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4014216"/>
            <a:ext cx="8686800" cy="804672"/>
          </a:xfrm>
          <a:prstGeom prst="rect">
            <a:avLst/>
          </a:prstGeom>
          <a:solidFill>
            <a:srgbClr val="0A2744"/>
          </a:solidFill>
          <a:ln w="12700">
            <a:solidFill>
              <a:srgbClr val="0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" y="4014216"/>
            <a:ext cx="777240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28600" y="4014216"/>
            <a:ext cx="777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78992" y="4087368"/>
            <a:ext cx="772668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70432" y="4087368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0F4F8"/>
                </a:solidFill>
              </a:rPr>
              <a:t>"Insert a Trojan that degrades circuit performance on a rare trigger — introduce artificial delays, extra pipeline stages, or wasteful computation indistinguishable from legitimate design complexity."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4937760"/>
            <a:ext cx="868680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481888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</a:rPr>
              <a:t>Each CTP specifies: (i) clear objective  ·  (ii) implementation style  ·  (iii) trigger mechanism  ·  (iv) stealth guidance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Prompt Engineering: 3-Layer Strategy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</a:rPr>
              <a:t>GHOST stacks three distinct prompt layers in every API call to guide the LLM reliably through HT insertion: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8686800" cy="1170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1143000" cy="1170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3716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Layer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08760" y="13258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Role-Based Prompting (RBP)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170992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Sets the LLM persona as a hardware security expert. Primes domain-specific knowledge and maintains consistency across all HT types.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0" y="1325880"/>
            <a:ext cx="3749040" cy="978408"/>
          </a:xfrm>
          <a:prstGeom prst="rect">
            <a:avLst/>
          </a:prstGeom>
          <a:solidFill>
            <a:srgbClr val="0A2744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0" y="1325880"/>
            <a:ext cx="35661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AEC0"/>
                </a:solidFill>
              </a:rPr>
              <a:t>"You are a hardware security expert with extensive experience designing and implementing Hardware Trojans. Your task is to analyze the given hardware design and insert a stealthy HT that meets specific requirements."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496312"/>
            <a:ext cx="8686800" cy="1170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" y="2496312"/>
            <a:ext cx="1143000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8600" y="263347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Layer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08760" y="25877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Contextual Trojan Prompting (CTP)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08760" y="2971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Provides the specific HT objective (T1–T4), trigger style, payload description, and stealth requirements. Unique per vulnerability type.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2587752"/>
            <a:ext cx="3749040" cy="978408"/>
          </a:xfrm>
          <a:prstGeom prst="rect">
            <a:avLst/>
          </a:prstGeom>
          <a:solidFill>
            <a:srgbClr val="0A2744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20640" y="2587752"/>
            <a:ext cx="35661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AEC0"/>
                </a:solidFill>
              </a:rPr>
              <a:t>"Implement a covert channel that leaks sensitive internal data. Use a seemingly benign signal as the trigger, and encode the leaked data in a way that is hard to detect."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3758184"/>
            <a:ext cx="8686800" cy="1170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8600" y="3758184"/>
            <a:ext cx="1143000" cy="1170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8600" y="389534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Layer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384962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Reflexive Validation Prompting (RVP)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42336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Instructs the LLM to self-check its own output: verify correctness, confirm normal operation is preserved, and validate synthesizability before responding.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3849624"/>
            <a:ext cx="3749040" cy="978408"/>
          </a:xfrm>
          <a:prstGeom prst="rect">
            <a:avLst/>
          </a:prstGeom>
          <a:solidFill>
            <a:srgbClr val="0A2744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20640" y="3849624"/>
            <a:ext cx="35661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AEC0"/>
                </a:solidFill>
              </a:rPr>
              <a:t>"Ensure all instructions are followed. Describe how the Trojan trigger and payload have been implemented. Verify the correctness, stealthiness, and synthesizability of the Trojan implementation."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GHOST Framework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685800"/>
            <a:ext cx="3383280" cy="4251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685800"/>
            <a:ext cx="3383280" cy="411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6858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① Prompt Engineering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16152"/>
            <a:ext cx="3108960" cy="713232"/>
          </a:xfrm>
          <a:prstGeom prst="rect">
            <a:avLst/>
          </a:prstGeom>
          <a:solidFill>
            <a:srgbClr val="0A2744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24358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Role-Based Prompting (RBP)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→ Assigns LLM as HW security expert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039112"/>
            <a:ext cx="3108960" cy="713232"/>
          </a:xfrm>
          <a:prstGeom prst="rect">
            <a:avLst/>
          </a:prstGeom>
          <a:solidFill>
            <a:srgbClr val="0A2744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06654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Contextual Trojan Prompt (CTP)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→ T1 / T2 / T3 / T4 goals &amp; trigger style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862072"/>
            <a:ext cx="3108960" cy="713232"/>
          </a:xfrm>
          <a:prstGeom prst="rect">
            <a:avLst/>
          </a:prstGeom>
          <a:solidFill>
            <a:srgbClr val="0A2744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88950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Reflexive Validation (RVP)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→ LLM self-checks its output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685032"/>
            <a:ext cx="3108960" cy="713232"/>
          </a:xfrm>
          <a:prstGeom prst="rect">
            <a:avLst/>
          </a:prstGeom>
          <a:solidFill>
            <a:srgbClr val="0A2744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371246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Clean RTL Design (Verilog)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→ Injected into the combined prompt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4560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114800" y="685800"/>
            <a:ext cx="4846320" cy="4251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0" y="685800"/>
            <a:ext cx="484632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87952" y="6858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② LLM Inference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51960" y="1170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2.1  Model Selection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43400" y="15361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• GPT-4 (OpenAI) — closed-source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43400" y="1828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• Gemini 1.5 Pro (Google) — closed-source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43400" y="2121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• LLaMA3-70B (Meta / Groq) — open-source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51960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2.2  LLM Tasks (sequential)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15968" y="2834640"/>
            <a:ext cx="256032" cy="2560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15968" y="2834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45152" y="28529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Analyze RTL design: understand structure &amp; function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15968" y="3172968"/>
            <a:ext cx="256032" cy="2560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15968" y="3172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45152" y="319125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Identify best attack-point for insertion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15968" y="3511296"/>
            <a:ext cx="256032" cy="2560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15968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45152" y="352958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Generate Trojan logic (trigger + payload)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15968" y="3849624"/>
            <a:ext cx="256032" cy="2560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315968" y="3849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45152" y="38679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Integrate HT into original RTL seamlessly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60520" y="4224528"/>
            <a:ext cx="4754880" cy="621792"/>
          </a:xfrm>
          <a:prstGeom prst="rect">
            <a:avLst/>
          </a:prstGeom>
          <a:solidFill>
            <a:srgbClr val="0A2744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251960" y="4251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2.3  Response Extraction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51960" y="4507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</a:rPr>
              <a:t>→ HT-infected RTL  ·  Trigger/Payload description  ·  HT Taxonomy (type, location, mechanism)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1373</Words>
  <Application>Microsoft Macintosh PowerPoint</Application>
  <PresentationFormat>On-screen Show (16:9)</PresentationFormat>
  <Paragraphs>161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GHOST: LLM-Powered Hardware Trojan Framework</dc:title>
  <dc:subject>PptxGenJS Presentation</dc:subject>
  <dc:creator>PptxGenJS</dc:creator>
  <cp:lastModifiedBy>Weihua Xiao</cp:lastModifiedBy>
  <cp:revision>2</cp:revision>
  <dcterms:created xsi:type="dcterms:W3CDTF">2026-03-12T15:50:00Z</dcterms:created>
  <dcterms:modified xsi:type="dcterms:W3CDTF">2026-03-12T16:07:44Z</dcterms:modified>
</cp:coreProperties>
</file>